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spPr>
            <a:solidFill>
              <a:srgbClr val="C4C4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4061</c:v>
                </c:pt>
                <c:pt idx="1">
                  <c:v>3164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D84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4393</c:v>
                </c:pt>
                <c:pt idx="1">
                  <c:v>3503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E6E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○조입니다. 저희 조는 현대카드 정태영 부회장을 분석 대상으로 정했습니다. 오늘은 보고서를 어떻게 쓸지, 그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순서는 과제에서 주신 항목 그대로입니다. 리더를 왜 골랐는지, 어떤 사람이고 어떤 회사를 이끄는지 먼저 말씀드리고, 마지막에 보고서를 어떤 틀로 쓸지 가장 자세히 설명드리겠습니다.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전체를 이 질문 하나로 끌고 가려고 합니다. 정 부회장이 상황에 맞춰 자기 행동을 바꿨다면 House의 경로-목표이론으로 설명이 되고, 반대로 제휴나 원칙 같은 걸로 상황 자체를 바꿨다면 Fiedler의 상황 모델로 설명이 됩니다. 두 이론 중 어느 쪽이 더 잘 맞는지 비교하는 게 보고서의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현대차그룹 계열사에서 기획과 해외 사업을 하다가, 카드대란이 한창이던 2003년에 적자 상태인 현대카드를 맡았습니다. 첫해에만 6천억 원대 적자가 났는데, 현대카드M을 내놓으면서 반전의 계기를 만들었습니다. 그 뒤로 프리미엄 카드와 문화 마케팅, 디지털 선언, 희망퇴직, 애플페이, AI 수출까지 이어집니다. 아래 회색 띠처럼 저희는 이 23년을 네 시기로 나눠서 분석할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부회장을 고른 이유는 세 가지입니다. 가장 큰 이유는 성격이 전혀 다른 네 시기를 한 사람이 이끌었다는 점입니다. 리더가 같으니까 상황만 바뀌었을 때 리더십이 어떻게 달라지는지 비교하기 좋습니다. 또 본인이 SNS나 인터뷰로 직접 설명한 자료가 많고, 성과만큼 논란도 있어서 칭찬만 하는 보고서가 되지 않을 거라고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1960년생이고, 서울대 불문과를 나와 MIT에서 MBA를 했습니다. 여기서 눈여겨볼 건 정몽구 명예회장의 사위라는 점입니다. 월급 받는 전문경영인이면서 동시에 오너 일가이기도 해서, 이 사람의 영향력이 어디서 나오는지는 6장 권력 부분에서 따로 보려고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현대카드는 다이너스클럽코리아를 현대차그룹이 인수해서 2001년에 이름을 바꾼 회사입니다. 상장은 안 되어 있고, 올해 6월 기준 회원이 1,311만 명 정도 됩니다. 사업은 크게 네 가지인데, 자체 카드, 코스트코나 대한항공처럼 제휴사 이름을 단 PLCC, 카드대출, 그리고 최근에 키우고 있는 데이터와 AI 사업입니다.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작년 영업수익은 4조 78억 원이고, 순이익은 3,503억 원으로 1년 전보다 10.7% 늘었습니다. 카드 이용실적 점유율은 19.3%로, 신한카드 바로 다음인 업계 2위입니다. 2003년에 적자 회사였다는 걸 생각하면 꽤 큰 변화입니다. 올해 상반기 숫자는 기간이 달라서 아래에 따로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주주를 보면 현대자동차가 1대 주주, 현대커머셜이 2대 주주입니다. 재미있는 건 정 부회장 본인은 현대카드 주식이 한 주도 없다는 점입니다. 대신 부부가 대주주인 현대커머셜이 현대카드 지분의 34.62%를 갖고 있어서, 간접적으로 영향력을 가집니다. 지분보다는 직위와 관계에서 나오는 힘이라서, 이 부분도 권력 이론으로 연결해 볼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자료는 네 군데서 모읍니다. 매출이나 지분 같은 숫자는 DART 공시를 기준으로 하고, 회사가 직접 낸 IR 자료와 뉴스룸으로 시기별 발표를 확인합니다. 리더가 왜 그런 결정을 했는지는 인터뷰와 본인 SNS에서 찾고, 논문은 앞선 연구가 현대카드를 어떤 틀로 분석했는지 참고하려고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본론은 이 표대로 갑니다. 네 시기마다 어떤 상황이었는지, 리더가 뭘 했는지, 결과가 어땠는지, 아쉬운 점은 뭐였는지를 같은 순서로 봅니다. 순서를 똑같이 맞춰야 시기끼리 비교가 되기 때문입니다. 그중에서도 가운데 빨간색, 리더의 행동이 저희 질문과 바로 이어지는 부분이라 가장 자세히 다룰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이론은 수업 4장에서 배운 두 가지가 중심입니다. 리더의 행동이 바뀌었는지는 House의 경로-목표이론으로, 상황이 바뀌었는지는 Fiedler의 상황 모델로 봅니다. 여기에 2장 특성이론, 3장 행동이론, 5장 갈등관리, 6장 권력과 협상을 보조로 써서, 리더 개인의 성향이나 영향력이 어디서 나오는지도 함께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자료를 찾아보면서 미리 세워 본 가설입니다. 위기 때는 리더가 직접 방향을 정하는 지시적 리더십이, 흑자가 난 뒤에는 직원에게 맡기는 참여적이고 후원적인 모습이 나왔을 것 같습니다. 구조조정 때는 다시 지시적으로 돌아가고, 디지털 전환기에는 높은 목표를 던지는 성취지향적 리더십이 보일 거라고 예상합니다. 오른쪽은 같은 시기에 상황이 어떻게 바뀌었는지를 Fiedler의 상황변수로 본 것입니다. 이 가설이 맞는지는 보고서에서 자료로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평가할 때는 잘한 점만 늘어놓지 않으려고 합니다. 점유율 2위, 브랜드 차별화, AI 수출 같은 성과가 있지만, 창사 첫 희망퇴직이나 애플페이 수수료 논란, 그리고 리더 한 사람에게 너무 기대는 구조라는 지적도 있습니다. 이걸 다 놓고 결론에서는 처음 질문으로 돌아가, 스스로 바뀐 리더였는지 판을 바꾼 리더였는지 저희 판단을 내리겠습니다.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참고한 자료입니다. 따로 설명하지 않고 넘어가셔도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저희 조의 계획 발표를 마치겠습니다. 질문 주시면 답변드리겠습니다.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A8A8A8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</a:rPr>
              <a:t>리더십 · 팀프로젝트 계획 발표</a:t>
            </a:r>
            <a:endParaRPr lang="en-US" sz="1200" dirty="0"/>
          </a:p>
        </p:txBody>
      </p:sp>
      <p:sp>
        <p:nvSpPr>
          <p:cNvPr id="3" name="t1"/>
          <p:cNvSpPr txBox="1"/>
          <p:nvPr/>
        </p:nvSpPr>
        <p:spPr>
          <a:xfrm>
            <a:off x="685800" y="18288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스스로 바뀐 리더인가,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판을 바꾼 리더인가</a:t>
            </a:r>
            <a:endParaRPr lang="en-US" sz="4400" dirty="0"/>
          </a:p>
        </p:txBody>
      </p:sp>
      <p:sp>
        <p:nvSpPr>
          <p:cNvPr id="4" name="t2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</a:rPr>
              <a:t>현대카드 정태영 부회장 사례분석 계획</a:t>
            </a:r>
            <a:endParaRPr lang="en-US" sz="2000" dirty="0"/>
          </a:p>
        </p:txBody>
      </p:sp>
      <p:sp>
        <p:nvSpPr>
          <p:cNvPr id="5" name="t3"/>
          <p:cNvSpPr txBox="1"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조원1 · 조원2 · 조원3 · 조원4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2026. 10. 26</a:t>
            </a:r>
            <a:endParaRPr lang="en-US" sz="1300" dirty="0"/>
          </a:p>
        </p:txBody>
      </p:sp>
      <p:sp>
        <p:nvSpPr>
          <p:cNvPr id="6" name="rr4"/>
          <p:cNvSpPr/>
          <p:nvPr/>
        </p:nvSpPr>
        <p:spPr>
          <a:xfrm>
            <a:off x="8808415" y="1289898"/>
            <a:ext cx="2697480" cy="4278203"/>
          </a:xfrm>
          <a:prstGeom prst="roundRect">
            <a:avLst>
              <a:gd name="adj" fmla="val 4746"/>
            </a:avLst>
          </a:prstGeom>
          <a:solidFill>
            <a:schemeClr val="accent1"/>
          </a:solidFill>
          <a:ln/>
        </p:spPr>
      </p:sp>
      <p:sp>
        <p:nvSpPr>
          <p:cNvPr id="7" name="rr5"/>
          <p:cNvSpPr/>
          <p:nvPr/>
        </p:nvSpPr>
        <p:spPr>
          <a:xfrm>
            <a:off x="9105138" y="1667546"/>
            <a:ext cx="458572" cy="364160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8" name="t6"/>
          <p:cNvSpPr txBox="1"/>
          <p:nvPr/>
        </p:nvSpPr>
        <p:spPr>
          <a:xfrm>
            <a:off x="9105138" y="4435160"/>
            <a:ext cx="2157984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JUNG TAE-YOUNG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2003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7"/>
          <p:cNvSpPr txBox="1"/>
          <p:nvPr/>
        </p:nvSpPr>
        <p:spPr>
          <a:xfrm>
            <a:off x="685800" y="7680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목차</a:t>
            </a:r>
            <a:endParaRPr lang="en-US" sz="2800" dirty="0"/>
          </a:p>
        </p:txBody>
      </p:sp>
      <p:sp>
        <p:nvSpPr>
          <p:cNvPr id="3" name="t8"/>
          <p:cNvSpPr txBox="1"/>
          <p:nvPr/>
        </p:nvSpPr>
        <p:spPr>
          <a:xfrm>
            <a:off x="68580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발표 20분 · 질의응답 15분</a:t>
            </a:r>
            <a:endParaRPr lang="en-US" sz="1300" dirty="0"/>
          </a:p>
        </p:txBody>
      </p:sp>
      <p:sp>
        <p:nvSpPr>
          <p:cNvPr id="4" name="t9"/>
          <p:cNvSpPr txBox="1"/>
          <p:nvPr/>
        </p:nvSpPr>
        <p:spPr>
          <a:xfrm>
            <a:off x="4572000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10"/>
          <p:cNvSpPr txBox="1"/>
          <p:nvPr/>
        </p:nvSpPr>
        <p:spPr>
          <a:xfrm>
            <a:off x="5394960" y="1435608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리더 및 선정 배경</a:t>
            </a:r>
            <a:endParaRPr lang="en-US" sz="2600" dirty="0"/>
          </a:p>
        </p:txBody>
      </p:sp>
      <p:sp>
        <p:nvSpPr>
          <p:cNvPr id="6" name="t11"/>
          <p:cNvSpPr txBox="1"/>
          <p:nvPr/>
        </p:nvSpPr>
        <p:spPr>
          <a:xfrm>
            <a:off x="5394960" y="1965960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어떤 사람인지, 왜 골랐는지</a:t>
            </a:r>
            <a:endParaRPr lang="en-US" sz="1500" dirty="0"/>
          </a:p>
        </p:txBody>
      </p:sp>
      <p:sp>
        <p:nvSpPr>
          <p:cNvPr id="7" name="l12"/>
          <p:cNvSpPr/>
          <p:nvPr/>
        </p:nvSpPr>
        <p:spPr>
          <a:xfrm>
            <a:off x="4572000" y="2560320"/>
            <a:ext cx="69338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13"/>
          <p:cNvSpPr txBox="1"/>
          <p:nvPr/>
        </p:nvSpPr>
        <p:spPr>
          <a:xfrm>
            <a:off x="4572000" y="29077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14"/>
          <p:cNvSpPr txBox="1"/>
          <p:nvPr/>
        </p:nvSpPr>
        <p:spPr>
          <a:xfrm>
            <a:off x="5394960" y="2852928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대상 리더 간략 소개</a:t>
            </a:r>
            <a:endParaRPr lang="en-US" sz="2600" dirty="0"/>
          </a:p>
        </p:txBody>
      </p:sp>
      <p:sp>
        <p:nvSpPr>
          <p:cNvPr id="10" name="t15"/>
          <p:cNvSpPr txBox="1"/>
          <p:nvPr/>
        </p:nvSpPr>
        <p:spPr>
          <a:xfrm>
            <a:off x="5394960" y="3383280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프로필 · 회사 현황 · 재무 · 주주 구성</a:t>
            </a:r>
            <a:endParaRPr lang="en-US" sz="1500" dirty="0"/>
          </a:p>
        </p:txBody>
      </p:sp>
      <p:sp>
        <p:nvSpPr>
          <p:cNvPr id="11" name="l16"/>
          <p:cNvSpPr/>
          <p:nvPr/>
        </p:nvSpPr>
        <p:spPr>
          <a:xfrm>
            <a:off x="4572000" y="3977640"/>
            <a:ext cx="69338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17"/>
          <p:cNvSpPr txBox="1"/>
          <p:nvPr/>
        </p:nvSpPr>
        <p:spPr>
          <a:xfrm>
            <a:off x="4572000" y="43251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18"/>
          <p:cNvSpPr txBox="1"/>
          <p:nvPr/>
        </p:nvSpPr>
        <p:spPr>
          <a:xfrm>
            <a:off x="5394960" y="4270248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팀플 보고서 작성 방법</a:t>
            </a:r>
            <a:endParaRPr lang="en-US" sz="2600" dirty="0"/>
          </a:p>
        </p:txBody>
      </p:sp>
      <p:sp>
        <p:nvSpPr>
          <p:cNvPr id="14" name="t19"/>
          <p:cNvSpPr txBox="1"/>
          <p:nvPr/>
        </p:nvSpPr>
        <p:spPr>
          <a:xfrm>
            <a:off x="5394960" y="4800600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자료 조사 · 사례분석 틀 · 이론 연계 · 평가 방향</a:t>
            </a:r>
            <a:endParaRPr lang="en-US" sz="1500" dirty="0"/>
          </a:p>
        </p:txBody>
      </p:sp>
      <p:sp>
        <p:nvSpPr>
          <p:cNvPr id="16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8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</a:rPr>
              <a:t>저희가 답하려는 질문</a:t>
            </a:r>
            <a:endParaRPr lang="en-US" sz="1200" dirty="0"/>
          </a:p>
        </p:txBody>
      </p:sp>
      <p:sp>
        <p:nvSpPr>
          <p:cNvPr id="3" name="t20"/>
          <p:cNvSpPr txBox="1"/>
          <p:nvPr/>
        </p:nvSpPr>
        <p:spPr>
          <a:xfrm>
            <a:off x="685800" y="141732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정태영 부회장은 상황이 바뀔 때마다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자기 행동을 바꾼 리더일까,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아니면 상황 자체를 바꾼 리더일까?</a:t>
            </a:r>
            <a:endParaRPr lang="en-US" sz="3600" dirty="0"/>
          </a:p>
        </p:txBody>
      </p:sp>
      <p:sp>
        <p:nvSpPr>
          <p:cNvPr id="4" name="l21"/>
          <p:cNvSpPr/>
          <p:nvPr/>
        </p:nvSpPr>
        <p:spPr>
          <a:xfrm>
            <a:off x="685800" y="4343400"/>
            <a:ext cx="5135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t22"/>
          <p:cNvSpPr txBox="1"/>
          <p:nvPr/>
        </p:nvSpPr>
        <p:spPr>
          <a:xfrm>
            <a:off x="685800" y="457200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리더가 바뀌었다면</a:t>
            </a:r>
            <a:endParaRPr lang="en-US" sz="1400" dirty="0"/>
          </a:p>
        </p:txBody>
      </p:sp>
      <p:sp>
        <p:nvSpPr>
          <p:cNvPr id="6" name="t23"/>
          <p:cNvSpPr txBox="1"/>
          <p:nvPr/>
        </p:nvSpPr>
        <p:spPr>
          <a:xfrm>
            <a:off x="685800" y="48920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House 경로-목표이론</a:t>
            </a:r>
            <a:endParaRPr lang="en-US" sz="2200" dirty="0"/>
          </a:p>
        </p:txBody>
      </p:sp>
      <p:sp>
        <p:nvSpPr>
          <p:cNvPr id="7" name="t24"/>
          <p:cNvSpPr txBox="1"/>
          <p:nvPr/>
        </p:nvSpPr>
        <p:spPr>
          <a:xfrm>
            <a:off x="685800" y="534924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</a:rPr>
              <a:t>위기 때와 전환기에 리더 행동이 어떻게 달랐는지 본다</a:t>
            </a:r>
            <a:endParaRPr lang="en-US" sz="1500" dirty="0"/>
          </a:p>
        </p:txBody>
      </p:sp>
      <p:sp>
        <p:nvSpPr>
          <p:cNvPr id="8" name="l25"/>
          <p:cNvSpPr/>
          <p:nvPr/>
        </p:nvSpPr>
        <p:spPr>
          <a:xfrm>
            <a:off x="6370168" y="4343400"/>
            <a:ext cx="5135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t26"/>
          <p:cNvSpPr txBox="1"/>
          <p:nvPr/>
        </p:nvSpPr>
        <p:spPr>
          <a:xfrm>
            <a:off x="6370168" y="457200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상황을 바꿨다면</a:t>
            </a:r>
            <a:endParaRPr lang="en-US" sz="1400" dirty="0"/>
          </a:p>
        </p:txBody>
      </p:sp>
      <p:sp>
        <p:nvSpPr>
          <p:cNvPr id="10" name="t27"/>
          <p:cNvSpPr txBox="1"/>
          <p:nvPr/>
        </p:nvSpPr>
        <p:spPr>
          <a:xfrm>
            <a:off x="6370168" y="48920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Fiedler 상황 모델</a:t>
            </a:r>
            <a:endParaRPr lang="en-US" sz="2200" dirty="0"/>
          </a:p>
        </p:txBody>
      </p:sp>
      <p:sp>
        <p:nvSpPr>
          <p:cNvPr id="11" name="t28"/>
          <p:cNvSpPr txBox="1"/>
          <p:nvPr/>
        </p:nvSpPr>
        <p:spPr>
          <a:xfrm>
            <a:off x="6370168" y="534924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</a:rPr>
              <a:t>제휴와 원칙으로 일하기 좋은 판을 만들었는지 본다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  리더 및 선정 배경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카드대란 한복판에 적자 회사를 맡아 23년째 경영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한경비즈니스 「2021 파워 금융인 30」, 프라임경제 「CEO리포트」</a:t>
            </a:r>
            <a:endParaRPr lang="en-US" sz="1000" dirty="0"/>
          </a:p>
        </p:txBody>
      </p:sp>
      <p:sp>
        <p:nvSpPr>
          <p:cNvPr id="5" name="t29"/>
          <p:cNvSpPr txBox="1"/>
          <p:nvPr/>
        </p:nvSpPr>
        <p:spPr>
          <a:xfrm>
            <a:off x="685800" y="17830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경력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1987–2002  현대종합상사 · 현대정공(미주·멕시코 법인장) · 현대모비스 · 기아</a:t>
            </a:r>
            <a:endParaRPr lang="en-US" sz="1400" dirty="0"/>
          </a:p>
        </p:txBody>
      </p:sp>
      <p:sp>
        <p:nvSpPr>
          <p:cNvPr id="6" name="l30"/>
          <p:cNvSpPr/>
          <p:nvPr/>
        </p:nvSpPr>
        <p:spPr>
          <a:xfrm>
            <a:off x="685800" y="3154680"/>
            <a:ext cx="1082009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31"/>
          <p:cNvSpPr txBox="1"/>
          <p:nvPr/>
        </p:nvSpPr>
        <p:spPr>
          <a:xfrm>
            <a:off x="685800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2003</a:t>
            </a:r>
            <a:endParaRPr lang="en-US" sz="2400" dirty="0"/>
          </a:p>
        </p:txBody>
      </p:sp>
      <p:sp>
        <p:nvSpPr>
          <p:cNvPr id="8" name="d32"/>
          <p:cNvSpPr/>
          <p:nvPr/>
        </p:nvSpPr>
        <p:spPr>
          <a:xfrm>
            <a:off x="685800" y="30632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33"/>
          <p:cNvSpPr txBox="1"/>
          <p:nvPr/>
        </p:nvSpPr>
        <p:spPr>
          <a:xfrm>
            <a:off x="685800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대표이사 취임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첫해 6천억대 적자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</p:txBody>
      </p:sp>
      <p:sp>
        <p:nvSpPr>
          <p:cNvPr id="10" name="t34"/>
          <p:cNvSpPr txBox="1"/>
          <p:nvPr/>
        </p:nvSpPr>
        <p:spPr>
          <a:xfrm>
            <a:off x="2489149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2005</a:t>
            </a:r>
            <a:endParaRPr lang="en-US" sz="2000" dirty="0"/>
          </a:p>
        </p:txBody>
      </p:sp>
      <p:sp>
        <p:nvSpPr>
          <p:cNvPr id="11" name="d35"/>
          <p:cNvSpPr/>
          <p:nvPr/>
        </p:nvSpPr>
        <p:spPr>
          <a:xfrm>
            <a:off x="2489149" y="309524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36"/>
          <p:cNvSpPr txBox="1"/>
          <p:nvPr/>
        </p:nvSpPr>
        <p:spPr>
          <a:xfrm>
            <a:off x="2489149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초청제 프리미엄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‘the Black’ 출시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 시작</a:t>
            </a:r>
            <a:endParaRPr lang="en-US" sz="1400" dirty="0"/>
          </a:p>
        </p:txBody>
      </p:sp>
      <p:sp>
        <p:nvSpPr>
          <p:cNvPr id="13" name="t37"/>
          <p:cNvSpPr txBox="1"/>
          <p:nvPr/>
        </p:nvSpPr>
        <p:spPr>
          <a:xfrm>
            <a:off x="4292498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2015</a:t>
            </a:r>
            <a:endParaRPr lang="en-US" sz="2000" dirty="0"/>
          </a:p>
        </p:txBody>
      </p:sp>
      <p:sp>
        <p:nvSpPr>
          <p:cNvPr id="14" name="d38"/>
          <p:cNvSpPr/>
          <p:nvPr/>
        </p:nvSpPr>
        <p:spPr>
          <a:xfrm>
            <a:off x="4292498" y="309524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39"/>
          <p:cNvSpPr txBox="1"/>
          <p:nvPr/>
        </p:nvSpPr>
        <p:spPr>
          <a:xfrm>
            <a:off x="4292498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부회장 승진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‘디지털 현대카드’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선언</a:t>
            </a:r>
            <a:endParaRPr lang="en-US" sz="1400" dirty="0"/>
          </a:p>
        </p:txBody>
      </p:sp>
      <p:sp>
        <p:nvSpPr>
          <p:cNvPr id="16" name="t40"/>
          <p:cNvSpPr txBox="1"/>
          <p:nvPr/>
        </p:nvSpPr>
        <p:spPr>
          <a:xfrm>
            <a:off x="6095848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2018</a:t>
            </a:r>
            <a:endParaRPr lang="en-US" sz="2000" dirty="0"/>
          </a:p>
        </p:txBody>
      </p:sp>
      <p:sp>
        <p:nvSpPr>
          <p:cNvPr id="17" name="d41"/>
          <p:cNvSpPr/>
          <p:nvPr/>
        </p:nvSpPr>
        <p:spPr>
          <a:xfrm>
            <a:off x="6095848" y="309524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42"/>
          <p:cNvSpPr txBox="1"/>
          <p:nvPr/>
        </p:nvSpPr>
        <p:spPr>
          <a:xfrm>
            <a:off x="6095848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수수료 인하로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실적 악화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</p:txBody>
      </p:sp>
      <p:sp>
        <p:nvSpPr>
          <p:cNvPr id="19" name="t43"/>
          <p:cNvSpPr txBox="1"/>
          <p:nvPr/>
        </p:nvSpPr>
        <p:spPr>
          <a:xfrm>
            <a:off x="7899197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2023</a:t>
            </a:r>
            <a:endParaRPr lang="en-US" sz="2000" dirty="0"/>
          </a:p>
        </p:txBody>
      </p:sp>
      <p:sp>
        <p:nvSpPr>
          <p:cNvPr id="20" name="d44"/>
          <p:cNvSpPr/>
          <p:nvPr/>
        </p:nvSpPr>
        <p:spPr>
          <a:xfrm>
            <a:off x="7899197" y="309524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t45"/>
          <p:cNvSpPr txBox="1"/>
          <p:nvPr/>
        </p:nvSpPr>
        <p:spPr>
          <a:xfrm>
            <a:off x="7899197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국내 첫 도입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‘전시체제’ 선언</a:t>
            </a:r>
            <a:endParaRPr lang="en-US" sz="1400" dirty="0"/>
          </a:p>
        </p:txBody>
      </p:sp>
      <p:sp>
        <p:nvSpPr>
          <p:cNvPr id="22" name="t46"/>
          <p:cNvSpPr txBox="1"/>
          <p:nvPr/>
        </p:nvSpPr>
        <p:spPr>
          <a:xfrm>
            <a:off x="9702546" y="237744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2024–26</a:t>
            </a:r>
            <a:endParaRPr lang="en-US" sz="2000" dirty="0"/>
          </a:p>
        </p:txBody>
      </p:sp>
      <p:sp>
        <p:nvSpPr>
          <p:cNvPr id="23" name="d47"/>
          <p:cNvSpPr/>
          <p:nvPr/>
        </p:nvSpPr>
        <p:spPr>
          <a:xfrm>
            <a:off x="9702546" y="309524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48"/>
          <p:cNvSpPr txBox="1"/>
          <p:nvPr/>
        </p:nvSpPr>
        <p:spPr>
          <a:xfrm>
            <a:off x="9702546" y="338328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‘유니버스’를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일본에 수출</a:t>
            </a:r>
            <a:endParaRPr lang="en-US" sz="1400" dirty="0"/>
          </a:p>
        </p:txBody>
      </p:sp>
      <p:sp>
        <p:nvSpPr>
          <p:cNvPr id="25" name="t49"/>
          <p:cNvSpPr txBox="1"/>
          <p:nvPr/>
        </p:nvSpPr>
        <p:spPr>
          <a:xfrm>
            <a:off x="6858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분석은 네 시기로 나눠서</a:t>
            </a:r>
            <a:endParaRPr lang="en-US" sz="1200" dirty="0"/>
          </a:p>
        </p:txBody>
      </p:sp>
      <p:sp>
        <p:nvSpPr>
          <p:cNvPr id="26" name="r50"/>
          <p:cNvSpPr/>
          <p:nvPr/>
        </p:nvSpPr>
        <p:spPr>
          <a:xfrm>
            <a:off x="685800" y="516636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51"/>
          <p:cNvSpPr txBox="1"/>
          <p:nvPr/>
        </p:nvSpPr>
        <p:spPr>
          <a:xfrm>
            <a:off x="850392" y="516636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①  위기와 회생</a:t>
            </a:r>
            <a:endParaRPr lang="en-US" sz="1400" dirty="0"/>
          </a:p>
        </p:txBody>
      </p:sp>
      <p:sp>
        <p:nvSpPr>
          <p:cNvPr id="28" name="r52"/>
          <p:cNvSpPr/>
          <p:nvPr/>
        </p:nvSpPr>
        <p:spPr>
          <a:xfrm>
            <a:off x="4292498" y="516636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53"/>
          <p:cNvSpPr txBox="1"/>
          <p:nvPr/>
        </p:nvSpPr>
        <p:spPr>
          <a:xfrm>
            <a:off x="4457090" y="516636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②  브랜드 성장</a:t>
            </a:r>
            <a:endParaRPr lang="en-US" sz="1400" dirty="0"/>
          </a:p>
        </p:txBody>
      </p:sp>
      <p:sp>
        <p:nvSpPr>
          <p:cNvPr id="30" name="r54"/>
          <p:cNvSpPr/>
          <p:nvPr/>
        </p:nvSpPr>
        <p:spPr>
          <a:xfrm>
            <a:off x="6095848" y="516636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55"/>
          <p:cNvSpPr txBox="1"/>
          <p:nvPr/>
        </p:nvSpPr>
        <p:spPr>
          <a:xfrm>
            <a:off x="6260440" y="516636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③  구조조정</a:t>
            </a:r>
            <a:endParaRPr lang="en-US" sz="1400" dirty="0"/>
          </a:p>
        </p:txBody>
      </p:sp>
      <p:sp>
        <p:nvSpPr>
          <p:cNvPr id="32" name="r56"/>
          <p:cNvSpPr/>
          <p:nvPr/>
        </p:nvSpPr>
        <p:spPr>
          <a:xfrm>
            <a:off x="7899197" y="516636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t57"/>
          <p:cNvSpPr txBox="1"/>
          <p:nvPr/>
        </p:nvSpPr>
        <p:spPr>
          <a:xfrm>
            <a:off x="8063789" y="516636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④  디지털 전환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  리더 및 선정 배경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상황에 따라 리더십이 어떻게 달라지는지 보기 좋은 사례</a:t>
            </a:r>
            <a:endParaRPr lang="en-US" sz="2800" dirty="0"/>
          </a:p>
        </p:txBody>
      </p:sp>
      <p:sp>
        <p:nvSpPr>
          <p:cNvPr id="4" name="t58"/>
          <p:cNvSpPr txBox="1"/>
          <p:nvPr/>
        </p:nvSpPr>
        <p:spPr>
          <a:xfrm>
            <a:off x="6858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59"/>
          <p:cNvSpPr txBox="1"/>
          <p:nvPr/>
        </p:nvSpPr>
        <p:spPr>
          <a:xfrm>
            <a:off x="685800" y="23317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chemeClr val="tx1"/>
                </a:solidFill>
              </a:rPr>
              <a:t>성격이 전혀 다른 네 시기를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chemeClr val="tx1"/>
                </a:solidFill>
              </a:rPr>
              <a:t>한 사람이 이끌었다</a:t>
            </a:r>
            <a:endParaRPr lang="en-US" sz="3000" dirty="0"/>
          </a:p>
        </p:txBody>
      </p:sp>
      <p:sp>
        <p:nvSpPr>
          <p:cNvPr id="6" name="t60"/>
          <p:cNvSpPr txBox="1"/>
          <p:nvPr/>
        </p:nvSpPr>
        <p:spPr>
          <a:xfrm>
            <a:off x="685800" y="36118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위기부터 디지털 전환까지 한 CEO가 다 겪었기 때문에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시기별로 리더십을 나란히 놓고 비교할 수 있다</a:t>
            </a:r>
            <a:endParaRPr lang="en-US" sz="1500" dirty="0"/>
          </a:p>
        </p:txBody>
      </p:sp>
      <p:sp>
        <p:nvSpPr>
          <p:cNvPr id="7" name="r61"/>
          <p:cNvSpPr/>
          <p:nvPr/>
        </p:nvSpPr>
        <p:spPr>
          <a:xfrm>
            <a:off x="685800" y="4663440"/>
            <a:ext cx="133731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62"/>
          <p:cNvSpPr txBox="1"/>
          <p:nvPr/>
        </p:nvSpPr>
        <p:spPr>
          <a:xfrm>
            <a:off x="685800" y="4663440"/>
            <a:ext cx="1337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위기</a:t>
            </a:r>
            <a:endParaRPr lang="en-US" sz="1400" dirty="0"/>
          </a:p>
        </p:txBody>
      </p:sp>
      <p:sp>
        <p:nvSpPr>
          <p:cNvPr id="9" name="r63"/>
          <p:cNvSpPr/>
          <p:nvPr/>
        </p:nvSpPr>
        <p:spPr>
          <a:xfrm>
            <a:off x="2160270" y="4663440"/>
            <a:ext cx="133731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64"/>
          <p:cNvSpPr txBox="1"/>
          <p:nvPr/>
        </p:nvSpPr>
        <p:spPr>
          <a:xfrm>
            <a:off x="2160270" y="4663440"/>
            <a:ext cx="1337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성장</a:t>
            </a:r>
            <a:endParaRPr lang="en-US" sz="1400" dirty="0"/>
          </a:p>
        </p:txBody>
      </p:sp>
      <p:sp>
        <p:nvSpPr>
          <p:cNvPr id="11" name="r65"/>
          <p:cNvSpPr/>
          <p:nvPr/>
        </p:nvSpPr>
        <p:spPr>
          <a:xfrm>
            <a:off x="3634740" y="4663440"/>
            <a:ext cx="133731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66"/>
          <p:cNvSpPr txBox="1"/>
          <p:nvPr/>
        </p:nvSpPr>
        <p:spPr>
          <a:xfrm>
            <a:off x="3634740" y="4663440"/>
            <a:ext cx="1337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구조조정</a:t>
            </a:r>
            <a:endParaRPr lang="en-US" sz="1400" dirty="0"/>
          </a:p>
        </p:txBody>
      </p:sp>
      <p:sp>
        <p:nvSpPr>
          <p:cNvPr id="13" name="r67"/>
          <p:cNvSpPr/>
          <p:nvPr/>
        </p:nvSpPr>
        <p:spPr>
          <a:xfrm>
            <a:off x="5109210" y="4663440"/>
            <a:ext cx="133731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68"/>
          <p:cNvSpPr txBox="1"/>
          <p:nvPr/>
        </p:nvSpPr>
        <p:spPr>
          <a:xfrm>
            <a:off x="5109210" y="4663440"/>
            <a:ext cx="1337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디지털 전환</a:t>
            </a:r>
            <a:endParaRPr lang="en-US" sz="1400" dirty="0"/>
          </a:p>
        </p:txBody>
      </p:sp>
      <p:sp>
        <p:nvSpPr>
          <p:cNvPr id="15" name="l69"/>
          <p:cNvSpPr/>
          <p:nvPr/>
        </p:nvSpPr>
        <p:spPr>
          <a:xfrm>
            <a:off x="6858000" y="1874520"/>
            <a:ext cx="0" cy="32461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70"/>
          <p:cNvSpPr txBox="1"/>
          <p:nvPr/>
        </p:nvSpPr>
        <p:spPr>
          <a:xfrm>
            <a:off x="726948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71"/>
          <p:cNvSpPr txBox="1"/>
          <p:nvPr/>
        </p:nvSpPr>
        <p:spPr>
          <a:xfrm>
            <a:off x="7269480" y="228600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본인이 직접 한 말이 많다</a:t>
            </a:r>
            <a:endParaRPr lang="en-US" sz="2000" dirty="0"/>
          </a:p>
        </p:txBody>
      </p:sp>
      <p:sp>
        <p:nvSpPr>
          <p:cNvPr id="18" name="t72"/>
          <p:cNvSpPr txBox="1"/>
          <p:nvPr/>
        </p:nvSpPr>
        <p:spPr>
          <a:xfrm>
            <a:off x="7269480" y="2770632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SNS와 인터뷰가 많아서 기사 내용과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본인 설명을 서로 맞춰 볼 수 있다</a:t>
            </a:r>
            <a:endParaRPr lang="en-US" sz="1400" dirty="0"/>
          </a:p>
        </p:txBody>
      </p:sp>
      <p:sp>
        <p:nvSpPr>
          <p:cNvPr id="19" name="l73"/>
          <p:cNvSpPr/>
          <p:nvPr/>
        </p:nvSpPr>
        <p:spPr>
          <a:xfrm>
            <a:off x="7269480" y="3429000"/>
            <a:ext cx="4236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74"/>
          <p:cNvSpPr txBox="1"/>
          <p:nvPr/>
        </p:nvSpPr>
        <p:spPr>
          <a:xfrm>
            <a:off x="726948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75"/>
          <p:cNvSpPr txBox="1"/>
          <p:nvPr/>
        </p:nvSpPr>
        <p:spPr>
          <a:xfrm>
            <a:off x="7269480" y="406908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성과만큼 논란도 있다</a:t>
            </a:r>
            <a:endParaRPr lang="en-US" sz="2000" dirty="0"/>
          </a:p>
        </p:txBody>
      </p:sp>
      <p:sp>
        <p:nvSpPr>
          <p:cNvPr id="22" name="t76"/>
          <p:cNvSpPr txBox="1"/>
          <p:nvPr/>
        </p:nvSpPr>
        <p:spPr>
          <a:xfrm>
            <a:off x="7269480" y="4553712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업계 2위까지 키웠지만 희망퇴직, 애플페이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수수료 논란도 있어 한쪽으로 치우치지 않는다</a:t>
            </a:r>
            <a:endParaRPr lang="en-US" sz="1400" dirty="0"/>
          </a:p>
        </p:txBody>
      </p:sp>
      <p:sp>
        <p:nvSpPr>
          <p:cNvPr id="2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프로필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전문경영인이자 오너 일가의 사위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현대카드 반기보고서 제32기 임원 현황(DART)</a:t>
            </a:r>
            <a:endParaRPr lang="en-US" sz="1000" dirty="0"/>
          </a:p>
        </p:txBody>
      </p:sp>
      <p:sp>
        <p:nvSpPr>
          <p:cNvPr id="5" name="rr77"/>
          <p:cNvSpPr/>
          <p:nvPr/>
        </p:nvSpPr>
        <p:spPr>
          <a:xfrm>
            <a:off x="685800" y="1783080"/>
            <a:ext cx="2514600" cy="3988156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6" name="rr78"/>
          <p:cNvSpPr/>
          <p:nvPr/>
        </p:nvSpPr>
        <p:spPr>
          <a:xfrm>
            <a:off x="962406" y="2135124"/>
            <a:ext cx="427482" cy="339471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" name="t79"/>
          <p:cNvSpPr txBox="1"/>
          <p:nvPr/>
        </p:nvSpPr>
        <p:spPr>
          <a:xfrm>
            <a:off x="962406" y="4715104"/>
            <a:ext cx="2011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정태영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</a:rPr>
              <a:t>Ted Chung · 1960</a:t>
            </a:r>
            <a:endParaRPr lang="en-US" sz="1200" dirty="0"/>
          </a:p>
        </p:txBody>
      </p:sp>
      <p:sp>
        <p:nvSpPr>
          <p:cNvPr id="8" name="t80"/>
          <p:cNvSpPr txBox="1"/>
          <p:nvPr/>
        </p:nvSpPr>
        <p:spPr>
          <a:xfrm>
            <a:off x="4023360" y="178308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학력</a:t>
            </a:r>
            <a:endParaRPr lang="en-US" sz="1400" dirty="0"/>
          </a:p>
        </p:txBody>
      </p:sp>
      <p:sp>
        <p:nvSpPr>
          <p:cNvPr id="9" name="t81"/>
          <p:cNvSpPr txBox="1"/>
          <p:nvPr/>
        </p:nvSpPr>
        <p:spPr>
          <a:xfrm>
            <a:off x="5943600" y="1783080"/>
            <a:ext cx="5562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서울대 불어불문학과, 미국 MIT 경영대학원 MBA</a:t>
            </a:r>
            <a:endParaRPr lang="en-US" sz="1700" dirty="0"/>
          </a:p>
        </p:txBody>
      </p:sp>
      <p:sp>
        <p:nvSpPr>
          <p:cNvPr id="10" name="l82"/>
          <p:cNvSpPr/>
          <p:nvPr/>
        </p:nvSpPr>
        <p:spPr>
          <a:xfrm>
            <a:off x="4023360" y="2569464"/>
            <a:ext cx="74825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83"/>
          <p:cNvSpPr txBox="1"/>
          <p:nvPr/>
        </p:nvSpPr>
        <p:spPr>
          <a:xfrm>
            <a:off x="4023360" y="256946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현직</a:t>
            </a:r>
            <a:endParaRPr lang="en-US" sz="1400" dirty="0"/>
          </a:p>
        </p:txBody>
      </p:sp>
      <p:sp>
        <p:nvSpPr>
          <p:cNvPr id="12" name="t84"/>
          <p:cNvSpPr txBox="1"/>
          <p:nvPr/>
        </p:nvSpPr>
        <p:spPr>
          <a:xfrm>
            <a:off x="5943600" y="2569464"/>
            <a:ext cx="5562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현대카드 · 현대커머셜 대표이사 부회장</a:t>
            </a:r>
            <a:endParaRPr lang="en-US" sz="1700" dirty="0"/>
          </a:p>
        </p:txBody>
      </p:sp>
      <p:sp>
        <p:nvSpPr>
          <p:cNvPr id="13" name="l85"/>
          <p:cNvSpPr/>
          <p:nvPr/>
        </p:nvSpPr>
        <p:spPr>
          <a:xfrm>
            <a:off x="4023360" y="3355848"/>
            <a:ext cx="74825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86"/>
          <p:cNvSpPr txBox="1"/>
          <p:nvPr/>
        </p:nvSpPr>
        <p:spPr>
          <a:xfrm>
            <a:off x="4023360" y="335584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재임 기간</a:t>
            </a:r>
            <a:endParaRPr lang="en-US" sz="1400" dirty="0"/>
          </a:p>
        </p:txBody>
      </p:sp>
      <p:sp>
        <p:nvSpPr>
          <p:cNvPr id="15" name="t87"/>
          <p:cNvSpPr txBox="1"/>
          <p:nvPr/>
        </p:nvSpPr>
        <p:spPr>
          <a:xfrm>
            <a:off x="5943600" y="3355848"/>
            <a:ext cx="5562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2003년 취임, 23년째 (임기 2027년 3월까지)</a:t>
            </a:r>
            <a:endParaRPr lang="en-US" sz="1700" dirty="0"/>
          </a:p>
        </p:txBody>
      </p:sp>
      <p:sp>
        <p:nvSpPr>
          <p:cNvPr id="16" name="l88"/>
          <p:cNvSpPr/>
          <p:nvPr/>
        </p:nvSpPr>
        <p:spPr>
          <a:xfrm>
            <a:off x="4023360" y="4142232"/>
            <a:ext cx="74825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89"/>
          <p:cNvSpPr txBox="1"/>
          <p:nvPr/>
        </p:nvSpPr>
        <p:spPr>
          <a:xfrm>
            <a:off x="4023360" y="41422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그룹과의 관계</a:t>
            </a:r>
            <a:endParaRPr lang="en-US" sz="1400" dirty="0"/>
          </a:p>
        </p:txBody>
      </p:sp>
      <p:sp>
        <p:nvSpPr>
          <p:cNvPr id="18" name="t90"/>
          <p:cNvSpPr txBox="1"/>
          <p:nvPr/>
        </p:nvSpPr>
        <p:spPr>
          <a:xfrm>
            <a:off x="5943600" y="4142232"/>
            <a:ext cx="5562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정몽구 현대차그룹 명예회장의 사위</a:t>
            </a:r>
            <a:endParaRPr lang="en-US" sz="1700" dirty="0"/>
          </a:p>
        </p:txBody>
      </p:sp>
      <p:sp>
        <p:nvSpPr>
          <p:cNvPr id="19" name="l91"/>
          <p:cNvSpPr/>
          <p:nvPr/>
        </p:nvSpPr>
        <p:spPr>
          <a:xfrm>
            <a:off x="4023360" y="4928616"/>
            <a:ext cx="74825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92"/>
          <p:cNvSpPr txBox="1"/>
          <p:nvPr/>
        </p:nvSpPr>
        <p:spPr>
          <a:xfrm>
            <a:off x="4023360" y="49286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별명</a:t>
            </a:r>
            <a:endParaRPr lang="en-US" sz="1400" dirty="0"/>
          </a:p>
        </p:txBody>
      </p:sp>
      <p:sp>
        <p:nvSpPr>
          <p:cNvPr id="21" name="t93"/>
          <p:cNvSpPr txBox="1"/>
          <p:nvPr/>
        </p:nvSpPr>
        <p:spPr>
          <a:xfrm>
            <a:off x="5943600" y="4928616"/>
            <a:ext cx="5562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‘마케팅 천재’, ‘괴짜 경영인’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회사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현대차그룹 계열 카드사, 회원 1,311만 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Ⅰ. 회사의 개요, DART · 회원·직원 수는 2026년 6월 말 기준</a:t>
            </a:r>
            <a:endParaRPr lang="en-US" sz="1000" dirty="0"/>
          </a:p>
        </p:txBody>
      </p:sp>
      <p:sp>
        <p:nvSpPr>
          <p:cNvPr id="5" name="t94"/>
          <p:cNvSpPr txBox="1"/>
          <p:nvPr/>
        </p:nvSpPr>
        <p:spPr>
          <a:xfrm>
            <a:off x="685800" y="178308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2001년</a:t>
            </a:r>
            <a:endParaRPr lang="en-US" sz="3600" dirty="0"/>
          </a:p>
        </p:txBody>
      </p:sp>
      <p:sp>
        <p:nvSpPr>
          <p:cNvPr id="6" name="t95"/>
          <p:cNvSpPr txBox="1"/>
          <p:nvPr/>
        </p:nvSpPr>
        <p:spPr>
          <a:xfrm>
            <a:off x="685800" y="2532888"/>
            <a:ext cx="3332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현대카드 출범</a:t>
            </a:r>
            <a:endParaRPr lang="en-US" sz="1400" dirty="0"/>
          </a:p>
        </p:txBody>
      </p:sp>
      <p:sp>
        <p:nvSpPr>
          <p:cNvPr id="7" name="t96"/>
          <p:cNvSpPr txBox="1"/>
          <p:nvPr/>
        </p:nvSpPr>
        <p:spPr>
          <a:xfrm>
            <a:off x="4292498" y="178308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1,311만 명</a:t>
            </a:r>
            <a:endParaRPr lang="en-US" sz="3600" dirty="0"/>
          </a:p>
        </p:txBody>
      </p:sp>
      <p:sp>
        <p:nvSpPr>
          <p:cNvPr id="8" name="t97"/>
          <p:cNvSpPr txBox="1"/>
          <p:nvPr/>
        </p:nvSpPr>
        <p:spPr>
          <a:xfrm>
            <a:off x="4292498" y="2532888"/>
            <a:ext cx="3332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신용카드 회원</a:t>
            </a:r>
            <a:endParaRPr lang="en-US" sz="1400" dirty="0"/>
          </a:p>
        </p:txBody>
      </p:sp>
      <p:sp>
        <p:nvSpPr>
          <p:cNvPr id="9" name="t98"/>
          <p:cNvSpPr txBox="1"/>
          <p:nvPr/>
        </p:nvSpPr>
        <p:spPr>
          <a:xfrm>
            <a:off x="7899197" y="178308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2,116명</a:t>
            </a:r>
            <a:endParaRPr lang="en-US" sz="3600" dirty="0"/>
          </a:p>
        </p:txBody>
      </p:sp>
      <p:sp>
        <p:nvSpPr>
          <p:cNvPr id="10" name="t99"/>
          <p:cNvSpPr txBox="1"/>
          <p:nvPr/>
        </p:nvSpPr>
        <p:spPr>
          <a:xfrm>
            <a:off x="7899197" y="2532888"/>
            <a:ext cx="3332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직원 · 본사 서울 여의도</a:t>
            </a:r>
            <a:endParaRPr lang="en-US" sz="1400" dirty="0"/>
          </a:p>
        </p:txBody>
      </p:sp>
      <p:sp>
        <p:nvSpPr>
          <p:cNvPr id="11" name="l100"/>
          <p:cNvSpPr/>
          <p:nvPr/>
        </p:nvSpPr>
        <p:spPr>
          <a:xfrm>
            <a:off x="685800" y="342900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101"/>
          <p:cNvSpPr txBox="1"/>
          <p:nvPr/>
        </p:nvSpPr>
        <p:spPr>
          <a:xfrm>
            <a:off x="6858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주요 사업</a:t>
            </a:r>
            <a:endParaRPr lang="en-US" sz="1200" dirty="0"/>
          </a:p>
        </p:txBody>
      </p:sp>
      <p:sp>
        <p:nvSpPr>
          <p:cNvPr id="13" name="t102"/>
          <p:cNvSpPr txBox="1"/>
          <p:nvPr/>
        </p:nvSpPr>
        <p:spPr>
          <a:xfrm>
            <a:off x="685800" y="40690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자체 브랜드 카드</a:t>
            </a:r>
            <a:endParaRPr lang="en-US" sz="1800" dirty="0"/>
          </a:p>
        </p:txBody>
      </p:sp>
      <p:sp>
        <p:nvSpPr>
          <p:cNvPr id="14" name="t103"/>
          <p:cNvSpPr txBox="1"/>
          <p:nvPr/>
        </p:nvSpPr>
        <p:spPr>
          <a:xfrm>
            <a:off x="685800" y="4526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현대카드M → 알파벳카드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the Black · the Purple</a:t>
            </a:r>
            <a:endParaRPr lang="en-US" sz="1400" dirty="0"/>
          </a:p>
        </p:txBody>
      </p:sp>
      <p:sp>
        <p:nvSpPr>
          <p:cNvPr id="15" name="t104"/>
          <p:cNvSpPr txBox="1"/>
          <p:nvPr/>
        </p:nvSpPr>
        <p:spPr>
          <a:xfrm>
            <a:off x="3390824" y="40690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PLCC</a:t>
            </a:r>
            <a:endParaRPr lang="en-US" sz="1800" dirty="0"/>
          </a:p>
        </p:txBody>
      </p:sp>
      <p:sp>
        <p:nvSpPr>
          <p:cNvPr id="16" name="t105"/>
          <p:cNvSpPr txBox="1"/>
          <p:nvPr/>
        </p:nvSpPr>
        <p:spPr>
          <a:xfrm>
            <a:off x="3390824" y="4526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2015년 국내 첫 도입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코스트코 · 대한항공 등</a:t>
            </a:r>
            <a:endParaRPr lang="en-US" sz="1400" dirty="0"/>
          </a:p>
        </p:txBody>
      </p:sp>
      <p:sp>
        <p:nvSpPr>
          <p:cNvPr id="17" name="t106"/>
          <p:cNvSpPr txBox="1"/>
          <p:nvPr/>
        </p:nvSpPr>
        <p:spPr>
          <a:xfrm>
            <a:off x="6095848" y="40690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카드대출</a:t>
            </a:r>
            <a:endParaRPr lang="en-US" sz="1800" dirty="0"/>
          </a:p>
        </p:txBody>
      </p:sp>
      <p:sp>
        <p:nvSpPr>
          <p:cNvPr id="18" name="t107"/>
          <p:cNvSpPr txBox="1"/>
          <p:nvPr/>
        </p:nvSpPr>
        <p:spPr>
          <a:xfrm>
            <a:off x="6095848" y="4526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카드론, 현금서비스</a:t>
            </a:r>
            <a:endParaRPr lang="en-US" sz="1400" dirty="0"/>
          </a:p>
        </p:txBody>
      </p:sp>
      <p:sp>
        <p:nvSpPr>
          <p:cNvPr id="19" name="t108"/>
          <p:cNvSpPr txBox="1"/>
          <p:nvPr/>
        </p:nvSpPr>
        <p:spPr>
          <a:xfrm>
            <a:off x="8800871" y="40690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데이터 · AI</a:t>
            </a:r>
            <a:endParaRPr lang="en-US" sz="1800" dirty="0"/>
          </a:p>
        </p:txBody>
      </p:sp>
      <p:sp>
        <p:nvSpPr>
          <p:cNvPr id="20" name="t109"/>
          <p:cNvSpPr txBox="1"/>
          <p:nvPr/>
        </p:nvSpPr>
        <p:spPr>
          <a:xfrm>
            <a:off x="8800871" y="4526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AI 플랫폼 ‘유니버스’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일본 카드사에 수출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재무정보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이익은 늘었고, 이용실적 점유율은 업계 2위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Ⅲ-1 요약재무정보, DART · 연결 기준 · 점유율은 금감원 신용카드 이용실적으로 계산</a:t>
            </a:r>
            <a:endParaRPr lang="en-US" sz="1000" dirty="0"/>
          </a:p>
        </p:txBody>
      </p:sp>
      <p:sp>
        <p:nvSpPr>
          <p:cNvPr id="5" name="t110"/>
          <p:cNvSpPr txBox="1"/>
          <p:nvPr/>
        </p:nvSpPr>
        <p:spPr>
          <a:xfrm>
            <a:off x="68580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4조 78억원</a:t>
            </a:r>
            <a:endParaRPr lang="en-US" sz="3600" dirty="0"/>
          </a:p>
        </p:txBody>
      </p:sp>
      <p:sp>
        <p:nvSpPr>
          <p:cNvPr id="6" name="t111"/>
          <p:cNvSpPr txBox="1"/>
          <p:nvPr/>
        </p:nvSpPr>
        <p:spPr>
          <a:xfrm>
            <a:off x="68580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2025년 영업수익</a:t>
            </a:r>
            <a:endParaRPr lang="en-US" sz="1400" dirty="0"/>
          </a:p>
        </p:txBody>
      </p:sp>
      <p:sp>
        <p:nvSpPr>
          <p:cNvPr id="7" name="t112"/>
          <p:cNvSpPr txBox="1"/>
          <p:nvPr/>
        </p:nvSpPr>
        <p:spPr>
          <a:xfrm>
            <a:off x="685800" y="3154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3,503억원</a:t>
            </a:r>
            <a:endParaRPr lang="en-US" sz="3600" dirty="0"/>
          </a:p>
        </p:txBody>
      </p:sp>
      <p:sp>
        <p:nvSpPr>
          <p:cNvPr id="8" name="t113"/>
          <p:cNvSpPr txBox="1"/>
          <p:nvPr/>
        </p:nvSpPr>
        <p:spPr>
          <a:xfrm>
            <a:off x="68580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2025년 당기순이익 · 1년 전보다 10.7% 증가</a:t>
            </a:r>
            <a:endParaRPr lang="en-US" sz="1400" dirty="0"/>
          </a:p>
        </p:txBody>
      </p:sp>
      <p:sp>
        <p:nvSpPr>
          <p:cNvPr id="9" name="t114"/>
          <p:cNvSpPr txBox="1"/>
          <p:nvPr/>
        </p:nvSpPr>
        <p:spPr>
          <a:xfrm>
            <a:off x="685800" y="4526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19.3%</a:t>
            </a:r>
            <a:endParaRPr lang="en-US" sz="3600" dirty="0"/>
          </a:p>
        </p:txBody>
      </p:sp>
      <p:sp>
        <p:nvSpPr>
          <p:cNvPr id="10" name="t115"/>
          <p:cNvSpPr txBox="1"/>
          <p:nvPr/>
        </p:nvSpPr>
        <p:spPr>
          <a:xfrm>
            <a:off x="6858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2025년 이용실적 점유율 2위 (1위 신한 19.8%)</a:t>
            </a:r>
            <a:endParaRPr lang="en-US" sz="1400" dirty="0"/>
          </a:p>
        </p:txBody>
      </p:sp>
      <p:sp>
        <p:nvSpPr>
          <p:cNvPr id="11" name="t116"/>
          <p:cNvSpPr txBox="1"/>
          <p:nvPr/>
        </p:nvSpPr>
        <p:spPr>
          <a:xfrm>
            <a:off x="5486400" y="1783080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영업이익 · 당기순이익 (억원)</a:t>
            </a:r>
            <a:endParaRPr lang="en-US" sz="1400" dirty="0"/>
          </a:p>
        </p:txBody>
      </p:sp>
      <p:graphicFrame>
        <p:nvGraphicFramePr>
          <p:cNvPr id="12" name="chart-profit" descr=""/>
          <p:cNvGraphicFramePr/>
          <p:nvPr/>
        </p:nvGraphicFramePr>
        <p:xfrm>
          <a:off x="5486400" y="2148840"/>
          <a:ext cx="6019495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r117"/>
          <p:cNvSpPr/>
          <p:nvPr/>
        </p:nvSpPr>
        <p:spPr>
          <a:xfrm>
            <a:off x="5486400" y="5166360"/>
            <a:ext cx="6019495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118"/>
          <p:cNvSpPr txBox="1"/>
          <p:nvPr/>
        </p:nvSpPr>
        <p:spPr>
          <a:xfrm>
            <a:off x="5715000" y="5166360"/>
            <a:ext cx="5653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2026년 상반기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영업수익 2조 3,372억 · 영업이익 2,495억 · 순이익 1,852억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기업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정 부회장 개인 지분은 0%, 영향력은 현대커머셜에서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주주에 관한 사항, DART · 한국경제 「현대커머셜, 현대카드 지분 5% 추가 확보」(2022.10)</a:t>
            </a:r>
            <a:endParaRPr lang="en-US" sz="1000" dirty="0"/>
          </a:p>
        </p:txBody>
      </p:sp>
      <p:sp>
        <p:nvSpPr>
          <p:cNvPr id="5" name="r119"/>
          <p:cNvSpPr/>
          <p:nvPr/>
        </p:nvSpPr>
        <p:spPr>
          <a:xfrm>
            <a:off x="685800" y="1874520"/>
            <a:ext cx="3971675" cy="868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120"/>
          <p:cNvSpPr txBox="1"/>
          <p:nvPr/>
        </p:nvSpPr>
        <p:spPr>
          <a:xfrm>
            <a:off x="868680" y="1874520"/>
            <a:ext cx="37247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36.96%</a:t>
            </a:r>
            <a:endParaRPr lang="en-US" sz="2000" dirty="0"/>
          </a:p>
        </p:txBody>
      </p:sp>
      <p:sp>
        <p:nvSpPr>
          <p:cNvPr id="7" name="r121"/>
          <p:cNvSpPr/>
          <p:nvPr/>
        </p:nvSpPr>
        <p:spPr>
          <a:xfrm>
            <a:off x="4684907" y="1874520"/>
            <a:ext cx="3718485" cy="86868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8" name="t122"/>
          <p:cNvSpPr txBox="1"/>
          <p:nvPr/>
        </p:nvSpPr>
        <p:spPr>
          <a:xfrm>
            <a:off x="4867787" y="1874520"/>
            <a:ext cx="34715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34.62%</a:t>
            </a:r>
            <a:endParaRPr lang="en-US" sz="2000" dirty="0"/>
          </a:p>
        </p:txBody>
      </p:sp>
      <p:sp>
        <p:nvSpPr>
          <p:cNvPr id="9" name="r123"/>
          <p:cNvSpPr/>
          <p:nvPr/>
        </p:nvSpPr>
        <p:spPr>
          <a:xfrm>
            <a:off x="8430824" y="1874520"/>
            <a:ext cx="2134423" cy="8686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0" name="t124"/>
          <p:cNvSpPr txBox="1"/>
          <p:nvPr/>
        </p:nvSpPr>
        <p:spPr>
          <a:xfrm>
            <a:off x="8613704" y="1874520"/>
            <a:ext cx="1887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19.98%</a:t>
            </a:r>
            <a:endParaRPr lang="en-US" sz="2000" dirty="0"/>
          </a:p>
        </p:txBody>
      </p:sp>
      <p:sp>
        <p:nvSpPr>
          <p:cNvPr id="11" name="r125"/>
          <p:cNvSpPr/>
          <p:nvPr/>
        </p:nvSpPr>
        <p:spPr>
          <a:xfrm>
            <a:off x="10592679" y="1874520"/>
            <a:ext cx="673710" cy="8686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r126"/>
          <p:cNvSpPr/>
          <p:nvPr/>
        </p:nvSpPr>
        <p:spPr>
          <a:xfrm>
            <a:off x="11293821" y="1874520"/>
            <a:ext cx="184642" cy="8686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r127"/>
          <p:cNvSpPr/>
          <p:nvPr/>
        </p:nvSpPr>
        <p:spPr>
          <a:xfrm>
            <a:off x="685800" y="3035808"/>
            <a:ext cx="146304" cy="14630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128"/>
          <p:cNvSpPr txBox="1"/>
          <p:nvPr/>
        </p:nvSpPr>
        <p:spPr>
          <a:xfrm>
            <a:off x="941832" y="2962656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현대자동차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36.96%</a:t>
            </a:r>
            <a:endParaRPr lang="en-US" sz="1400" dirty="0"/>
          </a:p>
        </p:txBody>
      </p:sp>
      <p:sp>
        <p:nvSpPr>
          <p:cNvPr id="15" name="r129"/>
          <p:cNvSpPr/>
          <p:nvPr/>
        </p:nvSpPr>
        <p:spPr>
          <a:xfrm>
            <a:off x="2849819" y="3035808"/>
            <a:ext cx="146304" cy="146304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6" name="t130"/>
          <p:cNvSpPr txBox="1"/>
          <p:nvPr/>
        </p:nvSpPr>
        <p:spPr>
          <a:xfrm>
            <a:off x="3105851" y="2962656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현대커머셜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34.62%</a:t>
            </a:r>
            <a:endParaRPr lang="en-US" sz="1400" dirty="0"/>
          </a:p>
        </p:txBody>
      </p:sp>
      <p:sp>
        <p:nvSpPr>
          <p:cNvPr id="17" name="r131"/>
          <p:cNvSpPr/>
          <p:nvPr/>
        </p:nvSpPr>
        <p:spPr>
          <a:xfrm>
            <a:off x="5013838" y="3035808"/>
            <a:ext cx="146304" cy="14630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8" name="t132"/>
          <p:cNvSpPr txBox="1"/>
          <p:nvPr/>
        </p:nvSpPr>
        <p:spPr>
          <a:xfrm>
            <a:off x="5269870" y="2962656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대만 푸본금융그룹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19.98%</a:t>
            </a:r>
            <a:endParaRPr lang="en-US" sz="1400" dirty="0"/>
          </a:p>
        </p:txBody>
      </p:sp>
      <p:sp>
        <p:nvSpPr>
          <p:cNvPr id="19" name="r133"/>
          <p:cNvSpPr/>
          <p:nvPr/>
        </p:nvSpPr>
        <p:spPr>
          <a:xfrm>
            <a:off x="7177857" y="3035808"/>
            <a:ext cx="146304" cy="146304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134"/>
          <p:cNvSpPr txBox="1"/>
          <p:nvPr/>
        </p:nvSpPr>
        <p:spPr>
          <a:xfrm>
            <a:off x="7433889" y="2962656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기아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6.48%</a:t>
            </a:r>
            <a:endParaRPr lang="en-US" sz="1400" dirty="0"/>
          </a:p>
        </p:txBody>
      </p:sp>
      <p:sp>
        <p:nvSpPr>
          <p:cNvPr id="21" name="r135"/>
          <p:cNvSpPr/>
          <p:nvPr/>
        </p:nvSpPr>
        <p:spPr>
          <a:xfrm>
            <a:off x="9341876" y="3035808"/>
            <a:ext cx="146304" cy="1463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t136"/>
          <p:cNvSpPr txBox="1"/>
          <p:nvPr/>
        </p:nvSpPr>
        <p:spPr>
          <a:xfrm>
            <a:off x="9597908" y="2962656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소액주주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1.96%</a:t>
            </a:r>
            <a:endParaRPr lang="en-US" sz="1400" dirty="0"/>
          </a:p>
        </p:txBody>
      </p:sp>
      <p:sp>
        <p:nvSpPr>
          <p:cNvPr id="23" name="l137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r138"/>
          <p:cNvSpPr/>
          <p:nvPr/>
        </p:nvSpPr>
        <p:spPr>
          <a:xfrm>
            <a:off x="685800" y="4434840"/>
            <a:ext cx="210312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139"/>
          <p:cNvSpPr txBox="1"/>
          <p:nvPr/>
        </p:nvSpPr>
        <p:spPr>
          <a:xfrm>
            <a:off x="685800" y="4434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정태영 · 정명이 부부</a:t>
            </a:r>
            <a:endParaRPr lang="en-US" sz="1600" dirty="0"/>
          </a:p>
        </p:txBody>
      </p:sp>
      <p:sp>
        <p:nvSpPr>
          <p:cNvPr id="26" name="arrow0"/>
          <p:cNvSpPr/>
          <p:nvPr/>
        </p:nvSpPr>
        <p:spPr>
          <a:xfrm>
            <a:off x="2926080" y="4846320"/>
            <a:ext cx="685800" cy="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7" name="t140"/>
          <p:cNvSpPr txBox="1"/>
          <p:nvPr/>
        </p:nvSpPr>
        <p:spPr>
          <a:xfrm>
            <a:off x="2788920" y="4462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대주주</a:t>
            </a:r>
            <a:endParaRPr lang="en-US" sz="1200" dirty="0"/>
          </a:p>
        </p:txBody>
      </p:sp>
      <p:sp>
        <p:nvSpPr>
          <p:cNvPr id="28" name="r141"/>
          <p:cNvSpPr/>
          <p:nvPr/>
        </p:nvSpPr>
        <p:spPr>
          <a:xfrm>
            <a:off x="3749040" y="4434840"/>
            <a:ext cx="21031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142"/>
          <p:cNvSpPr txBox="1"/>
          <p:nvPr/>
        </p:nvSpPr>
        <p:spPr>
          <a:xfrm>
            <a:off x="3749040" y="4434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현대커머셜</a:t>
            </a:r>
            <a:endParaRPr lang="en-US" sz="1600" dirty="0"/>
          </a:p>
        </p:txBody>
      </p:sp>
      <p:sp>
        <p:nvSpPr>
          <p:cNvPr id="30" name="arrow1"/>
          <p:cNvSpPr/>
          <p:nvPr/>
        </p:nvSpPr>
        <p:spPr>
          <a:xfrm>
            <a:off x="5989320" y="4846320"/>
            <a:ext cx="685800" cy="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1" name="t143"/>
          <p:cNvSpPr txBox="1"/>
          <p:nvPr/>
        </p:nvSpPr>
        <p:spPr>
          <a:xfrm>
            <a:off x="5852160" y="4462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34.62%</a:t>
            </a:r>
            <a:endParaRPr lang="en-US" sz="1200" dirty="0"/>
          </a:p>
        </p:txBody>
      </p:sp>
      <p:sp>
        <p:nvSpPr>
          <p:cNvPr id="32" name="r144"/>
          <p:cNvSpPr/>
          <p:nvPr/>
        </p:nvSpPr>
        <p:spPr>
          <a:xfrm>
            <a:off x="6812280" y="4434840"/>
            <a:ext cx="2103120" cy="822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3" name="t145"/>
          <p:cNvSpPr txBox="1"/>
          <p:nvPr/>
        </p:nvSpPr>
        <p:spPr>
          <a:xfrm>
            <a:off x="6812280" y="4434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현대카드</a:t>
            </a:r>
            <a:endParaRPr lang="en-US" sz="1600" dirty="0"/>
          </a:p>
        </p:txBody>
      </p:sp>
      <p:sp>
        <p:nvSpPr>
          <p:cNvPr id="34" name="t146"/>
          <p:cNvSpPr txBox="1"/>
          <p:nvPr/>
        </p:nvSpPr>
        <p:spPr>
          <a:xfrm>
            <a:off x="9464040" y="4389120"/>
            <a:ext cx="2041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현대차그룹 계열 합계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78.06%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자료 조사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숫자는 공시로, 리더의 생각은 인터뷰로 확인</a:t>
            </a:r>
            <a:endParaRPr lang="en-US" sz="2800" dirty="0"/>
          </a:p>
        </p:txBody>
      </p:sp>
      <p:sp>
        <p:nvSpPr>
          <p:cNvPr id="4" name="t147"/>
          <p:cNvSpPr txBox="1"/>
          <p:nvPr/>
        </p:nvSpPr>
        <p:spPr>
          <a:xfrm>
            <a:off x="6858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자료</a:t>
            </a:r>
            <a:endParaRPr lang="en-US" sz="1300" dirty="0"/>
          </a:p>
        </p:txBody>
      </p:sp>
      <p:sp>
        <p:nvSpPr>
          <p:cNvPr id="5" name="t148"/>
          <p:cNvSpPr txBox="1"/>
          <p:nvPr/>
        </p:nvSpPr>
        <p:spPr>
          <a:xfrm>
            <a:off x="27889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어디서 찾나</a:t>
            </a:r>
            <a:endParaRPr lang="en-US" sz="1300" dirty="0"/>
          </a:p>
        </p:txBody>
      </p:sp>
      <p:sp>
        <p:nvSpPr>
          <p:cNvPr id="6" name="t149"/>
          <p:cNvSpPr txBox="1"/>
          <p:nvPr/>
        </p:nvSpPr>
        <p:spPr>
          <a:xfrm>
            <a:off x="7269480" y="1783080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무엇을 확인하나</a:t>
            </a:r>
            <a:endParaRPr lang="en-US" sz="1300" dirty="0"/>
          </a:p>
        </p:txBody>
      </p:sp>
      <p:sp>
        <p:nvSpPr>
          <p:cNvPr id="7" name="l150"/>
          <p:cNvSpPr/>
          <p:nvPr/>
        </p:nvSpPr>
        <p:spPr>
          <a:xfrm>
            <a:off x="685800" y="2240280"/>
            <a:ext cx="10820095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8" name="t151"/>
          <p:cNvSpPr txBox="1"/>
          <p:nvPr/>
        </p:nvSpPr>
        <p:spPr>
          <a:xfrm>
            <a:off x="685800" y="22402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공시</a:t>
            </a:r>
            <a:endParaRPr lang="en-US" sz="1700" dirty="0"/>
          </a:p>
        </p:txBody>
      </p:sp>
      <p:sp>
        <p:nvSpPr>
          <p:cNvPr id="9" name="t152"/>
          <p:cNvSpPr txBox="1"/>
          <p:nvPr/>
        </p:nvSpPr>
        <p:spPr>
          <a:xfrm>
            <a:off x="2788920" y="22402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금융감독원 DART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사업보고서 · 반기보고서</a:t>
            </a:r>
            <a:endParaRPr lang="en-US" sz="1500" dirty="0"/>
          </a:p>
        </p:txBody>
      </p:sp>
      <p:sp>
        <p:nvSpPr>
          <p:cNvPr id="10" name="t153"/>
          <p:cNvSpPr txBox="1"/>
          <p:nvPr/>
        </p:nvSpPr>
        <p:spPr>
          <a:xfrm>
            <a:off x="7269480" y="2240280"/>
            <a:ext cx="4922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매출과 이익, 주주 구성,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임원 현황</a:t>
            </a:r>
            <a:endParaRPr lang="en-US" sz="1500" dirty="0"/>
          </a:p>
        </p:txBody>
      </p:sp>
      <p:sp>
        <p:nvSpPr>
          <p:cNvPr id="11" name="l154"/>
          <p:cNvSpPr/>
          <p:nvPr/>
        </p:nvSpPr>
        <p:spPr>
          <a:xfrm>
            <a:off x="685800" y="320040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155"/>
          <p:cNvSpPr txBox="1"/>
          <p:nvPr/>
        </p:nvSpPr>
        <p:spPr>
          <a:xfrm>
            <a:off x="685800" y="32004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회사 자료</a:t>
            </a:r>
            <a:endParaRPr lang="en-US" sz="1700" dirty="0"/>
          </a:p>
        </p:txBody>
      </p:sp>
      <p:sp>
        <p:nvSpPr>
          <p:cNvPr id="13" name="t156"/>
          <p:cNvSpPr txBox="1"/>
          <p:nvPr/>
        </p:nvSpPr>
        <p:spPr>
          <a:xfrm>
            <a:off x="2788920" y="32004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현대카드 IR 자료,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현대카드 · 현대커머셜 뉴스룸</a:t>
            </a:r>
            <a:endParaRPr lang="en-US" sz="1500" dirty="0"/>
          </a:p>
        </p:txBody>
      </p:sp>
      <p:sp>
        <p:nvSpPr>
          <p:cNvPr id="14" name="t157"/>
          <p:cNvSpPr txBox="1"/>
          <p:nvPr/>
        </p:nvSpPr>
        <p:spPr>
          <a:xfrm>
            <a:off x="7269480" y="3200400"/>
            <a:ext cx="4922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사업 전략, 시기별 주요 발표</a:t>
            </a:r>
            <a:endParaRPr lang="en-US" sz="1500" dirty="0"/>
          </a:p>
        </p:txBody>
      </p:sp>
      <p:sp>
        <p:nvSpPr>
          <p:cNvPr id="15" name="l158"/>
          <p:cNvSpPr/>
          <p:nvPr/>
        </p:nvSpPr>
        <p:spPr>
          <a:xfrm>
            <a:off x="685800" y="416052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159"/>
          <p:cNvSpPr txBox="1"/>
          <p:nvPr/>
        </p:nvSpPr>
        <p:spPr>
          <a:xfrm>
            <a:off x="685800" y="41605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언론 · 인터뷰</a:t>
            </a:r>
            <a:endParaRPr lang="en-US" sz="1700" dirty="0"/>
          </a:p>
        </p:txBody>
      </p:sp>
      <p:sp>
        <p:nvSpPr>
          <p:cNvPr id="17" name="t160"/>
          <p:cNvSpPr txBox="1"/>
          <p:nvPr/>
        </p:nvSpPr>
        <p:spPr>
          <a:xfrm>
            <a:off x="2788920" y="41605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경제지 기사, 맥킨지 인터뷰(2025),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정 부회장 SNS</a:t>
            </a:r>
            <a:endParaRPr lang="en-US" sz="1500" dirty="0"/>
          </a:p>
        </p:txBody>
      </p:sp>
      <p:sp>
        <p:nvSpPr>
          <p:cNvPr id="18" name="t161"/>
          <p:cNvSpPr txBox="1"/>
          <p:nvPr/>
        </p:nvSpPr>
        <p:spPr>
          <a:xfrm>
            <a:off x="7269480" y="4160520"/>
            <a:ext cx="4922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리더 본인이 설명한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판단 이유와 경영 방침</a:t>
            </a:r>
            <a:endParaRPr lang="en-US" sz="1500" dirty="0"/>
          </a:p>
        </p:txBody>
      </p:sp>
      <p:sp>
        <p:nvSpPr>
          <p:cNvPr id="19" name="l162"/>
          <p:cNvSpPr/>
          <p:nvPr/>
        </p:nvSpPr>
        <p:spPr>
          <a:xfrm>
            <a:off x="685800" y="512064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163"/>
          <p:cNvSpPr txBox="1"/>
          <p:nvPr/>
        </p:nvSpPr>
        <p:spPr>
          <a:xfrm>
            <a:off x="685800" y="51206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논문 · 서적</a:t>
            </a:r>
            <a:endParaRPr lang="en-US" sz="1700" dirty="0"/>
          </a:p>
        </p:txBody>
      </p:sp>
      <p:sp>
        <p:nvSpPr>
          <p:cNvPr id="21" name="t164"/>
          <p:cNvSpPr txBox="1"/>
          <p:nvPr/>
        </p:nvSpPr>
        <p:spPr>
          <a:xfrm>
            <a:off x="2788920" y="51206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RISS · DBpia의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현대카드 사례 연구</a:t>
            </a:r>
            <a:endParaRPr lang="en-US" sz="1500" dirty="0"/>
          </a:p>
        </p:txBody>
      </p:sp>
      <p:sp>
        <p:nvSpPr>
          <p:cNvPr id="22" name="t165"/>
          <p:cNvSpPr txBox="1"/>
          <p:nvPr/>
        </p:nvSpPr>
        <p:spPr>
          <a:xfrm>
            <a:off x="7269480" y="5120640"/>
            <a:ext cx="4922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앞선 연구가 쓴 분석 틀,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이론 적용 방식</a:t>
            </a:r>
            <a:endParaRPr lang="en-US" sz="1500" dirty="0"/>
          </a:p>
        </p:txBody>
      </p:sp>
      <p:sp>
        <p:nvSpPr>
          <p:cNvPr id="23" name="l166"/>
          <p:cNvSpPr/>
          <p:nvPr/>
        </p:nvSpPr>
        <p:spPr>
          <a:xfrm>
            <a:off x="685800" y="608076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사례분석 프레임워크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23년을 네 시기로 나누고, 시기마다 같은 순서로 분석</a:t>
            </a:r>
            <a:endParaRPr lang="en-US" sz="2800" dirty="0"/>
          </a:p>
        </p:txBody>
      </p:sp>
      <p:sp>
        <p:nvSpPr>
          <p:cNvPr id="4" name="t167"/>
          <p:cNvSpPr txBox="1"/>
          <p:nvPr/>
        </p:nvSpPr>
        <p:spPr>
          <a:xfrm>
            <a:off x="6858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시기마다</a:t>
            </a:r>
            <a:endParaRPr lang="en-US" sz="1400" dirty="0"/>
          </a:p>
        </p:txBody>
      </p:sp>
      <p:sp>
        <p:nvSpPr>
          <p:cNvPr id="5" name="rr168"/>
          <p:cNvSpPr/>
          <p:nvPr/>
        </p:nvSpPr>
        <p:spPr>
          <a:xfrm>
            <a:off x="173736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169"/>
          <p:cNvSpPr txBox="1"/>
          <p:nvPr/>
        </p:nvSpPr>
        <p:spPr>
          <a:xfrm>
            <a:off x="17373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상황</a:t>
            </a:r>
            <a:endParaRPr lang="en-US" sz="1400" dirty="0"/>
          </a:p>
        </p:txBody>
      </p:sp>
      <p:sp>
        <p:nvSpPr>
          <p:cNvPr id="7" name="t170"/>
          <p:cNvSpPr txBox="1"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rr171"/>
          <p:cNvSpPr/>
          <p:nvPr/>
        </p:nvSpPr>
        <p:spPr>
          <a:xfrm>
            <a:off x="388620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9" name="t172"/>
          <p:cNvSpPr txBox="1"/>
          <p:nvPr/>
        </p:nvSpPr>
        <p:spPr>
          <a:xfrm>
            <a:off x="3886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리더의 행동</a:t>
            </a:r>
            <a:endParaRPr lang="en-US" sz="1400" dirty="0"/>
          </a:p>
        </p:txBody>
      </p:sp>
      <p:sp>
        <p:nvSpPr>
          <p:cNvPr id="10" name="t173"/>
          <p:cNvSpPr txBox="1"/>
          <p:nvPr/>
        </p:nvSpPr>
        <p:spPr>
          <a:xfrm>
            <a:off x="56235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rr174"/>
          <p:cNvSpPr/>
          <p:nvPr/>
        </p:nvSpPr>
        <p:spPr>
          <a:xfrm>
            <a:off x="603504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t175"/>
          <p:cNvSpPr txBox="1"/>
          <p:nvPr/>
        </p:nvSpPr>
        <p:spPr>
          <a:xfrm>
            <a:off x="60350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성과</a:t>
            </a:r>
            <a:endParaRPr lang="en-US" sz="1400" dirty="0"/>
          </a:p>
        </p:txBody>
      </p:sp>
      <p:sp>
        <p:nvSpPr>
          <p:cNvPr id="13" name="t176"/>
          <p:cNvSpPr txBox="1"/>
          <p:nvPr/>
        </p:nvSpPr>
        <p:spPr>
          <a:xfrm>
            <a:off x="77724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rr177"/>
          <p:cNvSpPr/>
          <p:nvPr/>
        </p:nvSpPr>
        <p:spPr>
          <a:xfrm>
            <a:off x="818388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t178"/>
          <p:cNvSpPr txBox="1"/>
          <p:nvPr/>
        </p:nvSpPr>
        <p:spPr>
          <a:xfrm>
            <a:off x="818388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한계</a:t>
            </a:r>
            <a:endParaRPr lang="en-US" sz="1400" dirty="0"/>
          </a:p>
        </p:txBody>
      </p:sp>
      <p:sp>
        <p:nvSpPr>
          <p:cNvPr id="16" name="l179"/>
          <p:cNvSpPr/>
          <p:nvPr/>
        </p:nvSpPr>
        <p:spPr>
          <a:xfrm>
            <a:off x="685800" y="2606040"/>
            <a:ext cx="10820095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17" name="t180"/>
          <p:cNvSpPr txBox="1"/>
          <p:nvPr/>
        </p:nvSpPr>
        <p:spPr>
          <a:xfrm>
            <a:off x="685800" y="27157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시기</a:t>
            </a:r>
            <a:endParaRPr lang="en-US" sz="1300" dirty="0"/>
          </a:p>
        </p:txBody>
      </p:sp>
      <p:sp>
        <p:nvSpPr>
          <p:cNvPr id="18" name="t181"/>
          <p:cNvSpPr txBox="1"/>
          <p:nvPr/>
        </p:nvSpPr>
        <p:spPr>
          <a:xfrm>
            <a:off x="685800" y="3520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상황</a:t>
            </a:r>
            <a:endParaRPr lang="en-US" sz="1300" dirty="0"/>
          </a:p>
        </p:txBody>
      </p:sp>
      <p:sp>
        <p:nvSpPr>
          <p:cNvPr id="19" name="t182"/>
          <p:cNvSpPr txBox="1"/>
          <p:nvPr/>
        </p:nvSpPr>
        <p:spPr>
          <a:xfrm>
            <a:off x="685800" y="4206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분석할 사례</a:t>
            </a:r>
            <a:endParaRPr lang="en-US" sz="1300" dirty="0"/>
          </a:p>
        </p:txBody>
      </p:sp>
      <p:sp>
        <p:nvSpPr>
          <p:cNvPr id="20" name="l183"/>
          <p:cNvSpPr/>
          <p:nvPr/>
        </p:nvSpPr>
        <p:spPr>
          <a:xfrm>
            <a:off x="685800" y="347472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l184"/>
          <p:cNvSpPr/>
          <p:nvPr/>
        </p:nvSpPr>
        <p:spPr>
          <a:xfrm>
            <a:off x="685800" y="411480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t185"/>
          <p:cNvSpPr txBox="1"/>
          <p:nvPr/>
        </p:nvSpPr>
        <p:spPr>
          <a:xfrm>
            <a:off x="2194560" y="271576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①  위기와 회생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2003–2007</a:t>
            </a:r>
            <a:endParaRPr lang="en-US" sz="1600" dirty="0"/>
          </a:p>
        </p:txBody>
      </p:sp>
      <p:sp>
        <p:nvSpPr>
          <p:cNvPr id="23" name="t186"/>
          <p:cNvSpPr txBox="1"/>
          <p:nvPr/>
        </p:nvSpPr>
        <p:spPr>
          <a:xfrm>
            <a:off x="2194560" y="3520440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카드대란, 대규모 적자</a:t>
            </a:r>
            <a:endParaRPr lang="en-US" sz="1400" dirty="0"/>
          </a:p>
        </p:txBody>
      </p:sp>
      <p:sp>
        <p:nvSpPr>
          <p:cNvPr id="24" name="t187"/>
          <p:cNvSpPr txBox="1"/>
          <p:nvPr/>
        </p:nvSpPr>
        <p:spPr>
          <a:xfrm>
            <a:off x="2194560" y="4251960"/>
            <a:ext cx="21335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윤리 원칙 수립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GE와의 제휴</a:t>
            </a:r>
            <a:endParaRPr lang="en-US" sz="1400" dirty="0"/>
          </a:p>
        </p:txBody>
      </p:sp>
      <p:sp>
        <p:nvSpPr>
          <p:cNvPr id="25" name="t188"/>
          <p:cNvSpPr txBox="1"/>
          <p:nvPr/>
        </p:nvSpPr>
        <p:spPr>
          <a:xfrm>
            <a:off x="4556684" y="271576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②  브랜드 성장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2008–2017</a:t>
            </a:r>
            <a:endParaRPr lang="en-US" sz="1600" dirty="0"/>
          </a:p>
        </p:txBody>
      </p:sp>
      <p:sp>
        <p:nvSpPr>
          <p:cNvPr id="26" name="t189"/>
          <p:cNvSpPr txBox="1"/>
          <p:nvPr/>
        </p:nvSpPr>
        <p:spPr>
          <a:xfrm>
            <a:off x="4556684" y="3520440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흑자 안정, 차별화 경쟁</a:t>
            </a:r>
            <a:endParaRPr lang="en-US" sz="1400" dirty="0"/>
          </a:p>
        </p:txBody>
      </p:sp>
      <p:sp>
        <p:nvSpPr>
          <p:cNvPr id="27" name="t190"/>
          <p:cNvSpPr txBox="1"/>
          <p:nvPr/>
        </p:nvSpPr>
        <p:spPr>
          <a:xfrm>
            <a:off x="4556684" y="4251960"/>
            <a:ext cx="21335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자율적인 조직문화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디지털 전환 선언</a:t>
            </a:r>
            <a:endParaRPr lang="en-US" sz="1400" dirty="0"/>
          </a:p>
        </p:txBody>
      </p:sp>
      <p:sp>
        <p:nvSpPr>
          <p:cNvPr id="28" name="t191"/>
          <p:cNvSpPr txBox="1"/>
          <p:nvPr/>
        </p:nvSpPr>
        <p:spPr>
          <a:xfrm>
            <a:off x="6918808" y="271576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③  구조조정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2018–2021</a:t>
            </a:r>
            <a:endParaRPr lang="en-US" sz="1600" dirty="0"/>
          </a:p>
        </p:txBody>
      </p:sp>
      <p:sp>
        <p:nvSpPr>
          <p:cNvPr id="29" name="t192"/>
          <p:cNvSpPr txBox="1"/>
          <p:nvPr/>
        </p:nvSpPr>
        <p:spPr>
          <a:xfrm>
            <a:off x="6918808" y="3520440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수수료 인하, 실적 악화</a:t>
            </a:r>
            <a:endParaRPr lang="en-US" sz="1400" dirty="0"/>
          </a:p>
        </p:txBody>
      </p:sp>
      <p:sp>
        <p:nvSpPr>
          <p:cNvPr id="30" name="t193"/>
          <p:cNvSpPr txBox="1"/>
          <p:nvPr/>
        </p:nvSpPr>
        <p:spPr>
          <a:xfrm>
            <a:off x="6918808" y="4251960"/>
            <a:ext cx="21335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코스트코 제휴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데이터 투자</a:t>
            </a:r>
            <a:endParaRPr lang="en-US" sz="1400" dirty="0"/>
          </a:p>
        </p:txBody>
      </p:sp>
      <p:sp>
        <p:nvSpPr>
          <p:cNvPr id="31" name="t194"/>
          <p:cNvSpPr txBox="1"/>
          <p:nvPr/>
        </p:nvSpPr>
        <p:spPr>
          <a:xfrm>
            <a:off x="9280931" y="271576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④  디지털 전환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2022–현재</a:t>
            </a:r>
            <a:endParaRPr lang="en-US" sz="1600" dirty="0"/>
          </a:p>
        </p:txBody>
      </p:sp>
      <p:sp>
        <p:nvSpPr>
          <p:cNvPr id="32" name="t195"/>
          <p:cNvSpPr txBox="1"/>
          <p:nvPr/>
        </p:nvSpPr>
        <p:spPr>
          <a:xfrm>
            <a:off x="9280931" y="3520440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고금리, 빅테크와의 경쟁</a:t>
            </a:r>
            <a:endParaRPr lang="en-US" sz="1400" dirty="0"/>
          </a:p>
        </p:txBody>
      </p:sp>
      <p:sp>
        <p:nvSpPr>
          <p:cNvPr id="33" name="t196"/>
          <p:cNvSpPr txBox="1"/>
          <p:nvPr/>
        </p:nvSpPr>
        <p:spPr>
          <a:xfrm>
            <a:off x="9280931" y="4251960"/>
            <a:ext cx="21335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리스크 관리 강화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 도입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 수출</a:t>
            </a:r>
            <a:endParaRPr lang="en-US" sz="1400" dirty="0"/>
          </a:p>
        </p:txBody>
      </p:sp>
      <p:sp>
        <p:nvSpPr>
          <p:cNvPr id="34" name="l197"/>
          <p:cNvSpPr/>
          <p:nvPr/>
        </p:nvSpPr>
        <p:spPr>
          <a:xfrm>
            <a:off x="685800" y="562356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이론과의 연계성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4장의 두 이론이 중심, 나머지 네 이론은 보조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이론 출처: 리더십 강의자료 2장 특성이론, 3장 행동이론과 동기부여, 4장 리더십 상황이론, 5장 갈등관리, 6장 권력·협상</a:t>
            </a:r>
            <a:endParaRPr lang="en-US" sz="1000" dirty="0"/>
          </a:p>
        </p:txBody>
      </p:sp>
      <p:sp>
        <p:nvSpPr>
          <p:cNvPr id="5" name="r198"/>
          <p:cNvSpPr/>
          <p:nvPr/>
        </p:nvSpPr>
        <p:spPr>
          <a:xfrm>
            <a:off x="685800" y="1783080"/>
            <a:ext cx="5181448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199"/>
          <p:cNvSpPr txBox="1"/>
          <p:nvPr/>
        </p:nvSpPr>
        <p:spPr>
          <a:xfrm>
            <a:off x="1051560" y="2057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리더 행동의 변화</a:t>
            </a:r>
            <a:endParaRPr lang="en-US" sz="1400" dirty="0"/>
          </a:p>
        </p:txBody>
      </p:sp>
      <p:sp>
        <p:nvSpPr>
          <p:cNvPr id="7" name="t200"/>
          <p:cNvSpPr txBox="1"/>
          <p:nvPr/>
        </p:nvSpPr>
        <p:spPr>
          <a:xfrm>
            <a:off x="1051560" y="237744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House 경로-목표이론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4장</a:t>
            </a:r>
            <a:endParaRPr lang="en-US" sz="2200" dirty="0"/>
          </a:p>
        </p:txBody>
      </p:sp>
      <p:sp>
        <p:nvSpPr>
          <p:cNvPr id="8" name="t201"/>
          <p:cNvSpPr txBox="1"/>
          <p:nvPr/>
        </p:nvSpPr>
        <p:spPr>
          <a:xfrm>
            <a:off x="1051560" y="2880360"/>
            <a:ext cx="444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위기 때는 지시적, 전환기에는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성취지향적 리더십을 보였을까</a:t>
            </a:r>
            <a:endParaRPr lang="en-US" sz="1500" dirty="0"/>
          </a:p>
        </p:txBody>
      </p:sp>
      <p:sp>
        <p:nvSpPr>
          <p:cNvPr id="9" name="r202"/>
          <p:cNvSpPr/>
          <p:nvPr/>
        </p:nvSpPr>
        <p:spPr>
          <a:xfrm>
            <a:off x="6324448" y="1783080"/>
            <a:ext cx="5181448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203"/>
          <p:cNvSpPr txBox="1"/>
          <p:nvPr/>
        </p:nvSpPr>
        <p:spPr>
          <a:xfrm>
            <a:off x="6690208" y="2057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조직 상황의 변화</a:t>
            </a:r>
            <a:endParaRPr lang="en-US" sz="1400" dirty="0"/>
          </a:p>
        </p:txBody>
      </p:sp>
      <p:sp>
        <p:nvSpPr>
          <p:cNvPr id="11" name="t204"/>
          <p:cNvSpPr txBox="1"/>
          <p:nvPr/>
        </p:nvSpPr>
        <p:spPr>
          <a:xfrm>
            <a:off x="6690208" y="237744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Fiedler 상황 모델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4장</a:t>
            </a:r>
            <a:endParaRPr lang="en-US" sz="2200" dirty="0"/>
          </a:p>
        </p:txBody>
      </p:sp>
      <p:sp>
        <p:nvSpPr>
          <p:cNvPr id="12" name="t205"/>
          <p:cNvSpPr txBox="1"/>
          <p:nvPr/>
        </p:nvSpPr>
        <p:spPr>
          <a:xfrm>
            <a:off x="6690208" y="2880360"/>
            <a:ext cx="444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GE 제휴와 윤리 원칙이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과업구조와 직위권력을 바꿨을까</a:t>
            </a:r>
            <a:endParaRPr lang="en-US" sz="1500" dirty="0"/>
          </a:p>
        </p:txBody>
      </p:sp>
      <p:sp>
        <p:nvSpPr>
          <p:cNvPr id="13" name="l206"/>
          <p:cNvSpPr/>
          <p:nvPr/>
        </p:nvSpPr>
        <p:spPr>
          <a:xfrm>
            <a:off x="685800" y="402336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207"/>
          <p:cNvSpPr txBox="1"/>
          <p:nvPr/>
        </p:nvSpPr>
        <p:spPr>
          <a:xfrm>
            <a:off x="685800" y="42976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특성이론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2장</a:t>
            </a:r>
            <a:endParaRPr lang="en-US" sz="1700" dirty="0"/>
          </a:p>
        </p:txBody>
      </p:sp>
      <p:sp>
        <p:nvSpPr>
          <p:cNvPr id="15" name="t208"/>
          <p:cNvSpPr txBox="1"/>
          <p:nvPr/>
        </p:nvSpPr>
        <p:spPr>
          <a:xfrm>
            <a:off x="685800" y="47548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개방성과 위험 감수 성향이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결정에 드러났나</a:t>
            </a:r>
            <a:endParaRPr lang="en-US" sz="1400" dirty="0"/>
          </a:p>
        </p:txBody>
      </p:sp>
      <p:sp>
        <p:nvSpPr>
          <p:cNvPr id="16" name="t209"/>
          <p:cNvSpPr txBox="1"/>
          <p:nvPr/>
        </p:nvSpPr>
        <p:spPr>
          <a:xfrm>
            <a:off x="3390824" y="42976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행동이론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3장</a:t>
            </a:r>
            <a:endParaRPr lang="en-US" sz="1700" dirty="0"/>
          </a:p>
        </p:txBody>
      </p:sp>
      <p:sp>
        <p:nvSpPr>
          <p:cNvPr id="17" name="t210"/>
          <p:cNvSpPr txBox="1"/>
          <p:nvPr/>
        </p:nvSpPr>
        <p:spPr>
          <a:xfrm>
            <a:off x="3390824" y="47548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구조주도(원칙 · 디자인)와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배려가 함께 보였나</a:t>
            </a:r>
            <a:endParaRPr lang="en-US" sz="1400" dirty="0"/>
          </a:p>
        </p:txBody>
      </p:sp>
      <p:sp>
        <p:nvSpPr>
          <p:cNvPr id="18" name="t211"/>
          <p:cNvSpPr txBox="1"/>
          <p:nvPr/>
        </p:nvSpPr>
        <p:spPr>
          <a:xfrm>
            <a:off x="6095848" y="42976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갈등관리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5장</a:t>
            </a:r>
            <a:endParaRPr lang="en-US" sz="1700" dirty="0"/>
          </a:p>
        </p:txBody>
      </p:sp>
      <p:sp>
        <p:nvSpPr>
          <p:cNvPr id="19" name="t212"/>
          <p:cNvSpPr txBox="1"/>
          <p:nvPr/>
        </p:nvSpPr>
        <p:spPr>
          <a:xfrm>
            <a:off x="6095848" y="47548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희망퇴직과 노조 면담 때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어떤 방식으로 대응했나</a:t>
            </a:r>
            <a:endParaRPr lang="en-US" sz="1400" dirty="0"/>
          </a:p>
        </p:txBody>
      </p:sp>
      <p:sp>
        <p:nvSpPr>
          <p:cNvPr id="20" name="t213"/>
          <p:cNvSpPr txBox="1"/>
          <p:nvPr/>
        </p:nvSpPr>
        <p:spPr>
          <a:xfrm>
            <a:off x="8800871" y="42976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권력 · 협상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6장</a:t>
            </a:r>
            <a:endParaRPr lang="en-US" sz="1700" dirty="0"/>
          </a:p>
        </p:txBody>
      </p:sp>
      <p:sp>
        <p:nvSpPr>
          <p:cNvPr id="21" name="t214"/>
          <p:cNvSpPr txBox="1"/>
          <p:nvPr/>
        </p:nvSpPr>
        <p:spPr>
          <a:xfrm>
            <a:off x="8800871" y="47548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직위와 관계에서 나온 힘,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애플페이 협상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시기별 예상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시기마다 이런 모습이 나올 것으로 예상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리더 행동 유형: House 경로-목표이론의 지시적 · 후원적 · 참여적 · 성취지향적 리더십 · 상황변수: Fiedler의 리더-부하 관계 · 과업구조 · 직위권력</a:t>
            </a:r>
            <a:endParaRPr lang="en-US" sz="1000" dirty="0"/>
          </a:p>
        </p:txBody>
      </p:sp>
      <p:sp>
        <p:nvSpPr>
          <p:cNvPr id="5" name="t215"/>
          <p:cNvSpPr txBox="1"/>
          <p:nvPr/>
        </p:nvSpPr>
        <p:spPr>
          <a:xfrm>
            <a:off x="6933895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보고서에서 맞는지 확인할 가설</a:t>
            </a:r>
            <a:endParaRPr lang="en-US" sz="1200" dirty="0"/>
          </a:p>
        </p:txBody>
      </p:sp>
      <p:sp>
        <p:nvSpPr>
          <p:cNvPr id="6" name="t216"/>
          <p:cNvSpPr txBox="1"/>
          <p:nvPr/>
        </p:nvSpPr>
        <p:spPr>
          <a:xfrm>
            <a:off x="68580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시기</a:t>
            </a:r>
            <a:endParaRPr lang="en-US" sz="1300" dirty="0"/>
          </a:p>
        </p:txBody>
      </p:sp>
      <p:sp>
        <p:nvSpPr>
          <p:cNvPr id="7" name="t217"/>
          <p:cNvSpPr txBox="1"/>
          <p:nvPr/>
        </p:nvSpPr>
        <p:spPr>
          <a:xfrm>
            <a:off x="32004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리더 행동  ·  경로-목표이론</a:t>
            </a:r>
            <a:endParaRPr lang="en-US" sz="1300" dirty="0"/>
          </a:p>
        </p:txBody>
      </p:sp>
      <p:sp>
        <p:nvSpPr>
          <p:cNvPr id="8" name="t218"/>
          <p:cNvSpPr txBox="1"/>
          <p:nvPr/>
        </p:nvSpPr>
        <p:spPr>
          <a:xfrm>
            <a:off x="7498080" y="1783080"/>
            <a:ext cx="4693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상황 변화  ·  Fiedler 상황 모델</a:t>
            </a:r>
            <a:endParaRPr lang="en-US" sz="1300" dirty="0"/>
          </a:p>
        </p:txBody>
      </p:sp>
      <p:sp>
        <p:nvSpPr>
          <p:cNvPr id="9" name="l219"/>
          <p:cNvSpPr/>
          <p:nvPr/>
        </p:nvSpPr>
        <p:spPr>
          <a:xfrm>
            <a:off x="685800" y="2240280"/>
            <a:ext cx="10820095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10" name="t220"/>
          <p:cNvSpPr txBox="1"/>
          <p:nvPr/>
        </p:nvSpPr>
        <p:spPr>
          <a:xfrm>
            <a:off x="6858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①  위기와 회생</a:t>
            </a:r>
            <a:endParaRPr lang="en-US" sz="1600" dirty="0"/>
          </a:p>
        </p:txBody>
      </p:sp>
      <p:sp>
        <p:nvSpPr>
          <p:cNvPr id="11" name="t221"/>
          <p:cNvSpPr txBox="1"/>
          <p:nvPr/>
        </p:nvSpPr>
        <p:spPr>
          <a:xfrm>
            <a:off x="3200400" y="2240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지시적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목표와 방법을 리더가 직접 정해 줌</a:t>
            </a:r>
            <a:endParaRPr lang="en-US" sz="1700" dirty="0"/>
          </a:p>
        </p:txBody>
      </p:sp>
      <p:sp>
        <p:nvSpPr>
          <p:cNvPr id="12" name="t222"/>
          <p:cNvSpPr txBox="1"/>
          <p:nvPr/>
        </p:nvSpPr>
        <p:spPr>
          <a:xfrm>
            <a:off x="7498080" y="224028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윤리 원칙 · GE 제휴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일의 기준이 분명해지고 리더 권한이 커짐</a:t>
            </a:r>
            <a:endParaRPr lang="en-US" sz="1700" dirty="0"/>
          </a:p>
        </p:txBody>
      </p:sp>
      <p:sp>
        <p:nvSpPr>
          <p:cNvPr id="13" name="l223"/>
          <p:cNvSpPr/>
          <p:nvPr/>
        </p:nvSpPr>
        <p:spPr>
          <a:xfrm>
            <a:off x="685800" y="315468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224"/>
          <p:cNvSpPr txBox="1"/>
          <p:nvPr/>
        </p:nvSpPr>
        <p:spPr>
          <a:xfrm>
            <a:off x="685800" y="3154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②  브랜드 성장</a:t>
            </a:r>
            <a:endParaRPr lang="en-US" sz="1600" dirty="0"/>
          </a:p>
        </p:txBody>
      </p:sp>
      <p:sp>
        <p:nvSpPr>
          <p:cNvPr id="15" name="t225"/>
          <p:cNvSpPr txBox="1"/>
          <p:nvPr/>
        </p:nvSpPr>
        <p:spPr>
          <a:xfrm>
            <a:off x="3200400" y="3154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참여적 · 후원적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직원 자율에 맡기고 아이디어를 받음</a:t>
            </a:r>
            <a:endParaRPr lang="en-US" sz="1700" dirty="0"/>
          </a:p>
        </p:txBody>
      </p:sp>
      <p:sp>
        <p:nvSpPr>
          <p:cNvPr id="16" name="t226"/>
          <p:cNvSpPr txBox="1"/>
          <p:nvPr/>
        </p:nvSpPr>
        <p:spPr>
          <a:xfrm>
            <a:off x="7498080" y="315468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흑자 안정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리더와 직원의 관계가 좋아짐</a:t>
            </a:r>
            <a:endParaRPr lang="en-US" sz="1700" dirty="0"/>
          </a:p>
        </p:txBody>
      </p:sp>
      <p:sp>
        <p:nvSpPr>
          <p:cNvPr id="17" name="l227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t228"/>
          <p:cNvSpPr txBox="1"/>
          <p:nvPr/>
        </p:nvSpPr>
        <p:spPr>
          <a:xfrm>
            <a:off x="685800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③  구조조정</a:t>
            </a:r>
            <a:endParaRPr lang="en-US" sz="1600" dirty="0"/>
          </a:p>
        </p:txBody>
      </p:sp>
      <p:sp>
        <p:nvSpPr>
          <p:cNvPr id="19" name="t229"/>
          <p:cNvSpPr txBox="1"/>
          <p:nvPr/>
        </p:nvSpPr>
        <p:spPr>
          <a:xfrm>
            <a:off x="3200400" y="4069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다시 지시적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희망퇴직 같은 어려운 결정을 직접 주도</a:t>
            </a:r>
            <a:endParaRPr lang="en-US" sz="1700" dirty="0"/>
          </a:p>
        </p:txBody>
      </p:sp>
      <p:sp>
        <p:nvSpPr>
          <p:cNvPr id="20" name="t230"/>
          <p:cNvSpPr txBox="1"/>
          <p:nvPr/>
        </p:nvSpPr>
        <p:spPr>
          <a:xfrm>
            <a:off x="7498080" y="406908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수수료 인하 · 실적 악화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리더에게 불리한 상황으로 바뀜</a:t>
            </a:r>
            <a:endParaRPr lang="en-US" sz="1700" dirty="0"/>
          </a:p>
        </p:txBody>
      </p:sp>
      <p:sp>
        <p:nvSpPr>
          <p:cNvPr id="21" name="l231"/>
          <p:cNvSpPr/>
          <p:nvPr/>
        </p:nvSpPr>
        <p:spPr>
          <a:xfrm>
            <a:off x="685800" y="498348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t232"/>
          <p:cNvSpPr txBox="1"/>
          <p:nvPr/>
        </p:nvSpPr>
        <p:spPr>
          <a:xfrm>
            <a:off x="68580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④  디지털 전환</a:t>
            </a:r>
            <a:endParaRPr lang="en-US" sz="1600" dirty="0"/>
          </a:p>
        </p:txBody>
      </p:sp>
      <p:sp>
        <p:nvSpPr>
          <p:cNvPr id="23" name="t233"/>
          <p:cNvSpPr txBox="1"/>
          <p:nvPr/>
        </p:nvSpPr>
        <p:spPr>
          <a:xfrm>
            <a:off x="3200400" y="4983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성취지향적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AI 수출처럼 높은 목표를 제시</a:t>
            </a:r>
            <a:endParaRPr lang="en-US" sz="1700" dirty="0"/>
          </a:p>
        </p:txBody>
      </p:sp>
      <p:sp>
        <p:nvSpPr>
          <p:cNvPr id="24" name="t234"/>
          <p:cNvSpPr txBox="1"/>
          <p:nvPr/>
        </p:nvSpPr>
        <p:spPr>
          <a:xfrm>
            <a:off x="7498080" y="498348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빅테크 경쟁 · 고금리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해 본 적 없는 새로운 과업이 늘어남</a:t>
            </a:r>
            <a:endParaRPr lang="en-US" sz="1700" dirty="0"/>
          </a:p>
        </p:txBody>
      </p:sp>
      <p:sp>
        <p:nvSpPr>
          <p:cNvPr id="25" name="l235"/>
          <p:cNvSpPr/>
          <p:nvPr/>
        </p:nvSpPr>
        <p:spPr>
          <a:xfrm>
            <a:off x="685800" y="5897880"/>
            <a:ext cx="108200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평가 방향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잘한 점만큼 아쉬운 점도 같이 평가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더팩트 「애플페이 도입과 정태영 전략」(2023.3), 한국경제 「현대카드 200여명 희망퇴직」(2019.1), 현대카드 뉴스룸 「금융업계 최초 AI 소프트웨어 수출」</a:t>
            </a:r>
            <a:endParaRPr lang="en-US" sz="1000" dirty="0"/>
          </a:p>
        </p:txBody>
      </p:sp>
      <p:sp>
        <p:nvSpPr>
          <p:cNvPr id="5" name="t236"/>
          <p:cNvSpPr txBox="1"/>
          <p:nvPr/>
        </p:nvSpPr>
        <p:spPr>
          <a:xfrm>
            <a:off x="685800" y="17830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성과</a:t>
            </a:r>
            <a:endParaRPr lang="en-US" sz="1800" dirty="0"/>
          </a:p>
        </p:txBody>
      </p:sp>
      <p:sp>
        <p:nvSpPr>
          <p:cNvPr id="6" name="l237"/>
          <p:cNvSpPr/>
          <p:nvPr/>
        </p:nvSpPr>
        <p:spPr>
          <a:xfrm>
            <a:off x="685800" y="2286000"/>
            <a:ext cx="5135728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7" name="t238"/>
          <p:cNvSpPr txBox="1"/>
          <p:nvPr/>
        </p:nvSpPr>
        <p:spPr>
          <a:xfrm>
            <a:off x="685800" y="228600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업계 하위권에서 이용실적 2위로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2025년 신용카드 이용실적 점유율 19.3%</a:t>
            </a:r>
            <a:endParaRPr lang="en-US" sz="1700" dirty="0"/>
          </a:p>
        </p:txBody>
      </p:sp>
      <p:sp>
        <p:nvSpPr>
          <p:cNvPr id="8" name="l239"/>
          <p:cNvSpPr/>
          <p:nvPr/>
        </p:nvSpPr>
        <p:spPr>
          <a:xfrm>
            <a:off x="685800" y="3154680"/>
            <a:ext cx="513572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240"/>
          <p:cNvSpPr txBox="1"/>
          <p:nvPr/>
        </p:nvSpPr>
        <p:spPr>
          <a:xfrm>
            <a:off x="685800" y="315468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디자인과 문화로 브랜드 차별화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Black, 슈퍼콘서트, 라이브러리</a:t>
            </a:r>
            <a:endParaRPr lang="en-US" sz="1700" dirty="0"/>
          </a:p>
        </p:txBody>
      </p:sp>
      <p:sp>
        <p:nvSpPr>
          <p:cNvPr id="10" name="l241"/>
          <p:cNvSpPr/>
          <p:nvPr/>
        </p:nvSpPr>
        <p:spPr>
          <a:xfrm>
            <a:off x="685800" y="4023360"/>
            <a:ext cx="513572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242"/>
          <p:cNvSpPr txBox="1"/>
          <p:nvPr/>
        </p:nvSpPr>
        <p:spPr>
          <a:xfrm>
            <a:off x="685800" y="402336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금융권 첫 AI 소프트웨어 수출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AI 플랫폼 ‘유니버스’, 일본 카드사</a:t>
            </a:r>
            <a:endParaRPr lang="en-US" sz="1700" dirty="0"/>
          </a:p>
        </p:txBody>
      </p:sp>
      <p:sp>
        <p:nvSpPr>
          <p:cNvPr id="12" name="t243"/>
          <p:cNvSpPr txBox="1"/>
          <p:nvPr/>
        </p:nvSpPr>
        <p:spPr>
          <a:xfrm>
            <a:off x="6370168" y="17830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한계 · 논란</a:t>
            </a:r>
            <a:endParaRPr lang="en-US" sz="1800" dirty="0"/>
          </a:p>
        </p:txBody>
      </p:sp>
      <p:sp>
        <p:nvSpPr>
          <p:cNvPr id="13" name="l244"/>
          <p:cNvSpPr/>
          <p:nvPr/>
        </p:nvSpPr>
        <p:spPr>
          <a:xfrm>
            <a:off x="6370168" y="2286000"/>
            <a:ext cx="5135728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14" name="t245"/>
          <p:cNvSpPr txBox="1"/>
          <p:nvPr/>
        </p:nvSpPr>
        <p:spPr>
          <a:xfrm>
            <a:off x="6370168" y="228600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창사 첫 희망퇴직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2018년 수수료 인하 뒤 실적 악화</a:t>
            </a:r>
            <a:endParaRPr lang="en-US" sz="1700" dirty="0"/>
          </a:p>
        </p:txBody>
      </p:sp>
      <p:sp>
        <p:nvSpPr>
          <p:cNvPr id="15" name="l246"/>
          <p:cNvSpPr/>
          <p:nvPr/>
        </p:nvSpPr>
        <p:spPr>
          <a:xfrm>
            <a:off x="6370168" y="3154680"/>
            <a:ext cx="513572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247"/>
          <p:cNvSpPr txBox="1"/>
          <p:nvPr/>
        </p:nvSpPr>
        <p:spPr>
          <a:xfrm>
            <a:off x="6370168" y="315468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애플페이 수수료 부담 논란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2023년 국내 첫 도입 당시</a:t>
            </a:r>
            <a:endParaRPr lang="en-US" sz="1700" dirty="0"/>
          </a:p>
        </p:txBody>
      </p:sp>
      <p:sp>
        <p:nvSpPr>
          <p:cNvPr id="17" name="l248"/>
          <p:cNvSpPr/>
          <p:nvPr/>
        </p:nvSpPr>
        <p:spPr>
          <a:xfrm>
            <a:off x="6370168" y="4023360"/>
            <a:ext cx="513572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t249"/>
          <p:cNvSpPr txBox="1"/>
          <p:nvPr/>
        </p:nvSpPr>
        <p:spPr>
          <a:xfrm>
            <a:off x="6370168" y="4023360"/>
            <a:ext cx="513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리더 한 사람에게 기대는 구조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오너 일가 출신, 23년 장기 재임</a:t>
            </a:r>
            <a:endParaRPr lang="en-US" sz="1700" dirty="0"/>
          </a:p>
        </p:txBody>
      </p:sp>
      <p:sp>
        <p:nvSpPr>
          <p:cNvPr id="19" name="r250"/>
          <p:cNvSpPr/>
          <p:nvPr/>
        </p:nvSpPr>
        <p:spPr>
          <a:xfrm>
            <a:off x="685800" y="5120640"/>
            <a:ext cx="1082009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251"/>
          <p:cNvSpPr txBox="1"/>
          <p:nvPr/>
        </p:nvSpPr>
        <p:spPr>
          <a:xfrm>
            <a:off x="1005840" y="51206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결론에서는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두 관점 중 어느 쪽이 정태영의 23년을 더 잘 설명하는지 판단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부록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참고자료</a:t>
            </a:r>
            <a:endParaRPr lang="en-US" sz="2800" dirty="0"/>
          </a:p>
        </p:txBody>
      </p:sp>
      <p:sp>
        <p:nvSpPr>
          <p:cNvPr id="4" name="t252"/>
          <p:cNvSpPr txBox="1"/>
          <p:nvPr/>
        </p:nvSpPr>
        <p:spPr>
          <a:xfrm>
            <a:off x="685800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공시 · 인터뷰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현대카드, 「반기보고서」 제32기 2분기, 2026.8.14 제출, DART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McKinsey &amp; Company, After a decade of innovation, Hyundai Card seeks the next horizon (2025.7.23)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인물 · 이력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한경비즈니스, 2021 파워 금융인 30: 정태영 현대카드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서울신문, 금융 CEO에게 묻다: 정태영 현대카드 사장 (2010)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비즈니스포스트, Who Is? 정태영 현대카드 대표이사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실적 · 지분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딜사이트, 현대카드 지난해 순익 3,503억 (2026.1)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SBS Biz, 현대카드 상반기 순이익 1,852억원 (2026.7)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한국경제, 현대커머셜 현대카드 지분 5% 추가 확보 (2022.10)</a:t>
            </a:r>
            <a:endParaRPr lang="en-US" sz="1200" dirty="0"/>
          </a:p>
        </p:txBody>
      </p:sp>
      <p:sp>
        <p:nvSpPr>
          <p:cNvPr id="5" name="t253"/>
          <p:cNvSpPr txBox="1"/>
          <p:nvPr/>
        </p:nvSpPr>
        <p:spPr>
          <a:xfrm>
            <a:off x="6461608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시기별 사례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프라임경제, CEO리포트: ‘현대카드스러움’을 만들다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포브스코리아, 성공요인? 윤리경영이 답이다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한국경제, 카드업계 구조조정 칼바람…현대카드 200여명 희망퇴직 (2019.1)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더팩트, ‘나홀로 성장’ 이끈 정태영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더팩트, 애플페이 도입과 정태영 전략 (2023.3)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한경비즈니스, 2024 올해의 CEO: 유니버스 일본 수출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딜사이트, 정태영도 직접 실습…현대카드 AI 내재화 (2026.6)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현대카드 뉴스룸, 현대카드, 금융업계 최초 AI 소프트웨어 수출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이론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리더십 강의자료 2장 – 6장</a:t>
            </a:r>
            <a:endParaRPr lang="en-US" sz="12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54"/>
          <p:cNvSpPr txBox="1"/>
          <p:nvPr/>
        </p:nvSpPr>
        <p:spPr>
          <a:xfrm>
            <a:off x="68580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255"/>
          <p:cNvSpPr txBox="1"/>
          <p:nvPr/>
        </p:nvSpPr>
        <p:spPr>
          <a:xfrm>
            <a:off x="6858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</a:rPr>
              <a:t>질문 받겠습니다</a:t>
            </a:r>
            <a:endParaRPr lang="en-US" sz="2000" dirty="0"/>
          </a:p>
        </p:txBody>
      </p:sp>
      <p:sp>
        <p:nvSpPr>
          <p:cNvPr id="4" name="t256"/>
          <p:cNvSpPr txBox="1"/>
          <p:nvPr/>
        </p:nvSpPr>
        <p:spPr>
          <a:xfrm>
            <a:off x="68580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조원1 · 조원2 · 조원3 · 조원4</a:t>
            </a:r>
            <a:endParaRPr lang="en-US" sz="1300" dirty="0"/>
          </a:p>
        </p:txBody>
      </p:sp>
      <p:sp>
        <p:nvSpPr>
          <p:cNvPr id="5" name="rr257"/>
          <p:cNvSpPr/>
          <p:nvPr/>
        </p:nvSpPr>
        <p:spPr>
          <a:xfrm>
            <a:off x="8808415" y="1289898"/>
            <a:ext cx="2697480" cy="4278203"/>
          </a:xfrm>
          <a:prstGeom prst="roundRect">
            <a:avLst>
              <a:gd name="adj" fmla="val 4746"/>
            </a:avLst>
          </a:prstGeom>
          <a:solidFill>
            <a:srgbClr val="262626"/>
          </a:solidFill>
          <a:ln/>
        </p:spPr>
      </p:sp>
      <p:sp>
        <p:nvSpPr>
          <p:cNvPr id="6" name="rr258"/>
          <p:cNvSpPr/>
          <p:nvPr/>
        </p:nvSpPr>
        <p:spPr>
          <a:xfrm>
            <a:off x="9105138" y="1667546"/>
            <a:ext cx="458572" cy="364160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8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ership Ink Vermilion">
  <a:themeElements>
    <a:clrScheme name="Leadership Ink Vermilion">
      <a:dk1>
        <a:srgbClr val="141414"/>
      </a:dk1>
      <a:lt1>
        <a:srgbClr val="FFFFFF"/>
      </a:lt1>
      <a:dk2>
        <a:srgbClr val="6E6E6E"/>
      </a:dk2>
      <a:lt2>
        <a:srgbClr val="F3F3F3"/>
      </a:lt2>
      <a:accent1>
        <a:srgbClr val="D8452B"/>
      </a:accent1>
      <a:accent2>
        <a:srgbClr val="BDBDBD"/>
      </a:accent2>
      <a:accent3>
        <a:srgbClr val="4A4A4A"/>
      </a:accent3>
      <a:accent4>
        <a:srgbClr val="8C8C8C"/>
      </a:accent4>
      <a:accent5>
        <a:srgbClr val="D9D9D9"/>
      </a:accent5>
      <a:accent6>
        <a:srgbClr val="2E2E2E"/>
      </a:accent6>
      <a:hlink>
        <a:srgbClr val="D8452B"/>
      </a:hlink>
      <a:folHlink>
        <a:srgbClr val="6E6E6E"/>
      </a:folHlink>
    </a:clrScheme>
    <a:fontScheme name="Leadership Ink Vermilion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팀프로젝트 계획서: 현대카드 정태영 부회장</dc:title>
  <dc:subject>리더십 팀프로젝트 계획 발표</dc:subject>
  <dc:creator>○조</dc:creator>
  <cp:lastModifiedBy>○조</cp:lastModifiedBy>
  <cp:revision>1</cp:revision>
  <dcterms:created xsi:type="dcterms:W3CDTF">2026-10-24T05:20:41Z</dcterms:created>
  <dcterms:modified xsi:type="dcterms:W3CDTF">2026-10-24T05:20:41Z</dcterms:modified>
</cp:coreProperties>
</file>