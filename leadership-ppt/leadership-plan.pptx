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2024년</c:v>
                </c:pt>
              </c:strCache>
            </c:strRef>
          </c:tx>
          <c:spPr>
            <a:solidFill>
              <a:srgbClr val="C4C4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4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영업이익</c:v>
                  </c:pt>
                  <c:pt idx="1">
                    <c:v>당기순이익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4061</c:v>
                </c:pt>
                <c:pt idx="1">
                  <c:v>3164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2025년</c:v>
                </c:pt>
              </c:strCache>
            </c:strRef>
          </c:tx>
          <c:spPr>
            <a:solidFill>
              <a:srgbClr val="D845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4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영업이익</c:v>
                  </c:pt>
                  <c:pt idx="1">
                    <c:v>당기순이익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4393</c:v>
                </c:pt>
                <c:pt idx="1">
                  <c:v>3503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14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14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6E6E6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○조입니다. 저희는 현대카드 정태영 부회장을 대상으로 리더십 사례분석을 진행하려고 합니다. 오늘은 그 계획을 과제 항목 다섯 가지 순서로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발표는 과제에서 요청한 다섯 항목 순서대로 진행합니다. 3번 보고서 작성 방법에서 저희 분석 틀을 가장 자세히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보고서는 이 질문 하나를 중심으로 진행합니다. 리더가 스스로 행동을 바꿨다면 House의 경로-목표이론으로, 리더가 조직의 상황 자체를 바꿨다면 Fiedler의 상황 모델로 설명하고, 두 관점을 비교하려고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정태영 부회장은 현대차그룹 계열사에서 기획과 해외 사업을 맡다가, 카드대란이 한창이던 2003년 적자 상태의 현대카드를 맡았습니다. 이후 23년 동안 위기, 성장, 구조조정, 디지털 전환이라는 성격이 다른 네 시기를 지나왔고, 아래 회색 띠가 저희가 사례를 나눠 볼 네 시기입니다.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선정 이유는 세 가지입니다. 첫째, 성격이 다른 네 국면을 한 사람이 이끌어 상황별 비교가 가능합니다. 둘째, 본인이 SNS와 인터뷰로 직접 설명한 자료가 많습니다. 셋째, 성과와 논란이 함께 있어 성공 사례로만이 아니라 균형 있게 평가할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정태영 부회장은 1960년생으로 서울대 불문과와 MIT 경영대학원을 나왔습니다. 정몽구 명예회장의 사위라는 점에서 전문경영인이면서 동시에 오너 일가라는 독특한 위치에 있고, 이 점은 6장 권력 이론과 연결해 볼 계획입니다.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현대카드는 1984년 설립된 다이너스클럽코리아를 현대차그룹이 인수해 2001년 이름을 바꾼 비상장 카드사입니다. 2026년 6월 기준 회원은 약 1,311만 명입니다. 사업은 자체 카드, 제휴사 이름을 단 PLCC, 카드대출, 그리고 최근 데이터와 AI 사업으로 나뉩니다.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2025년 영업수익은 4조 78억 원, 순이익은 3,503억 원으로 전년보다 10.7% 늘었습니다. 신용카드 이용실적 점유율은 19.3%로 신한카드에 이어 업계 2위입니다. 올해 상반기 실적은 기간이 달라 차트와 따로 표시했습니다.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최대주주는 현대자동차, 2대 주주는 현대커머셜입니다. 정 부회장은 현대카드 지분을 직접 갖고 있지 않지만, 부부가 대주주인 현대커머셜을 통해 간접적으로 영향력을 갖습니다. 지분이 아닌 직위와 관계에서 나오는 권력이라는 점을 6장 권력 이론으로 분석하겠습니다.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자료는 네 가지 경로로 모읍니다. 재무와 지분 같은 수치는 DART 공시를 기준으로 하고, 리더의 생각은 인터뷰와 SNS로 확인합니다. AI는 요약과 초안, 예상 질문 정리에 적극 활용하되, 수치와 인용문은 반드시 원문으로 다시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사례분석은 23년을 네 시기로 나눠 진행합니다. 각 시기마다 상황, 리더의 행동, 성과, 한계를 같은 순서로 보는데, 그중 핵심은 리더의 행동입니다. 예를 들어 위기 시기에는 현대카드M 출시와 윤리 원칙, GE와의 제휴를 분석합니다.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질문에는 4장의 두 이론으로 답합니다. 리더의 행동 변화는 House의 경로-목표이론으로, 조직 상황의 변화는 Fiedler의 상황 모델로 봅니다. 여기에 특성이론, 행동이론, 갈등관리, 권력과 협상 이론을 더해 리더의 개인 특성과 영향력의 원천까지 보완하겠습니다.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명이 시기를 하나씩 맡아 자료조사와 분석을 하고, PPT 작성과 발표는 담당자를 따로 정했습니다. 발표자는 두 명이며, 수치와 인용은 서로 교차로 확인하겠습니다.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계획 발표 이후 피드백을 반영해 바로 자료 수집을 시작합니다. 2주차부터 시기별 분석, 3주차부터 이론 연계를 진행하고, 11월 26일 최종보고서를 제출한 뒤 11월 30일에 최종 발표를 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이상으로 발표를 마치겠습니다. 질문 주시면 답변드리겠습니다.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A8A8A8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A8A8"/>
                </a:solidFill>
              </a:rPr>
              <a:t>리더십 · 팀프로젝트 계획 발표</a:t>
            </a:r>
            <a:endParaRPr lang="en-US" sz="1200" dirty="0"/>
          </a:p>
        </p:txBody>
      </p:sp>
      <p:sp>
        <p:nvSpPr>
          <p:cNvPr id="3" name="t1"/>
          <p:cNvSpPr txBox="1"/>
          <p:nvPr/>
        </p:nvSpPr>
        <p:spPr>
          <a:xfrm>
            <a:off x="685800" y="18288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chemeClr val="bg1"/>
                </a:solidFill>
              </a:rPr>
              <a:t>자신을 바꾼 리더인가,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chemeClr val="bg1"/>
                </a:solidFill>
              </a:rPr>
              <a:t>상황을 바꾼 리더인가</a:t>
            </a:r>
            <a:endParaRPr lang="en-US" sz="4400" dirty="0"/>
          </a:p>
        </p:txBody>
      </p:sp>
      <p:sp>
        <p:nvSpPr>
          <p:cNvPr id="4" name="t2"/>
          <p:cNvSpPr txBox="1"/>
          <p:nvPr/>
        </p:nvSpPr>
        <p:spPr>
          <a:xfrm>
            <a:off x="685800" y="3657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A8A8"/>
                </a:solidFill>
              </a:rPr>
              <a:t>현대카드 정태영 부회장 사례분석 계획</a:t>
            </a:r>
            <a:endParaRPr lang="en-US" sz="2000" dirty="0"/>
          </a:p>
        </p:txBody>
      </p:sp>
      <p:sp>
        <p:nvSpPr>
          <p:cNvPr id="5" name="t3"/>
          <p:cNvSpPr txBox="1"/>
          <p:nvPr/>
        </p:nvSpPr>
        <p:spPr>
          <a:xfrm>
            <a:off x="685800" y="51206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○조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A8A8A8"/>
                </a:solidFill>
              </a:rPr>
              <a:t>조원1 · 조원2 · 조원3 · 조원4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A8A8A8"/>
                </a:solidFill>
              </a:rPr>
              <a:t>2026. 10. 26</a:t>
            </a:r>
            <a:endParaRPr lang="en-US" sz="1300" dirty="0"/>
          </a:p>
        </p:txBody>
      </p:sp>
      <p:sp>
        <p:nvSpPr>
          <p:cNvPr id="6" name="rr4"/>
          <p:cNvSpPr/>
          <p:nvPr/>
        </p:nvSpPr>
        <p:spPr>
          <a:xfrm>
            <a:off x="8808415" y="1289898"/>
            <a:ext cx="2697480" cy="4278203"/>
          </a:xfrm>
          <a:prstGeom prst="roundRect">
            <a:avLst>
              <a:gd name="adj" fmla="val 4746"/>
            </a:avLst>
          </a:prstGeom>
          <a:solidFill>
            <a:schemeClr val="accent1"/>
          </a:solidFill>
          <a:ln/>
        </p:spPr>
      </p:sp>
      <p:sp>
        <p:nvSpPr>
          <p:cNvPr id="7" name="rr5"/>
          <p:cNvSpPr/>
          <p:nvPr/>
        </p:nvSpPr>
        <p:spPr>
          <a:xfrm>
            <a:off x="9105138" y="1667546"/>
            <a:ext cx="458572" cy="364160"/>
          </a:xfrm>
          <a:prstGeom prst="roundRect">
            <a:avLst>
              <a:gd name="adj" fmla="val 14815"/>
            </a:avLst>
          </a:prstGeom>
          <a:solidFill>
            <a:schemeClr val="tx1"/>
          </a:solidFill>
          <a:ln/>
        </p:spPr>
      </p:sp>
      <p:sp>
        <p:nvSpPr>
          <p:cNvPr id="8" name="t6"/>
          <p:cNvSpPr txBox="1"/>
          <p:nvPr/>
        </p:nvSpPr>
        <p:spPr>
          <a:xfrm>
            <a:off x="9105138" y="4435160"/>
            <a:ext cx="2157984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bg1"/>
                </a:solidFill>
              </a:rPr>
              <a:t>JUNG TAE-YOUNG</a:t>
            </a:r>
            <a:endParaRPr lang="en-US" sz="1100" dirty="0"/>
          </a:p>
          <a:p>
            <a:pPr indent="0" marL="0">
              <a:buNone/>
            </a:pPr>
            <a:r>
              <a:rPr lang="en-US" sz="1100" spc="150" kern="0" dirty="0">
                <a:solidFill>
                  <a:schemeClr val="bg1"/>
                </a:solidFill>
              </a:rPr>
              <a:t>2003 —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7"/>
          <p:cNvSpPr txBox="1"/>
          <p:nvPr/>
        </p:nvSpPr>
        <p:spPr>
          <a:xfrm>
            <a:off x="685800" y="768096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목차</a:t>
            </a:r>
            <a:endParaRPr lang="en-US" sz="2800" dirty="0"/>
          </a:p>
        </p:txBody>
      </p:sp>
      <p:sp>
        <p:nvSpPr>
          <p:cNvPr id="3" name="t8"/>
          <p:cNvSpPr txBox="1"/>
          <p:nvPr/>
        </p:nvSpPr>
        <p:spPr>
          <a:xfrm>
            <a:off x="68580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발표 20분 · 질의응답 15분</a:t>
            </a:r>
            <a:endParaRPr lang="en-US" sz="1300" dirty="0"/>
          </a:p>
        </p:txBody>
      </p:sp>
      <p:sp>
        <p:nvSpPr>
          <p:cNvPr id="4" name="t9"/>
          <p:cNvSpPr txBox="1"/>
          <p:nvPr/>
        </p:nvSpPr>
        <p:spPr>
          <a:xfrm>
            <a:off x="4572000" y="10881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01</a:t>
            </a:r>
            <a:endParaRPr lang="en-US" sz="1600" dirty="0"/>
          </a:p>
        </p:txBody>
      </p:sp>
      <p:sp>
        <p:nvSpPr>
          <p:cNvPr id="5" name="t10"/>
          <p:cNvSpPr txBox="1"/>
          <p:nvPr/>
        </p:nvSpPr>
        <p:spPr>
          <a:xfrm>
            <a:off x="5349240" y="1051560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리더 및 선정 배경</a:t>
            </a:r>
            <a:endParaRPr lang="en-US" sz="2200" dirty="0"/>
          </a:p>
        </p:txBody>
      </p:sp>
      <p:sp>
        <p:nvSpPr>
          <p:cNvPr id="6" name="t11"/>
          <p:cNvSpPr txBox="1"/>
          <p:nvPr/>
        </p:nvSpPr>
        <p:spPr>
          <a:xfrm>
            <a:off x="5349240" y="1453896"/>
            <a:ext cx="6156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History · 선정 이유</a:t>
            </a:r>
            <a:endParaRPr lang="en-US" sz="1300" dirty="0"/>
          </a:p>
        </p:txBody>
      </p:sp>
      <p:sp>
        <p:nvSpPr>
          <p:cNvPr id="7" name="l12"/>
          <p:cNvSpPr/>
          <p:nvPr/>
        </p:nvSpPr>
        <p:spPr>
          <a:xfrm>
            <a:off x="4572000" y="1856232"/>
            <a:ext cx="69338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13"/>
          <p:cNvSpPr txBox="1"/>
          <p:nvPr/>
        </p:nvSpPr>
        <p:spPr>
          <a:xfrm>
            <a:off x="4572000" y="20756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02</a:t>
            </a:r>
            <a:endParaRPr lang="en-US" sz="1600" dirty="0"/>
          </a:p>
        </p:txBody>
      </p:sp>
      <p:sp>
        <p:nvSpPr>
          <p:cNvPr id="9" name="t14"/>
          <p:cNvSpPr txBox="1"/>
          <p:nvPr/>
        </p:nvSpPr>
        <p:spPr>
          <a:xfrm>
            <a:off x="5349240" y="2039112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대상 리더 간략 소개</a:t>
            </a:r>
            <a:endParaRPr lang="en-US" sz="2200" dirty="0"/>
          </a:p>
        </p:txBody>
      </p:sp>
      <p:sp>
        <p:nvSpPr>
          <p:cNvPr id="10" name="t15"/>
          <p:cNvSpPr txBox="1"/>
          <p:nvPr/>
        </p:nvSpPr>
        <p:spPr>
          <a:xfrm>
            <a:off x="5349240" y="2441448"/>
            <a:ext cx="6156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프로필 · 회사 현황 · 재무 · 주주 구성</a:t>
            </a:r>
            <a:endParaRPr lang="en-US" sz="1300" dirty="0"/>
          </a:p>
        </p:txBody>
      </p:sp>
      <p:sp>
        <p:nvSpPr>
          <p:cNvPr id="11" name="l16"/>
          <p:cNvSpPr/>
          <p:nvPr/>
        </p:nvSpPr>
        <p:spPr>
          <a:xfrm>
            <a:off x="4572000" y="2843784"/>
            <a:ext cx="69338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17"/>
          <p:cNvSpPr txBox="1"/>
          <p:nvPr/>
        </p:nvSpPr>
        <p:spPr>
          <a:xfrm>
            <a:off x="4572000" y="3063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</a:t>
            </a:r>
            <a:endParaRPr lang="en-US" sz="1600" dirty="0"/>
          </a:p>
        </p:txBody>
      </p:sp>
      <p:sp>
        <p:nvSpPr>
          <p:cNvPr id="13" name="t18"/>
          <p:cNvSpPr txBox="1"/>
          <p:nvPr/>
        </p:nvSpPr>
        <p:spPr>
          <a:xfrm>
            <a:off x="5349240" y="3026664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팀플 보고서 작성 방법</a:t>
            </a:r>
            <a:endParaRPr lang="en-US" sz="2200" dirty="0"/>
          </a:p>
        </p:txBody>
      </p:sp>
      <p:sp>
        <p:nvSpPr>
          <p:cNvPr id="14" name="t19"/>
          <p:cNvSpPr txBox="1"/>
          <p:nvPr/>
        </p:nvSpPr>
        <p:spPr>
          <a:xfrm>
            <a:off x="5349240" y="3429000"/>
            <a:ext cx="6156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자료 조사 · 사례분석 프레임워크 · 이론 연계</a:t>
            </a:r>
            <a:endParaRPr lang="en-US" sz="1300" dirty="0"/>
          </a:p>
        </p:txBody>
      </p:sp>
      <p:sp>
        <p:nvSpPr>
          <p:cNvPr id="15" name="l20"/>
          <p:cNvSpPr/>
          <p:nvPr/>
        </p:nvSpPr>
        <p:spPr>
          <a:xfrm>
            <a:off x="4572000" y="3831336"/>
            <a:ext cx="69338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t21"/>
          <p:cNvSpPr txBox="1"/>
          <p:nvPr/>
        </p:nvSpPr>
        <p:spPr>
          <a:xfrm>
            <a:off x="4572000" y="40507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04</a:t>
            </a:r>
            <a:endParaRPr lang="en-US" sz="1600" dirty="0"/>
          </a:p>
        </p:txBody>
      </p:sp>
      <p:sp>
        <p:nvSpPr>
          <p:cNvPr id="17" name="t22"/>
          <p:cNvSpPr txBox="1"/>
          <p:nvPr/>
        </p:nvSpPr>
        <p:spPr>
          <a:xfrm>
            <a:off x="5349240" y="4014216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조원 현황 및 역할 배분</a:t>
            </a:r>
            <a:endParaRPr lang="en-US" sz="2200" dirty="0"/>
          </a:p>
        </p:txBody>
      </p:sp>
      <p:sp>
        <p:nvSpPr>
          <p:cNvPr id="18" name="t23"/>
          <p:cNvSpPr txBox="1"/>
          <p:nvPr/>
        </p:nvSpPr>
        <p:spPr>
          <a:xfrm>
            <a:off x="5349240" y="4416552"/>
            <a:ext cx="6156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조원별 R&amp;R</a:t>
            </a:r>
            <a:endParaRPr lang="en-US" sz="1300" dirty="0"/>
          </a:p>
        </p:txBody>
      </p:sp>
      <p:sp>
        <p:nvSpPr>
          <p:cNvPr id="19" name="l24"/>
          <p:cNvSpPr/>
          <p:nvPr/>
        </p:nvSpPr>
        <p:spPr>
          <a:xfrm>
            <a:off x="4572000" y="4818888"/>
            <a:ext cx="69338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t25"/>
          <p:cNvSpPr txBox="1"/>
          <p:nvPr/>
        </p:nvSpPr>
        <p:spPr>
          <a:xfrm>
            <a:off x="4572000" y="50383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05</a:t>
            </a:r>
            <a:endParaRPr lang="en-US" sz="1600" dirty="0"/>
          </a:p>
        </p:txBody>
      </p:sp>
      <p:sp>
        <p:nvSpPr>
          <p:cNvPr id="21" name="t26"/>
          <p:cNvSpPr txBox="1"/>
          <p:nvPr/>
        </p:nvSpPr>
        <p:spPr>
          <a:xfrm>
            <a:off x="5349240" y="5001768"/>
            <a:ext cx="6156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팀플 추진 일정</a:t>
            </a:r>
            <a:endParaRPr lang="en-US" sz="2200" dirty="0"/>
          </a:p>
        </p:txBody>
      </p:sp>
      <p:sp>
        <p:nvSpPr>
          <p:cNvPr id="22" name="t27"/>
          <p:cNvSpPr txBox="1"/>
          <p:nvPr/>
        </p:nvSpPr>
        <p:spPr>
          <a:xfrm>
            <a:off x="5349240" y="5404104"/>
            <a:ext cx="6156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11월 30일 최종 발표까지 주차별 계획</a:t>
            </a:r>
            <a:endParaRPr lang="en-US" sz="1300" dirty="0"/>
          </a:p>
        </p:txBody>
      </p:sp>
      <p:sp>
        <p:nvSpPr>
          <p:cNvPr id="24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6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A8A8"/>
                </a:solidFill>
              </a:rPr>
              <a:t>핵심 분석 질문</a:t>
            </a:r>
            <a:endParaRPr lang="en-US" sz="1200" dirty="0"/>
          </a:p>
        </p:txBody>
      </p:sp>
      <p:sp>
        <p:nvSpPr>
          <p:cNvPr id="3" name="t28"/>
          <p:cNvSpPr txBox="1"/>
          <p:nvPr/>
        </p:nvSpPr>
        <p:spPr>
          <a:xfrm>
            <a:off x="685800" y="1417320"/>
            <a:ext cx="9601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정태영 부회장은 상황이 바뀔 때마다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자신의 행동을 바꾼 리더인가,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조직의 상황을 바꾼 리더인가?</a:t>
            </a:r>
            <a:endParaRPr lang="en-US" sz="3600" dirty="0"/>
          </a:p>
        </p:txBody>
      </p:sp>
      <p:sp>
        <p:nvSpPr>
          <p:cNvPr id="4" name="l29"/>
          <p:cNvSpPr/>
          <p:nvPr/>
        </p:nvSpPr>
        <p:spPr>
          <a:xfrm>
            <a:off x="685800" y="4343400"/>
            <a:ext cx="5135728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5" name="t30"/>
          <p:cNvSpPr txBox="1"/>
          <p:nvPr/>
        </p:nvSpPr>
        <p:spPr>
          <a:xfrm>
            <a:off x="685800" y="457200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관점 1 · 리더의 행동</a:t>
            </a:r>
            <a:endParaRPr lang="en-US" sz="1400" dirty="0"/>
          </a:p>
        </p:txBody>
      </p:sp>
      <p:sp>
        <p:nvSpPr>
          <p:cNvPr id="6" name="t31"/>
          <p:cNvSpPr txBox="1"/>
          <p:nvPr/>
        </p:nvSpPr>
        <p:spPr>
          <a:xfrm>
            <a:off x="685800" y="4892040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House 경로-목표이론</a:t>
            </a:r>
            <a:endParaRPr lang="en-US" sz="2200" dirty="0"/>
          </a:p>
        </p:txBody>
      </p:sp>
      <p:sp>
        <p:nvSpPr>
          <p:cNvPr id="7" name="t32"/>
          <p:cNvSpPr txBox="1"/>
          <p:nvPr/>
        </p:nvSpPr>
        <p:spPr>
          <a:xfrm>
            <a:off x="685800" y="5349240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</a:rPr>
              <a:t>위기와 전환기마다 리더의 행동 유형이 달라졌는가</a:t>
            </a:r>
            <a:endParaRPr lang="en-US" sz="1500" dirty="0"/>
          </a:p>
        </p:txBody>
      </p:sp>
      <p:sp>
        <p:nvSpPr>
          <p:cNvPr id="8" name="l33"/>
          <p:cNvSpPr/>
          <p:nvPr/>
        </p:nvSpPr>
        <p:spPr>
          <a:xfrm>
            <a:off x="6370168" y="4343400"/>
            <a:ext cx="5135728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9" name="t34"/>
          <p:cNvSpPr txBox="1"/>
          <p:nvPr/>
        </p:nvSpPr>
        <p:spPr>
          <a:xfrm>
            <a:off x="6370168" y="457200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관점 2 · 조직의 상황</a:t>
            </a:r>
            <a:endParaRPr lang="en-US" sz="1400" dirty="0"/>
          </a:p>
        </p:txBody>
      </p:sp>
      <p:sp>
        <p:nvSpPr>
          <p:cNvPr id="10" name="t35"/>
          <p:cNvSpPr txBox="1"/>
          <p:nvPr/>
        </p:nvSpPr>
        <p:spPr>
          <a:xfrm>
            <a:off x="6370168" y="4892040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Fiedler 상황 모델</a:t>
            </a:r>
            <a:endParaRPr lang="en-US" sz="2200" dirty="0"/>
          </a:p>
        </p:txBody>
      </p:sp>
      <p:sp>
        <p:nvSpPr>
          <p:cNvPr id="11" name="t36"/>
          <p:cNvSpPr txBox="1"/>
          <p:nvPr/>
        </p:nvSpPr>
        <p:spPr>
          <a:xfrm>
            <a:off x="6370168" y="5349240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8"/>
                </a:solidFill>
              </a:rPr>
              <a:t>제휴와 원칙으로 리더에게 유리한 상황을 만들었는가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01  리더 및 선정 배경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카드대란 속 적자 회사를 맡아 23년째 이끄는 중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출처: 비즈니스포스트 「Who Is? 정태영」, 한경비즈니스 「2021 파워 금융인 30」, 프라임경제 「CEO리포트」</a:t>
            </a:r>
            <a:endParaRPr lang="en-US" sz="1000" dirty="0"/>
          </a:p>
        </p:txBody>
      </p:sp>
      <p:sp>
        <p:nvSpPr>
          <p:cNvPr id="5" name="t37"/>
          <p:cNvSpPr txBox="1"/>
          <p:nvPr/>
        </p:nvSpPr>
        <p:spPr>
          <a:xfrm>
            <a:off x="685800" y="178308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이전 경력 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1987–2002  현대종합상사 · 현대정공(미주·멕시코 법인장) · 현대모비스 · 기아</a:t>
            </a:r>
            <a:endParaRPr lang="en-US" sz="1400" dirty="0"/>
          </a:p>
        </p:txBody>
      </p:sp>
      <p:sp>
        <p:nvSpPr>
          <p:cNvPr id="6" name="l38"/>
          <p:cNvSpPr/>
          <p:nvPr/>
        </p:nvSpPr>
        <p:spPr>
          <a:xfrm>
            <a:off x="685800" y="3154680"/>
            <a:ext cx="10820095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7" name="t39"/>
          <p:cNvSpPr txBox="1"/>
          <p:nvPr/>
        </p:nvSpPr>
        <p:spPr>
          <a:xfrm>
            <a:off x="685800" y="2377440"/>
            <a:ext cx="16661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2003</a:t>
            </a:r>
            <a:endParaRPr lang="en-US" sz="2400" dirty="0"/>
          </a:p>
        </p:txBody>
      </p:sp>
      <p:sp>
        <p:nvSpPr>
          <p:cNvPr id="8" name="d40"/>
          <p:cNvSpPr/>
          <p:nvPr/>
        </p:nvSpPr>
        <p:spPr>
          <a:xfrm>
            <a:off x="685800" y="3063240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41"/>
          <p:cNvSpPr txBox="1"/>
          <p:nvPr/>
        </p:nvSpPr>
        <p:spPr>
          <a:xfrm>
            <a:off x="685800" y="3383280"/>
            <a:ext cx="166618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대표이사 취임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첫해 6천억대 적자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현대카드M 출시</a:t>
            </a:r>
            <a:endParaRPr lang="en-US" sz="1400" dirty="0"/>
          </a:p>
        </p:txBody>
      </p:sp>
      <p:sp>
        <p:nvSpPr>
          <p:cNvPr id="10" name="t42"/>
          <p:cNvSpPr txBox="1"/>
          <p:nvPr/>
        </p:nvSpPr>
        <p:spPr>
          <a:xfrm>
            <a:off x="2489149" y="2377440"/>
            <a:ext cx="16661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2005</a:t>
            </a:r>
            <a:endParaRPr lang="en-US" sz="2000" dirty="0"/>
          </a:p>
        </p:txBody>
      </p:sp>
      <p:sp>
        <p:nvSpPr>
          <p:cNvPr id="11" name="d43"/>
          <p:cNvSpPr/>
          <p:nvPr/>
        </p:nvSpPr>
        <p:spPr>
          <a:xfrm>
            <a:off x="2489149" y="3095244"/>
            <a:ext cx="118872" cy="11887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2" name="t44"/>
          <p:cNvSpPr txBox="1"/>
          <p:nvPr/>
        </p:nvSpPr>
        <p:spPr>
          <a:xfrm>
            <a:off x="2489149" y="3383280"/>
            <a:ext cx="166618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초청제 프리미엄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‘the Black’ 출시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문화 마케팅 시작</a:t>
            </a:r>
            <a:endParaRPr lang="en-US" sz="1400" dirty="0"/>
          </a:p>
        </p:txBody>
      </p:sp>
      <p:sp>
        <p:nvSpPr>
          <p:cNvPr id="13" name="t45"/>
          <p:cNvSpPr txBox="1"/>
          <p:nvPr/>
        </p:nvSpPr>
        <p:spPr>
          <a:xfrm>
            <a:off x="4292498" y="2377440"/>
            <a:ext cx="16661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2015</a:t>
            </a:r>
            <a:endParaRPr lang="en-US" sz="2000" dirty="0"/>
          </a:p>
        </p:txBody>
      </p:sp>
      <p:sp>
        <p:nvSpPr>
          <p:cNvPr id="14" name="d46"/>
          <p:cNvSpPr/>
          <p:nvPr/>
        </p:nvSpPr>
        <p:spPr>
          <a:xfrm>
            <a:off x="4292498" y="3095244"/>
            <a:ext cx="118872" cy="11887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t47"/>
          <p:cNvSpPr txBox="1"/>
          <p:nvPr/>
        </p:nvSpPr>
        <p:spPr>
          <a:xfrm>
            <a:off x="4292498" y="3383280"/>
            <a:ext cx="166618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부회장 승진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‘디지털 현대카드’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선언</a:t>
            </a:r>
            <a:endParaRPr lang="en-US" sz="1400" dirty="0"/>
          </a:p>
        </p:txBody>
      </p:sp>
      <p:sp>
        <p:nvSpPr>
          <p:cNvPr id="16" name="t48"/>
          <p:cNvSpPr txBox="1"/>
          <p:nvPr/>
        </p:nvSpPr>
        <p:spPr>
          <a:xfrm>
            <a:off x="6095848" y="2377440"/>
            <a:ext cx="16661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2018</a:t>
            </a:r>
            <a:endParaRPr lang="en-US" sz="2000" dirty="0"/>
          </a:p>
        </p:txBody>
      </p:sp>
      <p:sp>
        <p:nvSpPr>
          <p:cNvPr id="17" name="d49"/>
          <p:cNvSpPr/>
          <p:nvPr/>
        </p:nvSpPr>
        <p:spPr>
          <a:xfrm>
            <a:off x="6095848" y="3095244"/>
            <a:ext cx="118872" cy="11887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8" name="t50"/>
          <p:cNvSpPr txBox="1"/>
          <p:nvPr/>
        </p:nvSpPr>
        <p:spPr>
          <a:xfrm>
            <a:off x="6095848" y="3383280"/>
            <a:ext cx="166618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수수료 인하로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실적 악화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창사 첫 희망퇴직</a:t>
            </a:r>
            <a:endParaRPr lang="en-US" sz="1400" dirty="0"/>
          </a:p>
        </p:txBody>
      </p:sp>
      <p:sp>
        <p:nvSpPr>
          <p:cNvPr id="19" name="t51"/>
          <p:cNvSpPr txBox="1"/>
          <p:nvPr/>
        </p:nvSpPr>
        <p:spPr>
          <a:xfrm>
            <a:off x="7899197" y="2377440"/>
            <a:ext cx="16661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2023</a:t>
            </a:r>
            <a:endParaRPr lang="en-US" sz="2000" dirty="0"/>
          </a:p>
        </p:txBody>
      </p:sp>
      <p:sp>
        <p:nvSpPr>
          <p:cNvPr id="20" name="d52"/>
          <p:cNvSpPr/>
          <p:nvPr/>
        </p:nvSpPr>
        <p:spPr>
          <a:xfrm>
            <a:off x="7899197" y="3095244"/>
            <a:ext cx="118872" cy="11887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t53"/>
          <p:cNvSpPr txBox="1"/>
          <p:nvPr/>
        </p:nvSpPr>
        <p:spPr>
          <a:xfrm>
            <a:off x="7899197" y="3383280"/>
            <a:ext cx="166618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애플페이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국내 첫 도입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‘전시체제’ 선언</a:t>
            </a:r>
            <a:endParaRPr lang="en-US" sz="1400" dirty="0"/>
          </a:p>
        </p:txBody>
      </p:sp>
      <p:sp>
        <p:nvSpPr>
          <p:cNvPr id="22" name="t54"/>
          <p:cNvSpPr txBox="1"/>
          <p:nvPr/>
        </p:nvSpPr>
        <p:spPr>
          <a:xfrm>
            <a:off x="9702546" y="2377440"/>
            <a:ext cx="166618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2024–26</a:t>
            </a:r>
            <a:endParaRPr lang="en-US" sz="2000" dirty="0"/>
          </a:p>
        </p:txBody>
      </p:sp>
      <p:sp>
        <p:nvSpPr>
          <p:cNvPr id="23" name="d55"/>
          <p:cNvSpPr/>
          <p:nvPr/>
        </p:nvSpPr>
        <p:spPr>
          <a:xfrm>
            <a:off x="9702546" y="3095244"/>
            <a:ext cx="118872" cy="11887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4" name="t56"/>
          <p:cNvSpPr txBox="1"/>
          <p:nvPr/>
        </p:nvSpPr>
        <p:spPr>
          <a:xfrm>
            <a:off x="9702546" y="3383280"/>
            <a:ext cx="166618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AI 플랫폼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‘유니버스’를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일본에 수출</a:t>
            </a:r>
            <a:endParaRPr lang="en-US" sz="1400" dirty="0"/>
          </a:p>
        </p:txBody>
      </p:sp>
      <p:sp>
        <p:nvSpPr>
          <p:cNvPr id="25" name="t57"/>
          <p:cNvSpPr txBox="1"/>
          <p:nvPr/>
        </p:nvSpPr>
        <p:spPr>
          <a:xfrm>
            <a:off x="68580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보고서에서 나눠 볼 네 시기</a:t>
            </a:r>
            <a:endParaRPr lang="en-US" sz="1200" dirty="0"/>
          </a:p>
        </p:txBody>
      </p:sp>
      <p:sp>
        <p:nvSpPr>
          <p:cNvPr id="26" name="r58"/>
          <p:cNvSpPr/>
          <p:nvPr/>
        </p:nvSpPr>
        <p:spPr>
          <a:xfrm>
            <a:off x="685800" y="5166360"/>
            <a:ext cx="3496970" cy="502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t59"/>
          <p:cNvSpPr txBox="1"/>
          <p:nvPr/>
        </p:nvSpPr>
        <p:spPr>
          <a:xfrm>
            <a:off x="850392" y="5166360"/>
            <a:ext cx="33140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 위기와 회생</a:t>
            </a:r>
            <a:endParaRPr lang="en-US" sz="1400" dirty="0"/>
          </a:p>
        </p:txBody>
      </p:sp>
      <p:sp>
        <p:nvSpPr>
          <p:cNvPr id="28" name="r60"/>
          <p:cNvSpPr/>
          <p:nvPr/>
        </p:nvSpPr>
        <p:spPr>
          <a:xfrm>
            <a:off x="4292498" y="5166360"/>
            <a:ext cx="1693621" cy="502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9" name="t61"/>
          <p:cNvSpPr txBox="1"/>
          <p:nvPr/>
        </p:nvSpPr>
        <p:spPr>
          <a:xfrm>
            <a:off x="4457090" y="5166360"/>
            <a:ext cx="1510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 브랜드 성장</a:t>
            </a:r>
            <a:endParaRPr lang="en-US" sz="1400" dirty="0"/>
          </a:p>
        </p:txBody>
      </p:sp>
      <p:sp>
        <p:nvSpPr>
          <p:cNvPr id="30" name="r62"/>
          <p:cNvSpPr/>
          <p:nvPr/>
        </p:nvSpPr>
        <p:spPr>
          <a:xfrm>
            <a:off x="6095848" y="5166360"/>
            <a:ext cx="1693621" cy="502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1" name="t63"/>
          <p:cNvSpPr txBox="1"/>
          <p:nvPr/>
        </p:nvSpPr>
        <p:spPr>
          <a:xfrm>
            <a:off x="6260440" y="5166360"/>
            <a:ext cx="1510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 구조조정</a:t>
            </a:r>
            <a:endParaRPr lang="en-US" sz="1400" dirty="0"/>
          </a:p>
        </p:txBody>
      </p:sp>
      <p:sp>
        <p:nvSpPr>
          <p:cNvPr id="32" name="r64"/>
          <p:cNvSpPr/>
          <p:nvPr/>
        </p:nvSpPr>
        <p:spPr>
          <a:xfrm>
            <a:off x="7899197" y="5166360"/>
            <a:ext cx="3496970" cy="502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3" name="t65"/>
          <p:cNvSpPr txBox="1"/>
          <p:nvPr/>
        </p:nvSpPr>
        <p:spPr>
          <a:xfrm>
            <a:off x="8063789" y="5166360"/>
            <a:ext cx="33140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④  디지털 전환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01  리더 및 선정 배경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상황별 리더십을 비교하기에 좋은 대상이라 선정</a:t>
            </a:r>
            <a:endParaRPr lang="en-US" sz="2800" dirty="0"/>
          </a:p>
        </p:txBody>
      </p:sp>
      <p:sp>
        <p:nvSpPr>
          <p:cNvPr id="4" name="t66"/>
          <p:cNvSpPr txBox="1"/>
          <p:nvPr/>
        </p:nvSpPr>
        <p:spPr>
          <a:xfrm>
            <a:off x="685800" y="1874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01</a:t>
            </a:r>
            <a:endParaRPr lang="en-US" sz="1600" dirty="0"/>
          </a:p>
        </p:txBody>
      </p:sp>
      <p:sp>
        <p:nvSpPr>
          <p:cNvPr id="5" name="t67"/>
          <p:cNvSpPr txBox="1"/>
          <p:nvPr/>
        </p:nvSpPr>
        <p:spPr>
          <a:xfrm>
            <a:off x="685800" y="233172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chemeClr val="tx1"/>
                </a:solidFill>
              </a:rPr>
              <a:t>성격이 다른 네 국면을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chemeClr val="tx1"/>
                </a:solidFill>
              </a:rPr>
              <a:t>한 사람이 이끌었다</a:t>
            </a:r>
            <a:endParaRPr lang="en-US" sz="3000" dirty="0"/>
          </a:p>
        </p:txBody>
      </p:sp>
      <p:sp>
        <p:nvSpPr>
          <p:cNvPr id="6" name="t68"/>
          <p:cNvSpPr txBox="1"/>
          <p:nvPr/>
        </p:nvSpPr>
        <p:spPr>
          <a:xfrm>
            <a:off x="685800" y="36118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23년 동안 한 리더가 겪은 서로 다른 상황을 비교하면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상황에 따라 리더십이 어떻게 달라지는지 볼 수 있음</a:t>
            </a:r>
            <a:endParaRPr lang="en-US" sz="1500" dirty="0"/>
          </a:p>
        </p:txBody>
      </p:sp>
      <p:sp>
        <p:nvSpPr>
          <p:cNvPr id="7" name="r69"/>
          <p:cNvSpPr/>
          <p:nvPr/>
        </p:nvSpPr>
        <p:spPr>
          <a:xfrm>
            <a:off x="685800" y="4663440"/>
            <a:ext cx="1337310" cy="502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70"/>
          <p:cNvSpPr txBox="1"/>
          <p:nvPr/>
        </p:nvSpPr>
        <p:spPr>
          <a:xfrm>
            <a:off x="685800" y="4663440"/>
            <a:ext cx="1337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위기</a:t>
            </a:r>
            <a:endParaRPr lang="en-US" sz="1400" dirty="0"/>
          </a:p>
        </p:txBody>
      </p:sp>
      <p:sp>
        <p:nvSpPr>
          <p:cNvPr id="9" name="r71"/>
          <p:cNvSpPr/>
          <p:nvPr/>
        </p:nvSpPr>
        <p:spPr>
          <a:xfrm>
            <a:off x="2160270" y="4663440"/>
            <a:ext cx="1337310" cy="502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72"/>
          <p:cNvSpPr txBox="1"/>
          <p:nvPr/>
        </p:nvSpPr>
        <p:spPr>
          <a:xfrm>
            <a:off x="2160270" y="4663440"/>
            <a:ext cx="1337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성장</a:t>
            </a:r>
            <a:endParaRPr lang="en-US" sz="1400" dirty="0"/>
          </a:p>
        </p:txBody>
      </p:sp>
      <p:sp>
        <p:nvSpPr>
          <p:cNvPr id="11" name="r73"/>
          <p:cNvSpPr/>
          <p:nvPr/>
        </p:nvSpPr>
        <p:spPr>
          <a:xfrm>
            <a:off x="3634740" y="4663440"/>
            <a:ext cx="1337310" cy="502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t74"/>
          <p:cNvSpPr txBox="1"/>
          <p:nvPr/>
        </p:nvSpPr>
        <p:spPr>
          <a:xfrm>
            <a:off x="3634740" y="4663440"/>
            <a:ext cx="1337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구조조정</a:t>
            </a:r>
            <a:endParaRPr lang="en-US" sz="1400" dirty="0"/>
          </a:p>
        </p:txBody>
      </p:sp>
      <p:sp>
        <p:nvSpPr>
          <p:cNvPr id="13" name="r75"/>
          <p:cNvSpPr/>
          <p:nvPr/>
        </p:nvSpPr>
        <p:spPr>
          <a:xfrm>
            <a:off x="5109210" y="4663440"/>
            <a:ext cx="1337310" cy="502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t76"/>
          <p:cNvSpPr txBox="1"/>
          <p:nvPr/>
        </p:nvSpPr>
        <p:spPr>
          <a:xfrm>
            <a:off x="5109210" y="4663440"/>
            <a:ext cx="13373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디지털 전환</a:t>
            </a:r>
            <a:endParaRPr lang="en-US" sz="1400" dirty="0"/>
          </a:p>
        </p:txBody>
      </p:sp>
      <p:sp>
        <p:nvSpPr>
          <p:cNvPr id="15" name="l77"/>
          <p:cNvSpPr/>
          <p:nvPr/>
        </p:nvSpPr>
        <p:spPr>
          <a:xfrm>
            <a:off x="6858000" y="1874520"/>
            <a:ext cx="0" cy="324612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t78"/>
          <p:cNvSpPr txBox="1"/>
          <p:nvPr/>
        </p:nvSpPr>
        <p:spPr>
          <a:xfrm>
            <a:off x="7269480" y="1874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02</a:t>
            </a:r>
            <a:endParaRPr lang="en-US" sz="1600" dirty="0"/>
          </a:p>
        </p:txBody>
      </p:sp>
      <p:sp>
        <p:nvSpPr>
          <p:cNvPr id="17" name="t79"/>
          <p:cNvSpPr txBox="1"/>
          <p:nvPr/>
        </p:nvSpPr>
        <p:spPr>
          <a:xfrm>
            <a:off x="7269480" y="2286000"/>
            <a:ext cx="4236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리더 본인의 말로 확인할 수 있다</a:t>
            </a:r>
            <a:endParaRPr lang="en-US" sz="2000" dirty="0"/>
          </a:p>
        </p:txBody>
      </p:sp>
      <p:sp>
        <p:nvSpPr>
          <p:cNvPr id="18" name="t80"/>
          <p:cNvSpPr txBox="1"/>
          <p:nvPr/>
        </p:nvSpPr>
        <p:spPr>
          <a:xfrm>
            <a:off x="7269480" y="2770632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SNS와 국내외 인터뷰가 많아 기사와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본인의 설명을 함께 검토할 수 있음</a:t>
            </a:r>
            <a:endParaRPr lang="en-US" sz="1400" dirty="0"/>
          </a:p>
        </p:txBody>
      </p:sp>
      <p:sp>
        <p:nvSpPr>
          <p:cNvPr id="19" name="l81"/>
          <p:cNvSpPr/>
          <p:nvPr/>
        </p:nvSpPr>
        <p:spPr>
          <a:xfrm>
            <a:off x="7269480" y="3429000"/>
            <a:ext cx="4236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t82"/>
          <p:cNvSpPr txBox="1"/>
          <p:nvPr/>
        </p:nvSpPr>
        <p:spPr>
          <a:xfrm>
            <a:off x="7269480" y="3657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03</a:t>
            </a:r>
            <a:endParaRPr lang="en-US" sz="1600" dirty="0"/>
          </a:p>
        </p:txBody>
      </p:sp>
      <p:sp>
        <p:nvSpPr>
          <p:cNvPr id="21" name="t83"/>
          <p:cNvSpPr txBox="1"/>
          <p:nvPr/>
        </p:nvSpPr>
        <p:spPr>
          <a:xfrm>
            <a:off x="7269480" y="4069080"/>
            <a:ext cx="4236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성과와 논란이 함께 있다</a:t>
            </a:r>
            <a:endParaRPr lang="en-US" sz="2000" dirty="0"/>
          </a:p>
        </p:txBody>
      </p:sp>
      <p:sp>
        <p:nvSpPr>
          <p:cNvPr id="22" name="t84"/>
          <p:cNvSpPr txBox="1"/>
          <p:nvPr/>
        </p:nvSpPr>
        <p:spPr>
          <a:xfrm>
            <a:off x="7269480" y="4553712"/>
            <a:ext cx="4236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업계 2위로 성장했지만 희망퇴직, 애플페이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수수료 논란도 있어 균형 있는 평가가 가능함</a:t>
            </a:r>
            <a:endParaRPr lang="en-US" sz="1400" dirty="0"/>
          </a:p>
        </p:txBody>
      </p:sp>
      <p:sp>
        <p:nvSpPr>
          <p:cNvPr id="2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  대상 리더 간략 소개 · 프로필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전문경영인이면서 오너 일가인 독특한 위치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출처: 비즈니스포스트 「Who Is? 정태영」, 현대카드 반기보고서 제32기 임원 현황(DART)</a:t>
            </a:r>
            <a:endParaRPr lang="en-US" sz="1000" dirty="0"/>
          </a:p>
        </p:txBody>
      </p:sp>
      <p:sp>
        <p:nvSpPr>
          <p:cNvPr id="5" name="rr85"/>
          <p:cNvSpPr/>
          <p:nvPr/>
        </p:nvSpPr>
        <p:spPr>
          <a:xfrm>
            <a:off x="685800" y="1783080"/>
            <a:ext cx="2514600" cy="3988156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6" name="rr86"/>
          <p:cNvSpPr/>
          <p:nvPr/>
        </p:nvSpPr>
        <p:spPr>
          <a:xfrm>
            <a:off x="962406" y="2135124"/>
            <a:ext cx="427482" cy="339471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</p:sp>
      <p:sp>
        <p:nvSpPr>
          <p:cNvPr id="7" name="t87"/>
          <p:cNvSpPr txBox="1"/>
          <p:nvPr/>
        </p:nvSpPr>
        <p:spPr>
          <a:xfrm>
            <a:off x="962406" y="4715104"/>
            <a:ext cx="201168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정태영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A8A8"/>
                </a:solidFill>
              </a:rPr>
              <a:t>Ted Chung · 1960</a:t>
            </a:r>
            <a:endParaRPr lang="en-US" sz="1200" dirty="0"/>
          </a:p>
        </p:txBody>
      </p:sp>
      <p:sp>
        <p:nvSpPr>
          <p:cNvPr id="8" name="t88"/>
          <p:cNvSpPr txBox="1"/>
          <p:nvPr/>
        </p:nvSpPr>
        <p:spPr>
          <a:xfrm>
            <a:off x="4023360" y="1783080"/>
            <a:ext cx="1828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학력</a:t>
            </a:r>
            <a:endParaRPr lang="en-US" sz="1400" dirty="0"/>
          </a:p>
        </p:txBody>
      </p:sp>
      <p:sp>
        <p:nvSpPr>
          <p:cNvPr id="9" name="t89"/>
          <p:cNvSpPr txBox="1"/>
          <p:nvPr/>
        </p:nvSpPr>
        <p:spPr>
          <a:xfrm>
            <a:off x="5943600" y="1783080"/>
            <a:ext cx="55622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서울대 불어불문학과, 미국 MIT 경영대학원 MBA</a:t>
            </a:r>
            <a:endParaRPr lang="en-US" sz="1700" dirty="0"/>
          </a:p>
        </p:txBody>
      </p:sp>
      <p:sp>
        <p:nvSpPr>
          <p:cNvPr id="10" name="l90"/>
          <p:cNvSpPr/>
          <p:nvPr/>
        </p:nvSpPr>
        <p:spPr>
          <a:xfrm>
            <a:off x="4023360" y="2569464"/>
            <a:ext cx="748253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1" name="t91"/>
          <p:cNvSpPr txBox="1"/>
          <p:nvPr/>
        </p:nvSpPr>
        <p:spPr>
          <a:xfrm>
            <a:off x="4023360" y="2569464"/>
            <a:ext cx="1828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현직</a:t>
            </a:r>
            <a:endParaRPr lang="en-US" sz="1400" dirty="0"/>
          </a:p>
        </p:txBody>
      </p:sp>
      <p:sp>
        <p:nvSpPr>
          <p:cNvPr id="12" name="t92"/>
          <p:cNvSpPr txBox="1"/>
          <p:nvPr/>
        </p:nvSpPr>
        <p:spPr>
          <a:xfrm>
            <a:off x="5943600" y="2569464"/>
            <a:ext cx="55622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현대카드 · 현대커머셜 대표이사 부회장</a:t>
            </a:r>
            <a:endParaRPr lang="en-US" sz="1700" dirty="0"/>
          </a:p>
        </p:txBody>
      </p:sp>
      <p:sp>
        <p:nvSpPr>
          <p:cNvPr id="13" name="l93"/>
          <p:cNvSpPr/>
          <p:nvPr/>
        </p:nvSpPr>
        <p:spPr>
          <a:xfrm>
            <a:off x="4023360" y="3355848"/>
            <a:ext cx="748253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94"/>
          <p:cNvSpPr txBox="1"/>
          <p:nvPr/>
        </p:nvSpPr>
        <p:spPr>
          <a:xfrm>
            <a:off x="4023360" y="3355848"/>
            <a:ext cx="1828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재임 기간</a:t>
            </a:r>
            <a:endParaRPr lang="en-US" sz="1400" dirty="0"/>
          </a:p>
        </p:txBody>
      </p:sp>
      <p:sp>
        <p:nvSpPr>
          <p:cNvPr id="15" name="t95"/>
          <p:cNvSpPr txBox="1"/>
          <p:nvPr/>
        </p:nvSpPr>
        <p:spPr>
          <a:xfrm>
            <a:off x="5943600" y="3355848"/>
            <a:ext cx="55622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2003년 취임 이후 23년째 (현 임기 2027년 3월까지)</a:t>
            </a:r>
            <a:endParaRPr lang="en-US" sz="1700" dirty="0"/>
          </a:p>
        </p:txBody>
      </p:sp>
      <p:sp>
        <p:nvSpPr>
          <p:cNvPr id="16" name="l96"/>
          <p:cNvSpPr/>
          <p:nvPr/>
        </p:nvSpPr>
        <p:spPr>
          <a:xfrm>
            <a:off x="4023360" y="4142232"/>
            <a:ext cx="748253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t97"/>
          <p:cNvSpPr txBox="1"/>
          <p:nvPr/>
        </p:nvSpPr>
        <p:spPr>
          <a:xfrm>
            <a:off x="4023360" y="4142232"/>
            <a:ext cx="1828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그룹과의 관계</a:t>
            </a:r>
            <a:endParaRPr lang="en-US" sz="1400" dirty="0"/>
          </a:p>
        </p:txBody>
      </p:sp>
      <p:sp>
        <p:nvSpPr>
          <p:cNvPr id="18" name="t98"/>
          <p:cNvSpPr txBox="1"/>
          <p:nvPr/>
        </p:nvSpPr>
        <p:spPr>
          <a:xfrm>
            <a:off x="5943600" y="4142232"/>
            <a:ext cx="55622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정몽구 현대차그룹 명예회장의 사위</a:t>
            </a:r>
            <a:endParaRPr lang="en-US" sz="1700" dirty="0"/>
          </a:p>
        </p:txBody>
      </p:sp>
      <p:sp>
        <p:nvSpPr>
          <p:cNvPr id="19" name="l99"/>
          <p:cNvSpPr/>
          <p:nvPr/>
        </p:nvSpPr>
        <p:spPr>
          <a:xfrm>
            <a:off x="4023360" y="4928616"/>
            <a:ext cx="748253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t100"/>
          <p:cNvSpPr txBox="1"/>
          <p:nvPr/>
        </p:nvSpPr>
        <p:spPr>
          <a:xfrm>
            <a:off x="4023360" y="4928616"/>
            <a:ext cx="1828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별칭</a:t>
            </a:r>
            <a:endParaRPr lang="en-US" sz="1400" dirty="0"/>
          </a:p>
        </p:txBody>
      </p:sp>
      <p:sp>
        <p:nvSpPr>
          <p:cNvPr id="21" name="t101"/>
          <p:cNvSpPr txBox="1"/>
          <p:nvPr/>
        </p:nvSpPr>
        <p:spPr>
          <a:xfrm>
            <a:off x="5943600" y="4928616"/>
            <a:ext cx="55622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‘마케팅 천재’, ‘괴짜 경영인’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  대상 리더 간략 소개 · 회사 현황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현대차그룹 계열의 비상장 카드사, 회원 1,311만 명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출처: 현대카드 반기보고서 제32기(2026.8.14 제출) Ⅰ. 회사의 개요, DART · 회원·직원 수는 2026년 6월 말 기준</a:t>
            </a:r>
            <a:endParaRPr lang="en-US" sz="1000" dirty="0"/>
          </a:p>
        </p:txBody>
      </p:sp>
      <p:sp>
        <p:nvSpPr>
          <p:cNvPr id="5" name="t102"/>
          <p:cNvSpPr txBox="1"/>
          <p:nvPr/>
        </p:nvSpPr>
        <p:spPr>
          <a:xfrm>
            <a:off x="685800" y="178308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2001년</a:t>
            </a:r>
            <a:endParaRPr lang="en-US" sz="3600" dirty="0"/>
          </a:p>
        </p:txBody>
      </p:sp>
      <p:sp>
        <p:nvSpPr>
          <p:cNvPr id="6" name="t103"/>
          <p:cNvSpPr txBox="1"/>
          <p:nvPr/>
        </p:nvSpPr>
        <p:spPr>
          <a:xfrm>
            <a:off x="685800" y="2532888"/>
            <a:ext cx="3332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현대카드 출범</a:t>
            </a:r>
            <a:endParaRPr lang="en-US" sz="1400" dirty="0"/>
          </a:p>
        </p:txBody>
      </p:sp>
      <p:sp>
        <p:nvSpPr>
          <p:cNvPr id="7" name="t104"/>
          <p:cNvSpPr txBox="1"/>
          <p:nvPr/>
        </p:nvSpPr>
        <p:spPr>
          <a:xfrm>
            <a:off x="4292498" y="178308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1,311만 명</a:t>
            </a:r>
            <a:endParaRPr lang="en-US" sz="3600" dirty="0"/>
          </a:p>
        </p:txBody>
      </p:sp>
      <p:sp>
        <p:nvSpPr>
          <p:cNvPr id="8" name="t105"/>
          <p:cNvSpPr txBox="1"/>
          <p:nvPr/>
        </p:nvSpPr>
        <p:spPr>
          <a:xfrm>
            <a:off x="4292498" y="2532888"/>
            <a:ext cx="3332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신용카드 회원 수</a:t>
            </a:r>
            <a:endParaRPr lang="en-US" sz="1400" dirty="0"/>
          </a:p>
        </p:txBody>
      </p:sp>
      <p:sp>
        <p:nvSpPr>
          <p:cNvPr id="9" name="t106"/>
          <p:cNvSpPr txBox="1"/>
          <p:nvPr/>
        </p:nvSpPr>
        <p:spPr>
          <a:xfrm>
            <a:off x="7899197" y="178308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2,116명</a:t>
            </a:r>
            <a:endParaRPr lang="en-US" sz="3600" dirty="0"/>
          </a:p>
        </p:txBody>
      </p:sp>
      <p:sp>
        <p:nvSpPr>
          <p:cNvPr id="10" name="t107"/>
          <p:cNvSpPr txBox="1"/>
          <p:nvPr/>
        </p:nvSpPr>
        <p:spPr>
          <a:xfrm>
            <a:off x="7899197" y="2532888"/>
            <a:ext cx="3332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직원 수 · 본사 서울 여의도</a:t>
            </a:r>
            <a:endParaRPr lang="en-US" sz="1400" dirty="0"/>
          </a:p>
        </p:txBody>
      </p:sp>
      <p:sp>
        <p:nvSpPr>
          <p:cNvPr id="11" name="l108"/>
          <p:cNvSpPr/>
          <p:nvPr/>
        </p:nvSpPr>
        <p:spPr>
          <a:xfrm>
            <a:off x="685800" y="342900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109"/>
          <p:cNvSpPr txBox="1"/>
          <p:nvPr/>
        </p:nvSpPr>
        <p:spPr>
          <a:xfrm>
            <a:off x="68580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주요 사업</a:t>
            </a:r>
            <a:endParaRPr lang="en-US" sz="1200" dirty="0"/>
          </a:p>
        </p:txBody>
      </p:sp>
      <p:sp>
        <p:nvSpPr>
          <p:cNvPr id="13" name="t110"/>
          <p:cNvSpPr txBox="1"/>
          <p:nvPr/>
        </p:nvSpPr>
        <p:spPr>
          <a:xfrm>
            <a:off x="685800" y="40690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자체 브랜드 카드</a:t>
            </a:r>
            <a:endParaRPr lang="en-US" sz="1800" dirty="0"/>
          </a:p>
        </p:txBody>
      </p:sp>
      <p:sp>
        <p:nvSpPr>
          <p:cNvPr id="14" name="t111"/>
          <p:cNvSpPr txBox="1"/>
          <p:nvPr/>
        </p:nvSpPr>
        <p:spPr>
          <a:xfrm>
            <a:off x="685800" y="4526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현대카드M → 알파벳카드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the Black · the Purple</a:t>
            </a:r>
            <a:endParaRPr lang="en-US" sz="1400" dirty="0"/>
          </a:p>
        </p:txBody>
      </p:sp>
      <p:sp>
        <p:nvSpPr>
          <p:cNvPr id="15" name="t112"/>
          <p:cNvSpPr txBox="1"/>
          <p:nvPr/>
        </p:nvSpPr>
        <p:spPr>
          <a:xfrm>
            <a:off x="3390824" y="40690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PLCC</a:t>
            </a:r>
            <a:endParaRPr lang="en-US" sz="1800" dirty="0"/>
          </a:p>
        </p:txBody>
      </p:sp>
      <p:sp>
        <p:nvSpPr>
          <p:cNvPr id="16" name="t113"/>
          <p:cNvSpPr txBox="1"/>
          <p:nvPr/>
        </p:nvSpPr>
        <p:spPr>
          <a:xfrm>
            <a:off x="3390824" y="4526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2015년 국내 첫 도입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코스트코 · 대한항공 등</a:t>
            </a:r>
            <a:endParaRPr lang="en-US" sz="1400" dirty="0"/>
          </a:p>
        </p:txBody>
      </p:sp>
      <p:sp>
        <p:nvSpPr>
          <p:cNvPr id="17" name="t114"/>
          <p:cNvSpPr txBox="1"/>
          <p:nvPr/>
        </p:nvSpPr>
        <p:spPr>
          <a:xfrm>
            <a:off x="6095848" y="40690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카드대출</a:t>
            </a:r>
            <a:endParaRPr lang="en-US" sz="1800" dirty="0"/>
          </a:p>
        </p:txBody>
      </p:sp>
      <p:sp>
        <p:nvSpPr>
          <p:cNvPr id="18" name="t115"/>
          <p:cNvSpPr txBox="1"/>
          <p:nvPr/>
        </p:nvSpPr>
        <p:spPr>
          <a:xfrm>
            <a:off x="6095848" y="4526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카드론, 현금서비스</a:t>
            </a:r>
            <a:endParaRPr lang="en-US" sz="1400" dirty="0"/>
          </a:p>
        </p:txBody>
      </p:sp>
      <p:sp>
        <p:nvSpPr>
          <p:cNvPr id="19" name="t116"/>
          <p:cNvSpPr txBox="1"/>
          <p:nvPr/>
        </p:nvSpPr>
        <p:spPr>
          <a:xfrm>
            <a:off x="8800871" y="40690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데이터 · AI</a:t>
            </a:r>
            <a:endParaRPr lang="en-US" sz="1800" dirty="0"/>
          </a:p>
        </p:txBody>
      </p:sp>
      <p:sp>
        <p:nvSpPr>
          <p:cNvPr id="20" name="t117"/>
          <p:cNvSpPr txBox="1"/>
          <p:nvPr/>
        </p:nvSpPr>
        <p:spPr>
          <a:xfrm>
            <a:off x="8800871" y="4526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AI 플랫폼 ‘유니버스’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일본 카드사에 수출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  대상 리더 간략 소개 · 재무정보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영업이익·순이익 모두 늘었고, 이용실적 점유율은 업계 2위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출처: 현대카드 반기보고서 제32기(2026.8.14 제출) Ⅲ-1 요약재무정보, DART · 연결 기준 · 점유율은 금감원 신용카드 이용실적으로 계산</a:t>
            </a:r>
            <a:endParaRPr lang="en-US" sz="1000" dirty="0"/>
          </a:p>
        </p:txBody>
      </p:sp>
      <p:sp>
        <p:nvSpPr>
          <p:cNvPr id="5" name="t118"/>
          <p:cNvSpPr txBox="1"/>
          <p:nvPr/>
        </p:nvSpPr>
        <p:spPr>
          <a:xfrm>
            <a:off x="685800" y="17830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4조 78억원</a:t>
            </a:r>
            <a:endParaRPr lang="en-US" sz="3600" dirty="0"/>
          </a:p>
        </p:txBody>
      </p:sp>
      <p:sp>
        <p:nvSpPr>
          <p:cNvPr id="6" name="t119"/>
          <p:cNvSpPr txBox="1"/>
          <p:nvPr/>
        </p:nvSpPr>
        <p:spPr>
          <a:xfrm>
            <a:off x="685800" y="25146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영업수익</a:t>
            </a:r>
            <a:endParaRPr lang="en-US" sz="1400" dirty="0"/>
          </a:p>
        </p:txBody>
      </p:sp>
      <p:sp>
        <p:nvSpPr>
          <p:cNvPr id="7" name="t120"/>
          <p:cNvSpPr txBox="1"/>
          <p:nvPr/>
        </p:nvSpPr>
        <p:spPr>
          <a:xfrm>
            <a:off x="685800" y="31546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3,503억원</a:t>
            </a:r>
            <a:endParaRPr lang="en-US" sz="3600" dirty="0"/>
          </a:p>
        </p:txBody>
      </p:sp>
      <p:sp>
        <p:nvSpPr>
          <p:cNvPr id="8" name="t121"/>
          <p:cNvSpPr txBox="1"/>
          <p:nvPr/>
        </p:nvSpPr>
        <p:spPr>
          <a:xfrm>
            <a:off x="685800" y="3886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당기순이익 · 전년 대비 +10.7%</a:t>
            </a:r>
            <a:endParaRPr lang="en-US" sz="1400" dirty="0"/>
          </a:p>
        </p:txBody>
      </p:sp>
      <p:sp>
        <p:nvSpPr>
          <p:cNvPr id="9" name="t122"/>
          <p:cNvSpPr txBox="1"/>
          <p:nvPr/>
        </p:nvSpPr>
        <p:spPr>
          <a:xfrm>
            <a:off x="685800" y="45262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19.3%</a:t>
            </a:r>
            <a:endParaRPr lang="en-US" sz="3600" dirty="0"/>
          </a:p>
        </p:txBody>
      </p:sp>
      <p:sp>
        <p:nvSpPr>
          <p:cNvPr id="10" name="t123"/>
          <p:cNvSpPr txBox="1"/>
          <p:nvPr/>
        </p:nvSpPr>
        <p:spPr>
          <a:xfrm>
            <a:off x="685800" y="5257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이용실적 점유율 2위 (1위 신한 19.8%)</a:t>
            </a:r>
            <a:endParaRPr lang="en-US" sz="1400" dirty="0"/>
          </a:p>
        </p:txBody>
      </p:sp>
      <p:sp>
        <p:nvSpPr>
          <p:cNvPr id="11" name="t124"/>
          <p:cNvSpPr txBox="1"/>
          <p:nvPr/>
        </p:nvSpPr>
        <p:spPr>
          <a:xfrm>
            <a:off x="5486400" y="1783080"/>
            <a:ext cx="6019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영업이익 · 당기순이익 (억원)</a:t>
            </a:r>
            <a:endParaRPr lang="en-US" sz="1400" dirty="0"/>
          </a:p>
        </p:txBody>
      </p:sp>
      <p:graphicFrame>
        <p:nvGraphicFramePr>
          <p:cNvPr id="12" name="chart-profit" descr=""/>
          <p:cNvGraphicFramePr/>
          <p:nvPr/>
        </p:nvGraphicFramePr>
        <p:xfrm>
          <a:off x="5486400" y="2148840"/>
          <a:ext cx="6019495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r125"/>
          <p:cNvSpPr/>
          <p:nvPr/>
        </p:nvSpPr>
        <p:spPr>
          <a:xfrm>
            <a:off x="5486400" y="5166360"/>
            <a:ext cx="6019495" cy="822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t126"/>
          <p:cNvSpPr txBox="1"/>
          <p:nvPr/>
        </p:nvSpPr>
        <p:spPr>
          <a:xfrm>
            <a:off x="5715000" y="5166360"/>
            <a:ext cx="5653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2026년 상반기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영업수익 2조 3,372억 · 영업이익 2,495억 · 순이익 1,852억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  대상 리더 간략 소개 · 기업 현황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정 부회장의 직접 지분은 없고, 현대커머셜을 통해 영향력 행사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출처: 현대카드 반기보고서 제32기(2026.8.14 제출) 주주에 관한 사항, DART · 한국경제 「현대커머셜, 현대카드 지분 5% 추가 확보」(2022.10)</a:t>
            </a:r>
            <a:endParaRPr lang="en-US" sz="1000" dirty="0"/>
          </a:p>
        </p:txBody>
      </p:sp>
      <p:sp>
        <p:nvSpPr>
          <p:cNvPr id="5" name="r127"/>
          <p:cNvSpPr/>
          <p:nvPr/>
        </p:nvSpPr>
        <p:spPr>
          <a:xfrm>
            <a:off x="685800" y="1874520"/>
            <a:ext cx="3971675" cy="86868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6" name="t128"/>
          <p:cNvSpPr txBox="1"/>
          <p:nvPr/>
        </p:nvSpPr>
        <p:spPr>
          <a:xfrm>
            <a:off x="868680" y="1874520"/>
            <a:ext cx="372478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36.96%</a:t>
            </a:r>
            <a:endParaRPr lang="en-US" sz="2000" dirty="0"/>
          </a:p>
        </p:txBody>
      </p:sp>
      <p:sp>
        <p:nvSpPr>
          <p:cNvPr id="7" name="r129"/>
          <p:cNvSpPr/>
          <p:nvPr/>
        </p:nvSpPr>
        <p:spPr>
          <a:xfrm>
            <a:off x="4684907" y="1874520"/>
            <a:ext cx="3718485" cy="868680"/>
          </a:xfrm>
          <a:prstGeom prst="rect">
            <a:avLst/>
          </a:prstGeom>
          <a:solidFill>
            <a:srgbClr val="D8452B"/>
          </a:solidFill>
          <a:ln/>
        </p:spPr>
      </p:sp>
      <p:sp>
        <p:nvSpPr>
          <p:cNvPr id="8" name="t130"/>
          <p:cNvSpPr txBox="1"/>
          <p:nvPr/>
        </p:nvSpPr>
        <p:spPr>
          <a:xfrm>
            <a:off x="4867787" y="1874520"/>
            <a:ext cx="34715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34.62%</a:t>
            </a:r>
            <a:endParaRPr lang="en-US" sz="2000" dirty="0"/>
          </a:p>
        </p:txBody>
      </p:sp>
      <p:sp>
        <p:nvSpPr>
          <p:cNvPr id="9" name="r131"/>
          <p:cNvSpPr/>
          <p:nvPr/>
        </p:nvSpPr>
        <p:spPr>
          <a:xfrm>
            <a:off x="8430824" y="1874520"/>
            <a:ext cx="2134423" cy="8686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0" name="t132"/>
          <p:cNvSpPr txBox="1"/>
          <p:nvPr/>
        </p:nvSpPr>
        <p:spPr>
          <a:xfrm>
            <a:off x="8613704" y="1874520"/>
            <a:ext cx="1887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19.98%</a:t>
            </a:r>
            <a:endParaRPr lang="en-US" sz="2000" dirty="0"/>
          </a:p>
        </p:txBody>
      </p:sp>
      <p:sp>
        <p:nvSpPr>
          <p:cNvPr id="11" name="r133"/>
          <p:cNvSpPr/>
          <p:nvPr/>
        </p:nvSpPr>
        <p:spPr>
          <a:xfrm>
            <a:off x="10592679" y="1874520"/>
            <a:ext cx="673710" cy="868680"/>
          </a:xfrm>
          <a:prstGeom prst="rect">
            <a:avLst/>
          </a:prstGeom>
          <a:solidFill>
            <a:srgbClr val="BDBDBD"/>
          </a:solidFill>
          <a:ln/>
        </p:spPr>
      </p:sp>
      <p:sp>
        <p:nvSpPr>
          <p:cNvPr id="12" name="r134"/>
          <p:cNvSpPr/>
          <p:nvPr/>
        </p:nvSpPr>
        <p:spPr>
          <a:xfrm>
            <a:off x="11293821" y="1874520"/>
            <a:ext cx="184642" cy="86868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r135"/>
          <p:cNvSpPr/>
          <p:nvPr/>
        </p:nvSpPr>
        <p:spPr>
          <a:xfrm>
            <a:off x="685800" y="3035808"/>
            <a:ext cx="146304" cy="146304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14" name="t136"/>
          <p:cNvSpPr txBox="1"/>
          <p:nvPr/>
        </p:nvSpPr>
        <p:spPr>
          <a:xfrm>
            <a:off x="941832" y="2962656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현대자동차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36.96%</a:t>
            </a:r>
            <a:endParaRPr lang="en-US" sz="1400" dirty="0"/>
          </a:p>
        </p:txBody>
      </p:sp>
      <p:sp>
        <p:nvSpPr>
          <p:cNvPr id="15" name="r137"/>
          <p:cNvSpPr/>
          <p:nvPr/>
        </p:nvSpPr>
        <p:spPr>
          <a:xfrm>
            <a:off x="2849819" y="3035808"/>
            <a:ext cx="146304" cy="146304"/>
          </a:xfrm>
          <a:prstGeom prst="rect">
            <a:avLst/>
          </a:prstGeom>
          <a:solidFill>
            <a:srgbClr val="D8452B"/>
          </a:solidFill>
          <a:ln/>
        </p:spPr>
      </p:sp>
      <p:sp>
        <p:nvSpPr>
          <p:cNvPr id="16" name="t138"/>
          <p:cNvSpPr txBox="1"/>
          <p:nvPr/>
        </p:nvSpPr>
        <p:spPr>
          <a:xfrm>
            <a:off x="3105851" y="2962656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현대커머셜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34.62%</a:t>
            </a:r>
            <a:endParaRPr lang="en-US" sz="1400" dirty="0"/>
          </a:p>
        </p:txBody>
      </p:sp>
      <p:sp>
        <p:nvSpPr>
          <p:cNvPr id="17" name="r139"/>
          <p:cNvSpPr/>
          <p:nvPr/>
        </p:nvSpPr>
        <p:spPr>
          <a:xfrm>
            <a:off x="5013838" y="3035808"/>
            <a:ext cx="146304" cy="14630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8" name="t140"/>
          <p:cNvSpPr txBox="1"/>
          <p:nvPr/>
        </p:nvSpPr>
        <p:spPr>
          <a:xfrm>
            <a:off x="5269870" y="2962656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대만 푸본금융그룹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19.98%</a:t>
            </a:r>
            <a:endParaRPr lang="en-US" sz="1400" dirty="0"/>
          </a:p>
        </p:txBody>
      </p:sp>
      <p:sp>
        <p:nvSpPr>
          <p:cNvPr id="19" name="r141"/>
          <p:cNvSpPr/>
          <p:nvPr/>
        </p:nvSpPr>
        <p:spPr>
          <a:xfrm>
            <a:off x="7177857" y="3035808"/>
            <a:ext cx="146304" cy="146304"/>
          </a:xfrm>
          <a:prstGeom prst="rect">
            <a:avLst/>
          </a:prstGeom>
          <a:solidFill>
            <a:srgbClr val="BDBDBD"/>
          </a:solidFill>
          <a:ln/>
        </p:spPr>
      </p:sp>
      <p:sp>
        <p:nvSpPr>
          <p:cNvPr id="20" name="t142"/>
          <p:cNvSpPr txBox="1"/>
          <p:nvPr/>
        </p:nvSpPr>
        <p:spPr>
          <a:xfrm>
            <a:off x="7433889" y="2962656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기아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6.48%</a:t>
            </a:r>
            <a:endParaRPr lang="en-US" sz="1400" dirty="0"/>
          </a:p>
        </p:txBody>
      </p:sp>
      <p:sp>
        <p:nvSpPr>
          <p:cNvPr id="21" name="r143"/>
          <p:cNvSpPr/>
          <p:nvPr/>
        </p:nvSpPr>
        <p:spPr>
          <a:xfrm>
            <a:off x="9341876" y="3035808"/>
            <a:ext cx="146304" cy="1463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144"/>
          <p:cNvSpPr txBox="1"/>
          <p:nvPr/>
        </p:nvSpPr>
        <p:spPr>
          <a:xfrm>
            <a:off x="9597908" y="2962656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소액주주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1.96%</a:t>
            </a:r>
            <a:endParaRPr lang="en-US" sz="1400" dirty="0"/>
          </a:p>
        </p:txBody>
      </p:sp>
      <p:sp>
        <p:nvSpPr>
          <p:cNvPr id="23" name="l145"/>
          <p:cNvSpPr/>
          <p:nvPr/>
        </p:nvSpPr>
        <p:spPr>
          <a:xfrm>
            <a:off x="685800" y="406908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r146"/>
          <p:cNvSpPr/>
          <p:nvPr/>
        </p:nvSpPr>
        <p:spPr>
          <a:xfrm>
            <a:off x="685800" y="4434840"/>
            <a:ext cx="2103120" cy="822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t147"/>
          <p:cNvSpPr txBox="1"/>
          <p:nvPr/>
        </p:nvSpPr>
        <p:spPr>
          <a:xfrm>
            <a:off x="685800" y="4434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정태영 · 정명이 부부</a:t>
            </a:r>
            <a:endParaRPr lang="en-US" sz="1700" dirty="0"/>
          </a:p>
        </p:txBody>
      </p:sp>
      <p:sp>
        <p:nvSpPr>
          <p:cNvPr id="26" name="arrow0"/>
          <p:cNvSpPr/>
          <p:nvPr/>
        </p:nvSpPr>
        <p:spPr>
          <a:xfrm>
            <a:off x="2926080" y="4846320"/>
            <a:ext cx="685800" cy="0"/>
          </a:xfrm>
          <a:prstGeom prst="line">
            <a:avLst/>
          </a:prstGeom>
          <a:noFill/>
          <a:ln w="15875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27" name="t148"/>
          <p:cNvSpPr txBox="1"/>
          <p:nvPr/>
        </p:nvSpPr>
        <p:spPr>
          <a:xfrm>
            <a:off x="2788920" y="44622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대주주</a:t>
            </a:r>
            <a:endParaRPr lang="en-US" sz="1200" dirty="0"/>
          </a:p>
        </p:txBody>
      </p:sp>
      <p:sp>
        <p:nvSpPr>
          <p:cNvPr id="28" name="r149"/>
          <p:cNvSpPr/>
          <p:nvPr/>
        </p:nvSpPr>
        <p:spPr>
          <a:xfrm>
            <a:off x="3749040" y="4434840"/>
            <a:ext cx="2103120" cy="8229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150"/>
          <p:cNvSpPr txBox="1"/>
          <p:nvPr/>
        </p:nvSpPr>
        <p:spPr>
          <a:xfrm>
            <a:off x="3749040" y="4434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현대커머셜</a:t>
            </a:r>
            <a:endParaRPr lang="en-US" sz="1700" dirty="0"/>
          </a:p>
        </p:txBody>
      </p:sp>
      <p:sp>
        <p:nvSpPr>
          <p:cNvPr id="30" name="arrow1"/>
          <p:cNvSpPr/>
          <p:nvPr/>
        </p:nvSpPr>
        <p:spPr>
          <a:xfrm>
            <a:off x="5989320" y="4846320"/>
            <a:ext cx="685800" cy="0"/>
          </a:xfrm>
          <a:prstGeom prst="line">
            <a:avLst/>
          </a:prstGeom>
          <a:noFill/>
          <a:ln w="15875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31" name="t151"/>
          <p:cNvSpPr txBox="1"/>
          <p:nvPr/>
        </p:nvSpPr>
        <p:spPr>
          <a:xfrm>
            <a:off x="5852160" y="44622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34.62%</a:t>
            </a:r>
            <a:endParaRPr lang="en-US" sz="1200" dirty="0"/>
          </a:p>
        </p:txBody>
      </p:sp>
      <p:sp>
        <p:nvSpPr>
          <p:cNvPr id="32" name="r152"/>
          <p:cNvSpPr/>
          <p:nvPr/>
        </p:nvSpPr>
        <p:spPr>
          <a:xfrm>
            <a:off x="6812280" y="4434840"/>
            <a:ext cx="2103120" cy="82296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3" name="t153"/>
          <p:cNvSpPr txBox="1"/>
          <p:nvPr/>
        </p:nvSpPr>
        <p:spPr>
          <a:xfrm>
            <a:off x="6812280" y="4434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현대카드</a:t>
            </a:r>
            <a:endParaRPr lang="en-US" sz="1700" dirty="0"/>
          </a:p>
        </p:txBody>
      </p:sp>
      <p:sp>
        <p:nvSpPr>
          <p:cNvPr id="34" name="t154"/>
          <p:cNvSpPr txBox="1"/>
          <p:nvPr/>
        </p:nvSpPr>
        <p:spPr>
          <a:xfrm>
            <a:off x="9464040" y="4389120"/>
            <a:ext cx="2041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현대차그룹 계열 합계</a:t>
            </a:r>
            <a:endParaRPr lang="en-US" sz="1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78.06%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03  팀플 보고서 작성 방법 · 자료 조사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공시로 수치를, 인터뷰로 리더의 생각을 확인</a:t>
            </a:r>
            <a:endParaRPr lang="en-US" sz="2800" dirty="0"/>
          </a:p>
        </p:txBody>
      </p:sp>
      <p:sp>
        <p:nvSpPr>
          <p:cNvPr id="4" name="t155"/>
          <p:cNvSpPr txBox="1"/>
          <p:nvPr/>
        </p:nvSpPr>
        <p:spPr>
          <a:xfrm>
            <a:off x="685800" y="1783080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공시</a:t>
            </a:r>
            <a:endParaRPr lang="en-US" sz="1600" dirty="0"/>
          </a:p>
        </p:txBody>
      </p:sp>
      <p:sp>
        <p:nvSpPr>
          <p:cNvPr id="5" name="t156"/>
          <p:cNvSpPr txBox="1"/>
          <p:nvPr/>
        </p:nvSpPr>
        <p:spPr>
          <a:xfrm>
            <a:off x="2423160" y="1783080"/>
            <a:ext cx="4663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금융감독원 DART 사업 · 반기보고서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재무, 주주, 임원 정보</a:t>
            </a:r>
            <a:endParaRPr lang="en-US" sz="1500" dirty="0"/>
          </a:p>
        </p:txBody>
      </p:sp>
      <p:sp>
        <p:nvSpPr>
          <p:cNvPr id="6" name="l157"/>
          <p:cNvSpPr/>
          <p:nvPr/>
        </p:nvSpPr>
        <p:spPr>
          <a:xfrm>
            <a:off x="685800" y="2770632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158"/>
          <p:cNvSpPr txBox="1"/>
          <p:nvPr/>
        </p:nvSpPr>
        <p:spPr>
          <a:xfrm>
            <a:off x="685800" y="2770632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회사 자료</a:t>
            </a:r>
            <a:endParaRPr lang="en-US" sz="1600" dirty="0"/>
          </a:p>
        </p:txBody>
      </p:sp>
      <p:sp>
        <p:nvSpPr>
          <p:cNvPr id="8" name="t159"/>
          <p:cNvSpPr txBox="1"/>
          <p:nvPr/>
        </p:nvSpPr>
        <p:spPr>
          <a:xfrm>
            <a:off x="2423160" y="2770632"/>
            <a:ext cx="4663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현대카드 IR 자료, 뉴스룸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실적 발표, 사업 전략</a:t>
            </a:r>
            <a:endParaRPr lang="en-US" sz="1500" dirty="0"/>
          </a:p>
        </p:txBody>
      </p:sp>
      <p:sp>
        <p:nvSpPr>
          <p:cNvPr id="9" name="l160"/>
          <p:cNvSpPr/>
          <p:nvPr/>
        </p:nvSpPr>
        <p:spPr>
          <a:xfrm>
            <a:off x="685800" y="3758184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0" name="t161"/>
          <p:cNvSpPr txBox="1"/>
          <p:nvPr/>
        </p:nvSpPr>
        <p:spPr>
          <a:xfrm>
            <a:off x="685800" y="3758184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언론 · 인터뷰</a:t>
            </a:r>
            <a:endParaRPr lang="en-US" sz="1600" dirty="0"/>
          </a:p>
        </p:txBody>
      </p:sp>
      <p:sp>
        <p:nvSpPr>
          <p:cNvPr id="11" name="t162"/>
          <p:cNvSpPr txBox="1"/>
          <p:nvPr/>
        </p:nvSpPr>
        <p:spPr>
          <a:xfrm>
            <a:off x="2423160" y="3758184"/>
            <a:ext cx="4663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경제지 기사, 맥킨지 인터뷰(2025), 정 부회장 SNS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리더 본인의 설명</a:t>
            </a:r>
            <a:endParaRPr lang="en-US" sz="1500" dirty="0"/>
          </a:p>
        </p:txBody>
      </p:sp>
      <p:sp>
        <p:nvSpPr>
          <p:cNvPr id="12" name="l163"/>
          <p:cNvSpPr/>
          <p:nvPr/>
        </p:nvSpPr>
        <p:spPr>
          <a:xfrm>
            <a:off x="685800" y="4745736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164"/>
          <p:cNvSpPr txBox="1"/>
          <p:nvPr/>
        </p:nvSpPr>
        <p:spPr>
          <a:xfrm>
            <a:off x="685800" y="4745736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논문 · 서적</a:t>
            </a:r>
            <a:endParaRPr lang="en-US" sz="1600" dirty="0"/>
          </a:p>
        </p:txBody>
      </p:sp>
      <p:sp>
        <p:nvSpPr>
          <p:cNvPr id="14" name="t165"/>
          <p:cNvSpPr txBox="1"/>
          <p:nvPr/>
        </p:nvSpPr>
        <p:spPr>
          <a:xfrm>
            <a:off x="2423160" y="4745736"/>
            <a:ext cx="46634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RISS · DBpia 현대카드 사례 연구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선행 분석과 이론 적용 사례</a:t>
            </a:r>
            <a:endParaRPr lang="en-US" sz="1500" dirty="0"/>
          </a:p>
        </p:txBody>
      </p:sp>
      <p:sp>
        <p:nvSpPr>
          <p:cNvPr id="15" name="r166"/>
          <p:cNvSpPr/>
          <p:nvPr/>
        </p:nvSpPr>
        <p:spPr>
          <a:xfrm>
            <a:off x="7635240" y="1783080"/>
            <a:ext cx="3870655" cy="395020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t167"/>
          <p:cNvSpPr txBox="1"/>
          <p:nvPr/>
        </p:nvSpPr>
        <p:spPr>
          <a:xfrm>
            <a:off x="8001000" y="2103120"/>
            <a:ext cx="3139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활용 원칙</a:t>
            </a:r>
            <a:endParaRPr lang="en-US" sz="1800" dirty="0"/>
          </a:p>
        </p:txBody>
      </p:sp>
      <p:sp>
        <p:nvSpPr>
          <p:cNvPr id="17" name="t168"/>
          <p:cNvSpPr txBox="1"/>
          <p:nvPr/>
        </p:nvSpPr>
        <p:spPr>
          <a:xfrm>
            <a:off x="80010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18" name="t169"/>
          <p:cNvSpPr txBox="1"/>
          <p:nvPr/>
        </p:nvSpPr>
        <p:spPr>
          <a:xfrm>
            <a:off x="8412480" y="274320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자료 요약 · 이론 연결 초안</a:t>
            </a:r>
            <a:endParaRPr lang="en-US" sz="1600" dirty="0"/>
          </a:p>
        </p:txBody>
      </p:sp>
      <p:sp>
        <p:nvSpPr>
          <p:cNvPr id="19" name="t170"/>
          <p:cNvSpPr txBox="1"/>
          <p:nvPr/>
        </p:nvSpPr>
        <p:spPr>
          <a:xfrm>
            <a:off x="800100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20" name="t171"/>
          <p:cNvSpPr txBox="1"/>
          <p:nvPr/>
        </p:nvSpPr>
        <p:spPr>
          <a:xfrm>
            <a:off x="8412480" y="361188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예상 질문 정리</a:t>
            </a:r>
            <a:endParaRPr lang="en-US" sz="1600" dirty="0"/>
          </a:p>
        </p:txBody>
      </p:sp>
      <p:sp>
        <p:nvSpPr>
          <p:cNvPr id="21" name="t172"/>
          <p:cNvSpPr txBox="1"/>
          <p:nvPr/>
        </p:nvSpPr>
        <p:spPr>
          <a:xfrm>
            <a:off x="800100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</a:t>
            </a:r>
            <a:endParaRPr lang="en-US" sz="1800" dirty="0"/>
          </a:p>
        </p:txBody>
      </p:sp>
      <p:sp>
        <p:nvSpPr>
          <p:cNvPr id="22" name="t173"/>
          <p:cNvSpPr txBox="1"/>
          <p:nvPr/>
        </p:nvSpPr>
        <p:spPr>
          <a:xfrm>
            <a:off x="8412480" y="448056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수치 · 인용은 원문 재확인</a:t>
            </a:r>
            <a:endParaRPr lang="en-US" sz="1600" dirty="0"/>
          </a:p>
        </p:txBody>
      </p:sp>
      <p:sp>
        <p:nvSpPr>
          <p:cNvPr id="2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03  팀플 보고서 작성 방법 · 사례분석 프레임워크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23년을 네 시기로 나누고, 같은 순서로 분석</a:t>
            </a:r>
            <a:endParaRPr lang="en-US" sz="2800" dirty="0"/>
          </a:p>
        </p:txBody>
      </p:sp>
      <p:sp>
        <p:nvSpPr>
          <p:cNvPr id="4" name="t174"/>
          <p:cNvSpPr txBox="1"/>
          <p:nvPr/>
        </p:nvSpPr>
        <p:spPr>
          <a:xfrm>
            <a:off x="685800" y="17830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시기마다</a:t>
            </a:r>
            <a:endParaRPr lang="en-US" sz="1400" dirty="0"/>
          </a:p>
        </p:txBody>
      </p:sp>
      <p:sp>
        <p:nvSpPr>
          <p:cNvPr id="5" name="rr175"/>
          <p:cNvSpPr/>
          <p:nvPr/>
        </p:nvSpPr>
        <p:spPr>
          <a:xfrm>
            <a:off x="1737360" y="1783080"/>
            <a:ext cx="1737360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" name="t176"/>
          <p:cNvSpPr txBox="1"/>
          <p:nvPr/>
        </p:nvSpPr>
        <p:spPr>
          <a:xfrm>
            <a:off x="173736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상황</a:t>
            </a:r>
            <a:endParaRPr lang="en-US" sz="1400" dirty="0"/>
          </a:p>
        </p:txBody>
      </p:sp>
      <p:sp>
        <p:nvSpPr>
          <p:cNvPr id="7" name="t177"/>
          <p:cNvSpPr txBox="1"/>
          <p:nvPr/>
        </p:nvSpPr>
        <p:spPr>
          <a:xfrm>
            <a:off x="347472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rr178"/>
          <p:cNvSpPr/>
          <p:nvPr/>
        </p:nvSpPr>
        <p:spPr>
          <a:xfrm>
            <a:off x="3886200" y="1783080"/>
            <a:ext cx="17373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9" name="t179"/>
          <p:cNvSpPr txBox="1"/>
          <p:nvPr/>
        </p:nvSpPr>
        <p:spPr>
          <a:xfrm>
            <a:off x="388620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리더의 행동</a:t>
            </a:r>
            <a:endParaRPr lang="en-US" sz="1400" dirty="0"/>
          </a:p>
        </p:txBody>
      </p:sp>
      <p:sp>
        <p:nvSpPr>
          <p:cNvPr id="10" name="t180"/>
          <p:cNvSpPr txBox="1"/>
          <p:nvPr/>
        </p:nvSpPr>
        <p:spPr>
          <a:xfrm>
            <a:off x="562356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rr181"/>
          <p:cNvSpPr/>
          <p:nvPr/>
        </p:nvSpPr>
        <p:spPr>
          <a:xfrm>
            <a:off x="6035040" y="1783080"/>
            <a:ext cx="1737360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2" name="t182"/>
          <p:cNvSpPr txBox="1"/>
          <p:nvPr/>
        </p:nvSpPr>
        <p:spPr>
          <a:xfrm>
            <a:off x="603504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성과</a:t>
            </a:r>
            <a:endParaRPr lang="en-US" sz="1400" dirty="0"/>
          </a:p>
        </p:txBody>
      </p:sp>
      <p:sp>
        <p:nvSpPr>
          <p:cNvPr id="13" name="t183"/>
          <p:cNvSpPr txBox="1"/>
          <p:nvPr/>
        </p:nvSpPr>
        <p:spPr>
          <a:xfrm>
            <a:off x="777240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rr184"/>
          <p:cNvSpPr/>
          <p:nvPr/>
        </p:nvSpPr>
        <p:spPr>
          <a:xfrm>
            <a:off x="8183880" y="1783080"/>
            <a:ext cx="1737360" cy="41148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5" name="t185"/>
          <p:cNvSpPr txBox="1"/>
          <p:nvPr/>
        </p:nvSpPr>
        <p:spPr>
          <a:xfrm>
            <a:off x="818388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한계</a:t>
            </a:r>
            <a:endParaRPr lang="en-US" sz="1400" dirty="0"/>
          </a:p>
        </p:txBody>
      </p:sp>
      <p:sp>
        <p:nvSpPr>
          <p:cNvPr id="16" name="l186"/>
          <p:cNvSpPr/>
          <p:nvPr/>
        </p:nvSpPr>
        <p:spPr>
          <a:xfrm>
            <a:off x="685800" y="2606040"/>
            <a:ext cx="10820095" cy="0"/>
          </a:xfrm>
          <a:prstGeom prst="line">
            <a:avLst/>
          </a:prstGeom>
          <a:noFill/>
          <a:ln w="15875">
            <a:solidFill>
              <a:srgbClr val="141414"/>
            </a:solidFill>
            <a:prstDash val="solid"/>
          </a:ln>
        </p:spPr>
      </p:sp>
      <p:sp>
        <p:nvSpPr>
          <p:cNvPr id="17" name="t187"/>
          <p:cNvSpPr txBox="1"/>
          <p:nvPr/>
        </p:nvSpPr>
        <p:spPr>
          <a:xfrm>
            <a:off x="685800" y="271576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시기</a:t>
            </a:r>
            <a:endParaRPr lang="en-US" sz="1300" dirty="0"/>
          </a:p>
        </p:txBody>
      </p:sp>
      <p:sp>
        <p:nvSpPr>
          <p:cNvPr id="18" name="t188"/>
          <p:cNvSpPr txBox="1"/>
          <p:nvPr/>
        </p:nvSpPr>
        <p:spPr>
          <a:xfrm>
            <a:off x="685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상황</a:t>
            </a:r>
            <a:endParaRPr lang="en-US" sz="1300" dirty="0"/>
          </a:p>
        </p:txBody>
      </p:sp>
      <p:sp>
        <p:nvSpPr>
          <p:cNvPr id="19" name="t189"/>
          <p:cNvSpPr txBox="1"/>
          <p:nvPr/>
        </p:nvSpPr>
        <p:spPr>
          <a:xfrm>
            <a:off x="685800" y="42062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분석할 사례</a:t>
            </a:r>
            <a:endParaRPr lang="en-US" sz="1300" dirty="0"/>
          </a:p>
        </p:txBody>
      </p:sp>
      <p:sp>
        <p:nvSpPr>
          <p:cNvPr id="20" name="l190"/>
          <p:cNvSpPr/>
          <p:nvPr/>
        </p:nvSpPr>
        <p:spPr>
          <a:xfrm>
            <a:off x="685800" y="347472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l191"/>
          <p:cNvSpPr/>
          <p:nvPr/>
        </p:nvSpPr>
        <p:spPr>
          <a:xfrm>
            <a:off x="685800" y="411480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t192"/>
          <p:cNvSpPr txBox="1"/>
          <p:nvPr/>
        </p:nvSpPr>
        <p:spPr>
          <a:xfrm>
            <a:off x="2194560" y="2715768"/>
            <a:ext cx="21335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①  위기와 회생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2003–2007</a:t>
            </a:r>
            <a:endParaRPr lang="en-US" sz="1600" dirty="0"/>
          </a:p>
        </p:txBody>
      </p:sp>
      <p:sp>
        <p:nvSpPr>
          <p:cNvPr id="23" name="t193"/>
          <p:cNvSpPr txBox="1"/>
          <p:nvPr/>
        </p:nvSpPr>
        <p:spPr>
          <a:xfrm>
            <a:off x="2194560" y="352044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카드대란, 대규모 적자</a:t>
            </a:r>
            <a:endParaRPr lang="en-US" sz="1400" dirty="0"/>
          </a:p>
        </p:txBody>
      </p:sp>
      <p:sp>
        <p:nvSpPr>
          <p:cNvPr id="24" name="t194"/>
          <p:cNvSpPr txBox="1"/>
          <p:nvPr/>
        </p:nvSpPr>
        <p:spPr>
          <a:xfrm>
            <a:off x="2194560" y="4251960"/>
            <a:ext cx="21335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현대카드M 출시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윤리 원칙 수립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GE와의 제휴</a:t>
            </a:r>
            <a:endParaRPr lang="en-US" sz="1400" dirty="0"/>
          </a:p>
        </p:txBody>
      </p:sp>
      <p:sp>
        <p:nvSpPr>
          <p:cNvPr id="25" name="t195"/>
          <p:cNvSpPr txBox="1"/>
          <p:nvPr/>
        </p:nvSpPr>
        <p:spPr>
          <a:xfrm>
            <a:off x="4556684" y="2715768"/>
            <a:ext cx="21335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②  브랜드 성장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2008–2017</a:t>
            </a:r>
            <a:endParaRPr lang="en-US" sz="1600" dirty="0"/>
          </a:p>
        </p:txBody>
      </p:sp>
      <p:sp>
        <p:nvSpPr>
          <p:cNvPr id="26" name="t196"/>
          <p:cNvSpPr txBox="1"/>
          <p:nvPr/>
        </p:nvSpPr>
        <p:spPr>
          <a:xfrm>
            <a:off x="4556684" y="352044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흑자 안정, 차별화 경쟁</a:t>
            </a:r>
            <a:endParaRPr lang="en-US" sz="1400" dirty="0"/>
          </a:p>
        </p:txBody>
      </p:sp>
      <p:sp>
        <p:nvSpPr>
          <p:cNvPr id="27" name="t197"/>
          <p:cNvSpPr txBox="1"/>
          <p:nvPr/>
        </p:nvSpPr>
        <p:spPr>
          <a:xfrm>
            <a:off x="4556684" y="4251960"/>
            <a:ext cx="21335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문화 마케팅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자율적 조직문화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디지털 전환 선언</a:t>
            </a:r>
            <a:endParaRPr lang="en-US" sz="1400" dirty="0"/>
          </a:p>
        </p:txBody>
      </p:sp>
      <p:sp>
        <p:nvSpPr>
          <p:cNvPr id="28" name="t198"/>
          <p:cNvSpPr txBox="1"/>
          <p:nvPr/>
        </p:nvSpPr>
        <p:spPr>
          <a:xfrm>
            <a:off x="6918808" y="2715768"/>
            <a:ext cx="21335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③  구조조정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2018–2021</a:t>
            </a:r>
            <a:endParaRPr lang="en-US" sz="1600" dirty="0"/>
          </a:p>
        </p:txBody>
      </p:sp>
      <p:sp>
        <p:nvSpPr>
          <p:cNvPr id="29" name="t199"/>
          <p:cNvSpPr txBox="1"/>
          <p:nvPr/>
        </p:nvSpPr>
        <p:spPr>
          <a:xfrm>
            <a:off x="6918808" y="352044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수수료 인하, 실적 악화</a:t>
            </a:r>
            <a:endParaRPr lang="en-US" sz="1400" dirty="0"/>
          </a:p>
        </p:txBody>
      </p:sp>
      <p:sp>
        <p:nvSpPr>
          <p:cNvPr id="30" name="t200"/>
          <p:cNvSpPr txBox="1"/>
          <p:nvPr/>
        </p:nvSpPr>
        <p:spPr>
          <a:xfrm>
            <a:off x="6918808" y="4251960"/>
            <a:ext cx="21335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창사 첫 희망퇴직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코스트코 제휴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데이터 투자</a:t>
            </a:r>
            <a:endParaRPr lang="en-US" sz="1400" dirty="0"/>
          </a:p>
        </p:txBody>
      </p:sp>
      <p:sp>
        <p:nvSpPr>
          <p:cNvPr id="31" name="t201"/>
          <p:cNvSpPr txBox="1"/>
          <p:nvPr/>
        </p:nvSpPr>
        <p:spPr>
          <a:xfrm>
            <a:off x="9280931" y="2715768"/>
            <a:ext cx="21335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④  디지털 전환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2022–현재</a:t>
            </a:r>
            <a:endParaRPr lang="en-US" sz="1600" dirty="0"/>
          </a:p>
        </p:txBody>
      </p:sp>
      <p:sp>
        <p:nvSpPr>
          <p:cNvPr id="32" name="t202"/>
          <p:cNvSpPr txBox="1"/>
          <p:nvPr/>
        </p:nvSpPr>
        <p:spPr>
          <a:xfrm>
            <a:off x="9280931" y="3520440"/>
            <a:ext cx="21335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고금리, 빅테크와의 경쟁</a:t>
            </a:r>
            <a:endParaRPr lang="en-US" sz="1400" dirty="0"/>
          </a:p>
        </p:txBody>
      </p:sp>
      <p:sp>
        <p:nvSpPr>
          <p:cNvPr id="33" name="t203"/>
          <p:cNvSpPr txBox="1"/>
          <p:nvPr/>
        </p:nvSpPr>
        <p:spPr>
          <a:xfrm>
            <a:off x="9280931" y="4251960"/>
            <a:ext cx="21335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리스크 관리 강화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애플페이 도입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AI 플랫폼 수출</a:t>
            </a:r>
            <a:endParaRPr lang="en-US" sz="1400" dirty="0"/>
          </a:p>
        </p:txBody>
      </p:sp>
      <p:sp>
        <p:nvSpPr>
          <p:cNvPr id="34" name="l204"/>
          <p:cNvSpPr/>
          <p:nvPr/>
        </p:nvSpPr>
        <p:spPr>
          <a:xfrm>
            <a:off x="685800" y="562356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03  팀플 보고서 작성 방법 · 이론과의 연계성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두 이론으로 핵심 질문에 답하고, 네 이론으로 보완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이론 출처: 리더십 강의자료 2장 특성이론, 3장 행동이론과 동기부여, 4장 리더십 상황이론, 5장 갈등관리, 6장 권력·협상</a:t>
            </a:r>
            <a:endParaRPr lang="en-US" sz="1000" dirty="0"/>
          </a:p>
        </p:txBody>
      </p:sp>
      <p:sp>
        <p:nvSpPr>
          <p:cNvPr id="5" name="r205"/>
          <p:cNvSpPr/>
          <p:nvPr/>
        </p:nvSpPr>
        <p:spPr>
          <a:xfrm>
            <a:off x="685800" y="1783080"/>
            <a:ext cx="5181448" cy="1874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t206"/>
          <p:cNvSpPr txBox="1"/>
          <p:nvPr/>
        </p:nvSpPr>
        <p:spPr>
          <a:xfrm>
            <a:off x="1051560" y="2057400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리더 행동의 변화</a:t>
            </a:r>
            <a:endParaRPr lang="en-US" sz="1400" dirty="0"/>
          </a:p>
        </p:txBody>
      </p:sp>
      <p:sp>
        <p:nvSpPr>
          <p:cNvPr id="7" name="t207"/>
          <p:cNvSpPr txBox="1"/>
          <p:nvPr/>
        </p:nvSpPr>
        <p:spPr>
          <a:xfrm>
            <a:off x="1051560" y="237744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House 경로-목표이론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4장</a:t>
            </a:r>
            <a:endParaRPr lang="en-US" sz="2200" dirty="0"/>
          </a:p>
        </p:txBody>
      </p:sp>
      <p:sp>
        <p:nvSpPr>
          <p:cNvPr id="8" name="t208"/>
          <p:cNvSpPr txBox="1"/>
          <p:nvPr/>
        </p:nvSpPr>
        <p:spPr>
          <a:xfrm>
            <a:off x="1051560" y="2880360"/>
            <a:ext cx="444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위기 때는 지시적, 전환기에는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성취지향적 리더십을 보였는가</a:t>
            </a:r>
            <a:endParaRPr lang="en-US" sz="1500" dirty="0"/>
          </a:p>
        </p:txBody>
      </p:sp>
      <p:sp>
        <p:nvSpPr>
          <p:cNvPr id="9" name="r209"/>
          <p:cNvSpPr/>
          <p:nvPr/>
        </p:nvSpPr>
        <p:spPr>
          <a:xfrm>
            <a:off x="6324448" y="1783080"/>
            <a:ext cx="5181448" cy="1874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210"/>
          <p:cNvSpPr txBox="1"/>
          <p:nvPr/>
        </p:nvSpPr>
        <p:spPr>
          <a:xfrm>
            <a:off x="6690208" y="2057400"/>
            <a:ext cx="44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조직 상황의 변화</a:t>
            </a:r>
            <a:endParaRPr lang="en-US" sz="1400" dirty="0"/>
          </a:p>
        </p:txBody>
      </p:sp>
      <p:sp>
        <p:nvSpPr>
          <p:cNvPr id="11" name="t211"/>
          <p:cNvSpPr txBox="1"/>
          <p:nvPr/>
        </p:nvSpPr>
        <p:spPr>
          <a:xfrm>
            <a:off x="6690208" y="237744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Fiedler 상황 모델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4장</a:t>
            </a:r>
            <a:endParaRPr lang="en-US" sz="2200" dirty="0"/>
          </a:p>
        </p:txBody>
      </p:sp>
      <p:sp>
        <p:nvSpPr>
          <p:cNvPr id="12" name="t212"/>
          <p:cNvSpPr txBox="1"/>
          <p:nvPr/>
        </p:nvSpPr>
        <p:spPr>
          <a:xfrm>
            <a:off x="6690208" y="2880360"/>
            <a:ext cx="444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GE 제휴와 윤리 원칙이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과업구조 · 직위권력을 바꾸었는가</a:t>
            </a:r>
            <a:endParaRPr lang="en-US" sz="1500" dirty="0"/>
          </a:p>
        </p:txBody>
      </p:sp>
      <p:sp>
        <p:nvSpPr>
          <p:cNvPr id="13" name="l213"/>
          <p:cNvSpPr/>
          <p:nvPr/>
        </p:nvSpPr>
        <p:spPr>
          <a:xfrm>
            <a:off x="685800" y="402336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214"/>
          <p:cNvSpPr txBox="1"/>
          <p:nvPr/>
        </p:nvSpPr>
        <p:spPr>
          <a:xfrm>
            <a:off x="685800" y="42976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특성이론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2장</a:t>
            </a:r>
            <a:endParaRPr lang="en-US" sz="1700" dirty="0"/>
          </a:p>
        </p:txBody>
      </p:sp>
      <p:sp>
        <p:nvSpPr>
          <p:cNvPr id="15" name="t215"/>
          <p:cNvSpPr txBox="1"/>
          <p:nvPr/>
        </p:nvSpPr>
        <p:spPr>
          <a:xfrm>
            <a:off x="685800" y="4754880"/>
            <a:ext cx="2384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경험에 대한 개방성과 위험 감수 성향이 결정에 드러났나</a:t>
            </a:r>
            <a:endParaRPr lang="en-US" sz="1400" dirty="0"/>
          </a:p>
        </p:txBody>
      </p:sp>
      <p:sp>
        <p:nvSpPr>
          <p:cNvPr id="16" name="t216"/>
          <p:cNvSpPr txBox="1"/>
          <p:nvPr/>
        </p:nvSpPr>
        <p:spPr>
          <a:xfrm>
            <a:off x="3390824" y="42976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행동이론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3장</a:t>
            </a:r>
            <a:endParaRPr lang="en-US" sz="1700" dirty="0"/>
          </a:p>
        </p:txBody>
      </p:sp>
      <p:sp>
        <p:nvSpPr>
          <p:cNvPr id="17" name="t217"/>
          <p:cNvSpPr txBox="1"/>
          <p:nvPr/>
        </p:nvSpPr>
        <p:spPr>
          <a:xfrm>
            <a:off x="3390824" y="4754880"/>
            <a:ext cx="2384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구조주도(원칙 · 디자인 관리)와 배려가 함께 나타났나</a:t>
            </a:r>
            <a:endParaRPr lang="en-US" sz="1400" dirty="0"/>
          </a:p>
        </p:txBody>
      </p:sp>
      <p:sp>
        <p:nvSpPr>
          <p:cNvPr id="18" name="t218"/>
          <p:cNvSpPr txBox="1"/>
          <p:nvPr/>
        </p:nvSpPr>
        <p:spPr>
          <a:xfrm>
            <a:off x="6095848" y="42976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갈등관리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5장</a:t>
            </a:r>
            <a:endParaRPr lang="en-US" sz="1700" dirty="0"/>
          </a:p>
        </p:txBody>
      </p:sp>
      <p:sp>
        <p:nvSpPr>
          <p:cNvPr id="19" name="t219"/>
          <p:cNvSpPr txBox="1"/>
          <p:nvPr/>
        </p:nvSpPr>
        <p:spPr>
          <a:xfrm>
            <a:off x="6095848" y="4754880"/>
            <a:ext cx="2384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희망퇴직과 노조 면담에서 어떤 스타일로 대응했나</a:t>
            </a:r>
            <a:endParaRPr lang="en-US" sz="1400" dirty="0"/>
          </a:p>
        </p:txBody>
      </p:sp>
      <p:sp>
        <p:nvSpPr>
          <p:cNvPr id="20" name="t220"/>
          <p:cNvSpPr txBox="1"/>
          <p:nvPr/>
        </p:nvSpPr>
        <p:spPr>
          <a:xfrm>
            <a:off x="8800871" y="4297680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권력 · 협상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  6장</a:t>
            </a:r>
            <a:endParaRPr lang="en-US" sz="1700" dirty="0"/>
          </a:p>
        </p:txBody>
      </p:sp>
      <p:sp>
        <p:nvSpPr>
          <p:cNvPr id="21" name="t221"/>
          <p:cNvSpPr txBox="1"/>
          <p:nvPr/>
        </p:nvSpPr>
        <p:spPr>
          <a:xfrm>
            <a:off x="8800871" y="4754880"/>
            <a:ext cx="2384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직위 · 관계에서 나온 권력과 애플페이 협상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04  조원 현황 및 역할 배분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시기를 나눠 맡고, PPT와 발표는 담당자를 정함</a:t>
            </a:r>
            <a:endParaRPr lang="en-US" sz="2800" dirty="0"/>
          </a:p>
        </p:txBody>
      </p:sp>
      <p:sp>
        <p:nvSpPr>
          <p:cNvPr id="4" name="t222"/>
          <p:cNvSpPr txBox="1"/>
          <p:nvPr/>
        </p:nvSpPr>
        <p:spPr>
          <a:xfrm>
            <a:off x="68580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조원</a:t>
            </a:r>
            <a:endParaRPr lang="en-US" sz="1300" dirty="0"/>
          </a:p>
        </p:txBody>
      </p:sp>
      <p:sp>
        <p:nvSpPr>
          <p:cNvPr id="5" name="t223"/>
          <p:cNvSpPr txBox="1"/>
          <p:nvPr/>
        </p:nvSpPr>
        <p:spPr>
          <a:xfrm>
            <a:off x="2240280" y="1783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 시기</a:t>
            </a:r>
            <a:endParaRPr lang="en-US" sz="1300" dirty="0"/>
          </a:p>
        </p:txBody>
      </p:sp>
      <p:sp>
        <p:nvSpPr>
          <p:cNvPr id="6" name="t224"/>
          <p:cNvSpPr txBox="1"/>
          <p:nvPr/>
        </p:nvSpPr>
        <p:spPr>
          <a:xfrm>
            <a:off x="4983480" y="1783080"/>
            <a:ext cx="1630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자료조사</a:t>
            </a:r>
            <a:endParaRPr lang="en-US" sz="1300" dirty="0"/>
          </a:p>
        </p:txBody>
      </p:sp>
      <p:sp>
        <p:nvSpPr>
          <p:cNvPr id="7" name="t225"/>
          <p:cNvSpPr txBox="1"/>
          <p:nvPr/>
        </p:nvSpPr>
        <p:spPr>
          <a:xfrm>
            <a:off x="6614084" y="1783080"/>
            <a:ext cx="1630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자료분석</a:t>
            </a:r>
            <a:endParaRPr lang="en-US" sz="1300" dirty="0"/>
          </a:p>
        </p:txBody>
      </p:sp>
      <p:sp>
        <p:nvSpPr>
          <p:cNvPr id="8" name="t226"/>
          <p:cNvSpPr txBox="1"/>
          <p:nvPr/>
        </p:nvSpPr>
        <p:spPr>
          <a:xfrm>
            <a:off x="8244688" y="1783080"/>
            <a:ext cx="1630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PPT 작성</a:t>
            </a:r>
            <a:endParaRPr lang="en-US" sz="1300" dirty="0"/>
          </a:p>
        </p:txBody>
      </p:sp>
      <p:sp>
        <p:nvSpPr>
          <p:cNvPr id="9" name="t227"/>
          <p:cNvSpPr txBox="1"/>
          <p:nvPr/>
        </p:nvSpPr>
        <p:spPr>
          <a:xfrm>
            <a:off x="9875291" y="1783080"/>
            <a:ext cx="16306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발표</a:t>
            </a:r>
            <a:endParaRPr lang="en-US" sz="1300" dirty="0"/>
          </a:p>
        </p:txBody>
      </p:sp>
      <p:sp>
        <p:nvSpPr>
          <p:cNvPr id="10" name="l228"/>
          <p:cNvSpPr/>
          <p:nvPr/>
        </p:nvSpPr>
        <p:spPr>
          <a:xfrm>
            <a:off x="685800" y="2286000"/>
            <a:ext cx="10820095" cy="0"/>
          </a:xfrm>
          <a:prstGeom prst="line">
            <a:avLst/>
          </a:prstGeom>
          <a:noFill/>
          <a:ln w="15875">
            <a:solidFill>
              <a:srgbClr val="141414"/>
            </a:solidFill>
            <a:prstDash val="solid"/>
          </a:ln>
        </p:spPr>
      </p:sp>
      <p:sp>
        <p:nvSpPr>
          <p:cNvPr id="11" name="t229"/>
          <p:cNvSpPr txBox="1"/>
          <p:nvPr/>
        </p:nvSpPr>
        <p:spPr>
          <a:xfrm>
            <a:off x="685800" y="2286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조원1</a:t>
            </a:r>
            <a:endParaRPr lang="en-US" sz="1800" dirty="0"/>
          </a:p>
        </p:txBody>
      </p:sp>
      <p:sp>
        <p:nvSpPr>
          <p:cNvPr id="12" name="t230"/>
          <p:cNvSpPr txBox="1"/>
          <p:nvPr/>
        </p:nvSpPr>
        <p:spPr>
          <a:xfrm>
            <a:off x="2240280" y="22860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①  위기와 회생</a:t>
            </a:r>
            <a:endParaRPr lang="en-US" sz="1600" dirty="0"/>
          </a:p>
        </p:txBody>
      </p:sp>
      <p:sp>
        <p:nvSpPr>
          <p:cNvPr id="13" name="d231"/>
          <p:cNvSpPr/>
          <p:nvPr/>
        </p:nvSpPr>
        <p:spPr>
          <a:xfrm>
            <a:off x="5725630" y="262432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14" name="d232"/>
          <p:cNvSpPr/>
          <p:nvPr/>
        </p:nvSpPr>
        <p:spPr>
          <a:xfrm>
            <a:off x="7356234" y="262432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15" name="d233"/>
          <p:cNvSpPr/>
          <p:nvPr/>
        </p:nvSpPr>
        <p:spPr>
          <a:xfrm>
            <a:off x="10571721" y="257860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l234"/>
          <p:cNvSpPr/>
          <p:nvPr/>
        </p:nvSpPr>
        <p:spPr>
          <a:xfrm>
            <a:off x="685800" y="310896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t235"/>
          <p:cNvSpPr txBox="1"/>
          <p:nvPr/>
        </p:nvSpPr>
        <p:spPr>
          <a:xfrm>
            <a:off x="685800" y="3108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조원2</a:t>
            </a:r>
            <a:endParaRPr lang="en-US" sz="1800" dirty="0"/>
          </a:p>
        </p:txBody>
      </p:sp>
      <p:sp>
        <p:nvSpPr>
          <p:cNvPr id="18" name="t236"/>
          <p:cNvSpPr txBox="1"/>
          <p:nvPr/>
        </p:nvSpPr>
        <p:spPr>
          <a:xfrm>
            <a:off x="2240280" y="3108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②  브랜드 성장</a:t>
            </a:r>
            <a:endParaRPr lang="en-US" sz="1600" dirty="0"/>
          </a:p>
        </p:txBody>
      </p:sp>
      <p:sp>
        <p:nvSpPr>
          <p:cNvPr id="19" name="d237"/>
          <p:cNvSpPr/>
          <p:nvPr/>
        </p:nvSpPr>
        <p:spPr>
          <a:xfrm>
            <a:off x="5725630" y="344728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20" name="d238"/>
          <p:cNvSpPr/>
          <p:nvPr/>
        </p:nvSpPr>
        <p:spPr>
          <a:xfrm>
            <a:off x="7356234" y="344728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21" name="l239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t240"/>
          <p:cNvSpPr txBox="1"/>
          <p:nvPr/>
        </p:nvSpPr>
        <p:spPr>
          <a:xfrm>
            <a:off x="685800" y="39319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조원3</a:t>
            </a:r>
            <a:endParaRPr lang="en-US" sz="1800" dirty="0"/>
          </a:p>
        </p:txBody>
      </p:sp>
      <p:sp>
        <p:nvSpPr>
          <p:cNvPr id="23" name="t241"/>
          <p:cNvSpPr txBox="1"/>
          <p:nvPr/>
        </p:nvSpPr>
        <p:spPr>
          <a:xfrm>
            <a:off x="2240280" y="39319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③  구조조정</a:t>
            </a:r>
            <a:endParaRPr lang="en-US" sz="1600" dirty="0"/>
          </a:p>
        </p:txBody>
      </p:sp>
      <p:sp>
        <p:nvSpPr>
          <p:cNvPr id="24" name="d242"/>
          <p:cNvSpPr/>
          <p:nvPr/>
        </p:nvSpPr>
        <p:spPr>
          <a:xfrm>
            <a:off x="5725630" y="427024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25" name="d243"/>
          <p:cNvSpPr/>
          <p:nvPr/>
        </p:nvSpPr>
        <p:spPr>
          <a:xfrm>
            <a:off x="7356234" y="427024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26" name="d244"/>
          <p:cNvSpPr/>
          <p:nvPr/>
        </p:nvSpPr>
        <p:spPr>
          <a:xfrm>
            <a:off x="8941118" y="422452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l245"/>
          <p:cNvSpPr/>
          <p:nvPr/>
        </p:nvSpPr>
        <p:spPr>
          <a:xfrm>
            <a:off x="685800" y="475488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246"/>
          <p:cNvSpPr txBox="1"/>
          <p:nvPr/>
        </p:nvSpPr>
        <p:spPr>
          <a:xfrm>
            <a:off x="685800" y="47548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조원4</a:t>
            </a:r>
            <a:endParaRPr lang="en-US" sz="1800" dirty="0"/>
          </a:p>
        </p:txBody>
      </p:sp>
      <p:sp>
        <p:nvSpPr>
          <p:cNvPr id="29" name="t247"/>
          <p:cNvSpPr txBox="1"/>
          <p:nvPr/>
        </p:nvSpPr>
        <p:spPr>
          <a:xfrm>
            <a:off x="2240280" y="4754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④  디지털 전환</a:t>
            </a:r>
            <a:endParaRPr lang="en-US" sz="1600" dirty="0"/>
          </a:p>
        </p:txBody>
      </p:sp>
      <p:sp>
        <p:nvSpPr>
          <p:cNvPr id="30" name="d248"/>
          <p:cNvSpPr/>
          <p:nvPr/>
        </p:nvSpPr>
        <p:spPr>
          <a:xfrm>
            <a:off x="5725630" y="509320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31" name="d249"/>
          <p:cNvSpPr/>
          <p:nvPr/>
        </p:nvSpPr>
        <p:spPr>
          <a:xfrm>
            <a:off x="7356234" y="509320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32" name="d250"/>
          <p:cNvSpPr/>
          <p:nvPr/>
        </p:nvSpPr>
        <p:spPr>
          <a:xfrm>
            <a:off x="10571721" y="504748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l251"/>
          <p:cNvSpPr/>
          <p:nvPr/>
        </p:nvSpPr>
        <p:spPr>
          <a:xfrm>
            <a:off x="685800" y="557784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d252"/>
          <p:cNvSpPr/>
          <p:nvPr/>
        </p:nvSpPr>
        <p:spPr>
          <a:xfrm>
            <a:off x="685800" y="587044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253"/>
          <p:cNvSpPr txBox="1"/>
          <p:nvPr/>
        </p:nvSpPr>
        <p:spPr>
          <a:xfrm>
            <a:off x="105156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담당자</a:t>
            </a:r>
            <a:endParaRPr lang="en-US" sz="1300" dirty="0"/>
          </a:p>
        </p:txBody>
      </p:sp>
      <p:sp>
        <p:nvSpPr>
          <p:cNvPr id="36" name="d254"/>
          <p:cNvSpPr/>
          <p:nvPr/>
        </p:nvSpPr>
        <p:spPr>
          <a:xfrm>
            <a:off x="2194560" y="5916168"/>
            <a:ext cx="146304" cy="146304"/>
          </a:xfrm>
          <a:prstGeom prst="ellipse">
            <a:avLst/>
          </a:prstGeom>
          <a:solidFill>
            <a:srgbClr val="BDBDBD"/>
          </a:solidFill>
          <a:ln/>
        </p:spPr>
      </p:sp>
      <p:sp>
        <p:nvSpPr>
          <p:cNvPr id="37" name="t255"/>
          <p:cNvSpPr txBox="1"/>
          <p:nvPr/>
        </p:nvSpPr>
        <p:spPr>
          <a:xfrm>
            <a:off x="2468880" y="5852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자기 시기 담당</a:t>
            </a:r>
            <a:endParaRPr lang="en-US" sz="1300" dirty="0"/>
          </a:p>
        </p:txBody>
      </p:sp>
      <p:sp>
        <p:nvSpPr>
          <p:cNvPr id="38" name="t256"/>
          <p:cNvSpPr txBox="1"/>
          <p:nvPr/>
        </p:nvSpPr>
        <p:spPr>
          <a:xfrm>
            <a:off x="4800600" y="5852160"/>
            <a:ext cx="6705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발표자 2명 · 자료와 수치 최종 확인은 전원 교차 검토</a:t>
            </a:r>
            <a:endParaRPr lang="en-US" sz="1300" dirty="0"/>
          </a:p>
        </p:txBody>
      </p:sp>
      <p:sp>
        <p:nvSpPr>
          <p:cNvPr id="40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05  팀플 추진 일정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11월 26일 보고서 제출, 11월 30일 최종 발표</a:t>
            </a:r>
            <a:endParaRPr lang="en-US" sz="2800" dirty="0"/>
          </a:p>
        </p:txBody>
      </p:sp>
      <p:sp>
        <p:nvSpPr>
          <p:cNvPr id="4" name="t257"/>
          <p:cNvSpPr txBox="1"/>
          <p:nvPr/>
        </p:nvSpPr>
        <p:spPr>
          <a:xfrm>
            <a:off x="3611880" y="1783080"/>
            <a:ext cx="12394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1주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10.26–11.1</a:t>
            </a:r>
            <a:endParaRPr lang="en-US" sz="1400" dirty="0"/>
          </a:p>
        </p:txBody>
      </p:sp>
      <p:sp>
        <p:nvSpPr>
          <p:cNvPr id="5" name="t258"/>
          <p:cNvSpPr txBox="1"/>
          <p:nvPr/>
        </p:nvSpPr>
        <p:spPr>
          <a:xfrm>
            <a:off x="4942789" y="1783080"/>
            <a:ext cx="12394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2주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11.2–11.8</a:t>
            </a:r>
            <a:endParaRPr lang="en-US" sz="1400" dirty="0"/>
          </a:p>
        </p:txBody>
      </p:sp>
      <p:sp>
        <p:nvSpPr>
          <p:cNvPr id="6" name="t259"/>
          <p:cNvSpPr txBox="1"/>
          <p:nvPr/>
        </p:nvSpPr>
        <p:spPr>
          <a:xfrm>
            <a:off x="6273698" y="1783080"/>
            <a:ext cx="12394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3주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11.9–11.15</a:t>
            </a:r>
            <a:endParaRPr lang="en-US" sz="1400" dirty="0"/>
          </a:p>
        </p:txBody>
      </p:sp>
      <p:sp>
        <p:nvSpPr>
          <p:cNvPr id="7" name="t260"/>
          <p:cNvSpPr txBox="1"/>
          <p:nvPr/>
        </p:nvSpPr>
        <p:spPr>
          <a:xfrm>
            <a:off x="7604608" y="1783080"/>
            <a:ext cx="12394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4주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11.16–11.22</a:t>
            </a:r>
            <a:endParaRPr lang="en-US" sz="1400" dirty="0"/>
          </a:p>
        </p:txBody>
      </p:sp>
      <p:sp>
        <p:nvSpPr>
          <p:cNvPr id="8" name="t261"/>
          <p:cNvSpPr txBox="1"/>
          <p:nvPr/>
        </p:nvSpPr>
        <p:spPr>
          <a:xfrm>
            <a:off x="8935517" y="1783080"/>
            <a:ext cx="12394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5주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11.23–11.29</a:t>
            </a:r>
            <a:endParaRPr lang="en-US" sz="1400" dirty="0"/>
          </a:p>
        </p:txBody>
      </p:sp>
      <p:sp>
        <p:nvSpPr>
          <p:cNvPr id="9" name="t262"/>
          <p:cNvSpPr txBox="1"/>
          <p:nvPr/>
        </p:nvSpPr>
        <p:spPr>
          <a:xfrm>
            <a:off x="10266426" y="1783080"/>
            <a:ext cx="123946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발표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11.30</a:t>
            </a:r>
            <a:endParaRPr lang="en-US" sz="1400" dirty="0"/>
          </a:p>
        </p:txBody>
      </p:sp>
      <p:sp>
        <p:nvSpPr>
          <p:cNvPr id="10" name="l263"/>
          <p:cNvSpPr/>
          <p:nvPr/>
        </p:nvSpPr>
        <p:spPr>
          <a:xfrm>
            <a:off x="685800" y="2377440"/>
            <a:ext cx="10820095" cy="0"/>
          </a:xfrm>
          <a:prstGeom prst="line">
            <a:avLst/>
          </a:prstGeom>
          <a:noFill/>
          <a:ln w="15875">
            <a:solidFill>
              <a:srgbClr val="141414"/>
            </a:solidFill>
            <a:prstDash val="solid"/>
          </a:ln>
        </p:spPr>
      </p:sp>
      <p:sp>
        <p:nvSpPr>
          <p:cNvPr id="11" name="l264"/>
          <p:cNvSpPr/>
          <p:nvPr/>
        </p:nvSpPr>
        <p:spPr>
          <a:xfrm>
            <a:off x="4851349" y="2468880"/>
            <a:ext cx="0" cy="301752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2" name="l265"/>
          <p:cNvSpPr/>
          <p:nvPr/>
        </p:nvSpPr>
        <p:spPr>
          <a:xfrm>
            <a:off x="6182258" y="2468880"/>
            <a:ext cx="0" cy="301752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3" name="l266"/>
          <p:cNvSpPr/>
          <p:nvPr/>
        </p:nvSpPr>
        <p:spPr>
          <a:xfrm>
            <a:off x="7513168" y="2468880"/>
            <a:ext cx="0" cy="301752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4" name="l267"/>
          <p:cNvSpPr/>
          <p:nvPr/>
        </p:nvSpPr>
        <p:spPr>
          <a:xfrm>
            <a:off x="8844077" y="2468880"/>
            <a:ext cx="0" cy="301752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5" name="l268"/>
          <p:cNvSpPr/>
          <p:nvPr/>
        </p:nvSpPr>
        <p:spPr>
          <a:xfrm>
            <a:off x="10174986" y="2468880"/>
            <a:ext cx="0" cy="3017520"/>
          </a:xfrm>
          <a:prstGeom prst="line">
            <a:avLst/>
          </a:prstGeom>
          <a:noFill/>
          <a:ln w="9525">
            <a:solidFill>
              <a:srgbClr val="ECECEC"/>
            </a:solidFill>
            <a:prstDash val="solid"/>
          </a:ln>
        </p:spPr>
      </p:sp>
      <p:sp>
        <p:nvSpPr>
          <p:cNvPr id="16" name="t269"/>
          <p:cNvSpPr txBox="1"/>
          <p:nvPr/>
        </p:nvSpPr>
        <p:spPr>
          <a:xfrm>
            <a:off x="685800" y="24688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계획 발표 · 피드백 반영</a:t>
            </a:r>
            <a:endParaRPr lang="en-US" sz="1500" dirty="0"/>
          </a:p>
        </p:txBody>
      </p:sp>
      <p:sp>
        <p:nvSpPr>
          <p:cNvPr id="17" name="rr270"/>
          <p:cNvSpPr/>
          <p:nvPr/>
        </p:nvSpPr>
        <p:spPr>
          <a:xfrm>
            <a:off x="3593592" y="2610612"/>
            <a:ext cx="1184605" cy="219456"/>
          </a:xfrm>
          <a:prstGeom prst="roundRect">
            <a:avLst>
              <a:gd name="adj" fmla="val 20833"/>
            </a:avLst>
          </a:prstGeom>
          <a:solidFill>
            <a:srgbClr val="BDBDBD"/>
          </a:solidFill>
          <a:ln/>
        </p:spPr>
      </p:sp>
      <p:sp>
        <p:nvSpPr>
          <p:cNvPr id="18" name="t271"/>
          <p:cNvSpPr txBox="1"/>
          <p:nvPr/>
        </p:nvSpPr>
        <p:spPr>
          <a:xfrm>
            <a:off x="685800" y="2971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자료 수집</a:t>
            </a:r>
            <a:endParaRPr lang="en-US" sz="1500" dirty="0"/>
          </a:p>
        </p:txBody>
      </p:sp>
      <p:sp>
        <p:nvSpPr>
          <p:cNvPr id="19" name="rr272"/>
          <p:cNvSpPr/>
          <p:nvPr/>
        </p:nvSpPr>
        <p:spPr>
          <a:xfrm>
            <a:off x="3593592" y="3113532"/>
            <a:ext cx="2515514" cy="219456"/>
          </a:xfrm>
          <a:prstGeom prst="roundRect">
            <a:avLst>
              <a:gd name="adj" fmla="val 20833"/>
            </a:avLst>
          </a:prstGeom>
          <a:solidFill>
            <a:srgbClr val="BDBDBD"/>
          </a:solidFill>
          <a:ln/>
        </p:spPr>
      </p:sp>
      <p:sp>
        <p:nvSpPr>
          <p:cNvPr id="20" name="t273"/>
          <p:cNvSpPr txBox="1"/>
          <p:nvPr/>
        </p:nvSpPr>
        <p:spPr>
          <a:xfrm>
            <a:off x="685800" y="34747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시기별 사례 분석</a:t>
            </a:r>
            <a:endParaRPr lang="en-US" sz="1500" dirty="0"/>
          </a:p>
        </p:txBody>
      </p:sp>
      <p:sp>
        <p:nvSpPr>
          <p:cNvPr id="21" name="rr274"/>
          <p:cNvSpPr/>
          <p:nvPr/>
        </p:nvSpPr>
        <p:spPr>
          <a:xfrm>
            <a:off x="4924501" y="3616452"/>
            <a:ext cx="2515514" cy="219456"/>
          </a:xfrm>
          <a:prstGeom prst="roundRect">
            <a:avLst>
              <a:gd name="adj" fmla="val 20833"/>
            </a:avLst>
          </a:prstGeom>
          <a:solidFill>
            <a:srgbClr val="BDBDBD"/>
          </a:solidFill>
          <a:ln/>
        </p:spPr>
      </p:sp>
      <p:sp>
        <p:nvSpPr>
          <p:cNvPr id="22" name="t275"/>
          <p:cNvSpPr txBox="1"/>
          <p:nvPr/>
        </p:nvSpPr>
        <p:spPr>
          <a:xfrm>
            <a:off x="685800" y="39776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이론 연계 · 평가</a:t>
            </a:r>
            <a:endParaRPr lang="en-US" sz="1500" dirty="0"/>
          </a:p>
        </p:txBody>
      </p:sp>
      <p:sp>
        <p:nvSpPr>
          <p:cNvPr id="23" name="rr276"/>
          <p:cNvSpPr/>
          <p:nvPr/>
        </p:nvSpPr>
        <p:spPr>
          <a:xfrm>
            <a:off x="6255410" y="4119372"/>
            <a:ext cx="2515514" cy="219456"/>
          </a:xfrm>
          <a:prstGeom prst="roundRect">
            <a:avLst>
              <a:gd name="adj" fmla="val 20833"/>
            </a:avLst>
          </a:prstGeom>
          <a:solidFill>
            <a:srgbClr val="BDBDBD"/>
          </a:solidFill>
          <a:ln/>
        </p:spPr>
      </p:sp>
      <p:sp>
        <p:nvSpPr>
          <p:cNvPr id="24" name="t277"/>
          <p:cNvSpPr txBox="1"/>
          <p:nvPr/>
        </p:nvSpPr>
        <p:spPr>
          <a:xfrm>
            <a:off x="685800" y="4480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보고서 작성 · 검토</a:t>
            </a:r>
            <a:endParaRPr lang="en-US" sz="1500" dirty="0"/>
          </a:p>
        </p:txBody>
      </p:sp>
      <p:sp>
        <p:nvSpPr>
          <p:cNvPr id="25" name="rr278"/>
          <p:cNvSpPr/>
          <p:nvPr/>
        </p:nvSpPr>
        <p:spPr>
          <a:xfrm>
            <a:off x="7586320" y="4622292"/>
            <a:ext cx="1945125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</p:sp>
      <p:sp>
        <p:nvSpPr>
          <p:cNvPr id="26" name="t279"/>
          <p:cNvSpPr txBox="1"/>
          <p:nvPr/>
        </p:nvSpPr>
        <p:spPr>
          <a:xfrm>
            <a:off x="685800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발표 자료 · 리허설</a:t>
            </a:r>
            <a:endParaRPr lang="en-US" sz="1500" dirty="0"/>
          </a:p>
        </p:txBody>
      </p:sp>
      <p:sp>
        <p:nvSpPr>
          <p:cNvPr id="27" name="rr280"/>
          <p:cNvSpPr/>
          <p:nvPr/>
        </p:nvSpPr>
        <p:spPr>
          <a:xfrm>
            <a:off x="8917229" y="5125212"/>
            <a:ext cx="1850060" cy="219456"/>
          </a:xfrm>
          <a:prstGeom prst="roundRect">
            <a:avLst>
              <a:gd name="adj" fmla="val 20833"/>
            </a:avLst>
          </a:prstGeom>
          <a:solidFill>
            <a:schemeClr val="tx1"/>
          </a:solidFill>
          <a:ln/>
        </p:spPr>
      </p:sp>
      <p:sp>
        <p:nvSpPr>
          <p:cNvPr id="28" name="ms-4"/>
          <p:cNvSpPr/>
          <p:nvPr/>
        </p:nvSpPr>
        <p:spPr>
          <a:xfrm>
            <a:off x="9467436" y="4594860"/>
            <a:ext cx="274320" cy="27432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29" name="ms-5"/>
          <p:cNvSpPr/>
          <p:nvPr/>
        </p:nvSpPr>
        <p:spPr>
          <a:xfrm>
            <a:off x="10703281" y="5097780"/>
            <a:ext cx="274320" cy="27432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0" name="l281"/>
          <p:cNvSpPr/>
          <p:nvPr/>
        </p:nvSpPr>
        <p:spPr>
          <a:xfrm>
            <a:off x="685800" y="5623560"/>
            <a:ext cx="108200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ms-legend"/>
          <p:cNvSpPr/>
          <p:nvPr/>
        </p:nvSpPr>
        <p:spPr>
          <a:xfrm>
            <a:off x="685800" y="5897880"/>
            <a:ext cx="219456" cy="21945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2" name="t282"/>
          <p:cNvSpPr txBox="1"/>
          <p:nvPr/>
        </p:nvSpPr>
        <p:spPr>
          <a:xfrm>
            <a:off x="1051560" y="585216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11.26(목) 최종보고서 제출   ·   11.30(월) 최종 발표</a:t>
            </a:r>
            <a:endParaRPr lang="en-US" sz="1400" dirty="0"/>
          </a:p>
        </p:txBody>
      </p:sp>
      <p:sp>
        <p:nvSpPr>
          <p:cNvPr id="33" name="t283"/>
          <p:cNvSpPr txBox="1"/>
          <p:nvPr/>
        </p:nvSpPr>
        <p:spPr>
          <a:xfrm>
            <a:off x="7086600" y="5852160"/>
            <a:ext cx="36877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매주 1회 정기 회의로 진행 상황 점검</a:t>
            </a:r>
            <a:endParaRPr lang="en-US" sz="1300" dirty="0"/>
          </a:p>
        </p:txBody>
      </p:sp>
      <p:sp>
        <p:nvSpPr>
          <p:cNvPr id="35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부록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768096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참고자료</a:t>
            </a:r>
            <a:endParaRPr lang="en-US" sz="2800" dirty="0"/>
          </a:p>
        </p:txBody>
      </p:sp>
      <p:sp>
        <p:nvSpPr>
          <p:cNvPr id="4" name="t284"/>
          <p:cNvSpPr txBox="1"/>
          <p:nvPr/>
        </p:nvSpPr>
        <p:spPr>
          <a:xfrm>
            <a:off x="685800" y="1691640"/>
            <a:ext cx="5044288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공시 · 인터뷰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현대카드, 「반기보고서」 제32기 2분기, 2026.8.14 제출, DART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McKinsey &amp; Company, After a decade of innovation, Hyundai Card seeks the next horizon (2025.7.23)</a:t>
            </a:r>
            <a:endParaRPr lang="en-US" sz="1200" dirty="0"/>
          </a:p>
          <a:p>
            <a:pPr indent="0" marL="0">
              <a:lnSpc>
                <a:spcPct val="110000"/>
              </a:lnSpc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인물 · 이력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한경비즈니스, 2021 파워 금융인 30: 정태영 현대카드 부회장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서울신문, 금융 CEO에게 묻다: 정태영 현대카드 사장 (2010)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비즈니스포스트, Who Is? 정태영 현대카드 대표이사 부회장</a:t>
            </a:r>
            <a:endParaRPr lang="en-US" sz="1200" dirty="0"/>
          </a:p>
          <a:p>
            <a:pPr indent="0" marL="0">
              <a:lnSpc>
                <a:spcPct val="110000"/>
              </a:lnSpc>
              <a:spcBef>
                <a:spcPts val="10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실적 · 지분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딜사이트, 현대카드 지난해 순익 3,503억 (2026.1)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SBS Biz, 현대카드 상반기 순이익 1,852억원 (2026.7)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한국경제, 현대커머셜 현대카드 지분 5% 추가 확보 (2022.10)</a:t>
            </a:r>
            <a:endParaRPr lang="en-US" sz="1200" dirty="0"/>
          </a:p>
        </p:txBody>
      </p:sp>
      <p:sp>
        <p:nvSpPr>
          <p:cNvPr id="5" name="t285"/>
          <p:cNvSpPr txBox="1"/>
          <p:nvPr/>
        </p:nvSpPr>
        <p:spPr>
          <a:xfrm>
            <a:off x="6461608" y="1691640"/>
            <a:ext cx="5044288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시기별 사례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프라임경제, CEO리포트: ‘현대카드스러움’을 만들다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포브스코리아, 성공요인? 윤리경영이 답이다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한국경제, 카드업계 구조조정 칼바람…현대카드 200여명 희망퇴직 (2019.1)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더팩트, ‘나홀로 성장’ 이끈 정태영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더팩트, 애플페이 도입과 정태영 전략 (2023.3)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한경비즈니스, 2024 올해의 CEO: 유니버스 일본 수출</a:t>
            </a:r>
            <a:endParaRPr lang="en-US" sz="12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딜사이트, 정태영도 직접 실습…현대카드 AI 내재화 (2026.6)</a:t>
            </a:r>
            <a:endParaRPr lang="en-US" sz="12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685800" y="63367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3679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E6E6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86"/>
          <p:cNvSpPr txBox="1"/>
          <p:nvPr/>
        </p:nvSpPr>
        <p:spPr>
          <a:xfrm>
            <a:off x="68580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감사합니다</a:t>
            </a:r>
            <a:endParaRPr lang="en-US" sz="4400" dirty="0"/>
          </a:p>
        </p:txBody>
      </p:sp>
      <p:sp>
        <p:nvSpPr>
          <p:cNvPr id="3" name="t287"/>
          <p:cNvSpPr txBox="1"/>
          <p:nvPr/>
        </p:nvSpPr>
        <p:spPr>
          <a:xfrm>
            <a:off x="685800" y="3200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A8A8"/>
                </a:solidFill>
              </a:rPr>
              <a:t>질의응답</a:t>
            </a:r>
            <a:endParaRPr lang="en-US" sz="2000" dirty="0"/>
          </a:p>
        </p:txBody>
      </p:sp>
      <p:sp>
        <p:nvSpPr>
          <p:cNvPr id="4" name="t288"/>
          <p:cNvSpPr txBox="1"/>
          <p:nvPr/>
        </p:nvSpPr>
        <p:spPr>
          <a:xfrm>
            <a:off x="685800" y="53949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○조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A8A8A8"/>
                </a:solidFill>
              </a:rPr>
              <a:t>조원1 · 조원2 · 조원3 · 조원4</a:t>
            </a:r>
            <a:endParaRPr lang="en-US" sz="1300" dirty="0"/>
          </a:p>
        </p:txBody>
      </p:sp>
      <p:sp>
        <p:nvSpPr>
          <p:cNvPr id="5" name="rr289"/>
          <p:cNvSpPr/>
          <p:nvPr/>
        </p:nvSpPr>
        <p:spPr>
          <a:xfrm>
            <a:off x="8808415" y="1289898"/>
            <a:ext cx="2697480" cy="4278203"/>
          </a:xfrm>
          <a:prstGeom prst="roundRect">
            <a:avLst>
              <a:gd name="adj" fmla="val 4746"/>
            </a:avLst>
          </a:prstGeom>
          <a:solidFill>
            <a:srgbClr val="262626"/>
          </a:solidFill>
          <a:ln/>
        </p:spPr>
      </p:sp>
      <p:sp>
        <p:nvSpPr>
          <p:cNvPr id="6" name="rr290"/>
          <p:cNvSpPr/>
          <p:nvPr/>
        </p:nvSpPr>
        <p:spPr>
          <a:xfrm>
            <a:off x="9105138" y="1667546"/>
            <a:ext cx="458572" cy="364160"/>
          </a:xfrm>
          <a:prstGeom prst="roundRect">
            <a:avLst>
              <a:gd name="adj" fmla="val 14815"/>
            </a:avLst>
          </a:prstGeom>
          <a:solidFill>
            <a:schemeClr val="accent1"/>
          </a:solidFill>
          <a:ln/>
        </p:spPr>
      </p:sp>
      <p:sp>
        <p:nvSpPr>
          <p:cNvPr id="8" name="Text 0"/>
          <p:cNvSpPr/>
          <p:nvPr>
            <p:ph idx="100" type="body" hasCustomPrompt="1"/>
          </p:nvPr>
        </p:nvSpPr>
        <p:spPr>
          <a:xfrm>
            <a:off x="6858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adership Ink Vermilion">
  <a:themeElements>
    <a:clrScheme name="Leadership Ink Vermilion">
      <a:dk1>
        <a:srgbClr val="141414"/>
      </a:dk1>
      <a:lt1>
        <a:srgbClr val="FFFFFF"/>
      </a:lt1>
      <a:dk2>
        <a:srgbClr val="6E6E6E"/>
      </a:dk2>
      <a:lt2>
        <a:srgbClr val="F3F3F3"/>
      </a:lt2>
      <a:accent1>
        <a:srgbClr val="D8452B"/>
      </a:accent1>
      <a:accent2>
        <a:srgbClr val="BDBDBD"/>
      </a:accent2>
      <a:accent3>
        <a:srgbClr val="4A4A4A"/>
      </a:accent3>
      <a:accent4>
        <a:srgbClr val="8C8C8C"/>
      </a:accent4>
      <a:accent5>
        <a:srgbClr val="D9D9D9"/>
      </a:accent5>
      <a:accent6>
        <a:srgbClr val="2E2E2E"/>
      </a:accent6>
      <a:hlink>
        <a:srgbClr val="D8452B"/>
      </a:hlink>
      <a:folHlink>
        <a:srgbClr val="6E6E6E"/>
      </a:folHlink>
    </a:clrScheme>
    <a:fontScheme name="Leadership Ink Vermilion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리더십 팀프로젝트 계획서: 현대카드 정태영 부회장</dc:title>
  <dc:subject>리더십 팀프로젝트 계획 발표</dc:subject>
  <dc:creator>○조</dc:creator>
  <cp:lastModifiedBy>○조</cp:lastModifiedBy>
  <cp:revision>1</cp:revision>
  <dcterms:created xsi:type="dcterms:W3CDTF">2026-10-24T05:09:16Z</dcterms:created>
  <dcterms:modified xsi:type="dcterms:W3CDTF">2026-10-24T05:09:16Z</dcterms:modified>
</cp:coreProperties>
</file>