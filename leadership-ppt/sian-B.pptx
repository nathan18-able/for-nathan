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2024년</c:v>
                </c:pt>
              </c:strCache>
            </c:strRef>
          </c:tx>
          <c:spPr>
            <a:solidFill>
              <a:srgbClr val="C4C4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영업이익</c:v>
                  </c:pt>
                  <c:pt idx="1">
                    <c:v>당기순이익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4061</c:v>
                </c:pt>
                <c:pt idx="1">
                  <c:v>3164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2025년</c:v>
                </c:pt>
              </c:strCache>
            </c:strRef>
          </c:tx>
          <c:spPr>
            <a:solidFill>
              <a:srgbClr val="D845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영업이익</c:v>
                  </c:pt>
                  <c:pt idx="1">
                    <c:v>당기순이익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4393</c:v>
                </c:pt>
                <c:pt idx="1">
                  <c:v>3503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6D6D6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6E6E6E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정태영 부회장의 이력을 연도순으로 정리했습니다. 아래 회색 띠는 저희가 사례를 나눠 볼 네 시기입니다.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27648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8580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8A8"/>
                </a:solidFill>
              </a:rPr>
              <a:t>리더십 · 팀프로젝트 계획 발표</a:t>
            </a:r>
            <a:endParaRPr lang="en-US" sz="1200" dirty="0"/>
          </a:p>
        </p:txBody>
      </p:sp>
      <p:sp>
        <p:nvSpPr>
          <p:cNvPr id="3" name="cover-title"/>
          <p:cNvSpPr txBox="1"/>
          <p:nvPr/>
        </p:nvSpPr>
        <p:spPr>
          <a:xfrm>
            <a:off x="685800" y="18288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자신을 바꾼 리더인가,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chemeClr val="bg1"/>
                </a:solidFill>
              </a:rPr>
              <a:t>상황을 바꾼 리더인가</a:t>
            </a:r>
            <a:endParaRPr lang="en-US" sz="4400" dirty="0"/>
          </a:p>
        </p:txBody>
      </p:sp>
      <p:sp>
        <p:nvSpPr>
          <p:cNvPr id="4" name="cover-sub"/>
          <p:cNvSpPr txBox="1"/>
          <p:nvPr/>
        </p:nvSpPr>
        <p:spPr>
          <a:xfrm>
            <a:off x="685800" y="3657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A8A8"/>
                </a:solidFill>
              </a:rPr>
              <a:t>현대카드 정태영 부회장 사례분석 계획</a:t>
            </a:r>
            <a:endParaRPr lang="en-US" sz="2000" dirty="0"/>
          </a:p>
        </p:txBody>
      </p:sp>
      <p:sp>
        <p:nvSpPr>
          <p:cNvPr id="5" name="cover-meta"/>
          <p:cNvSpPr txBox="1"/>
          <p:nvPr/>
        </p:nvSpPr>
        <p:spPr>
          <a:xfrm>
            <a:off x="685800" y="5120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bg1"/>
                </a:solidFill>
              </a:rPr>
              <a:t>○조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8A8A8"/>
                </a:solidFill>
              </a:rPr>
              <a:t>조원1 · 조원2 · 조원3 · 조원4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8A8A8"/>
                </a:solidFill>
              </a:rPr>
              <a:t>2026. 10. 26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8808415" y="1289898"/>
            <a:ext cx="2697480" cy="4278203"/>
          </a:xfrm>
          <a:prstGeom prst="roundRect">
            <a:avLst>
              <a:gd name="adj" fmla="val 4746"/>
            </a:avLst>
          </a:prstGeom>
          <a:solidFill>
            <a:schemeClr val="accent1"/>
          </a:solidFill>
          <a:ln/>
        </p:spPr>
      </p:sp>
      <p:sp>
        <p:nvSpPr>
          <p:cNvPr id="7" name="card-chip"/>
          <p:cNvSpPr/>
          <p:nvPr/>
        </p:nvSpPr>
        <p:spPr>
          <a:xfrm>
            <a:off x="9101023" y="1673946"/>
            <a:ext cx="457200" cy="365760"/>
          </a:xfrm>
          <a:prstGeom prst="roundRect">
            <a:avLst>
              <a:gd name="adj" fmla="val 15000"/>
            </a:avLst>
          </a:prstGeom>
          <a:solidFill>
            <a:schemeClr val="tx1"/>
          </a:solidFill>
          <a:ln/>
        </p:spPr>
      </p:sp>
      <p:sp>
        <p:nvSpPr>
          <p:cNvPr id="8" name="card-text"/>
          <p:cNvSpPr txBox="1"/>
          <p:nvPr/>
        </p:nvSpPr>
        <p:spPr>
          <a:xfrm>
            <a:off x="9101023" y="4653702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bg1"/>
                </a:solidFill>
              </a:rPr>
              <a:t>JUNG TAE-YOUNG</a:t>
            </a:r>
            <a:endParaRPr lang="en-US" sz="1100" dirty="0"/>
          </a:p>
          <a:p>
            <a:pPr indent="0" marL="0">
              <a:buNone/>
            </a:pPr>
            <a:r>
              <a:rPr lang="en-US" sz="1100" spc="150" kern="0" dirty="0">
                <a:solidFill>
                  <a:schemeClr val="bg1"/>
                </a:solidFill>
              </a:rPr>
              <a:t>2003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01  리더 및 선정 배경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카드대란 속 적자 회사를 맡아 23년째 이끄는 중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276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비즈니스포스트 「Who Is? 정태영」, 한경비즈니스 「2021 파워 금융인 30」, 현대카드 뉴스룸</a:t>
            </a:r>
            <a:endParaRPr lang="en-US" sz="1000" dirty="0"/>
          </a:p>
        </p:txBody>
      </p:sp>
      <p:sp>
        <p:nvSpPr>
          <p:cNvPr id="5" name="prior-career"/>
          <p:cNvSpPr txBox="1"/>
          <p:nvPr/>
        </p:nvSpPr>
        <p:spPr>
          <a:xfrm>
            <a:off x="685800" y="160020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이전 경력 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1987–2002  현대종합상사 · 현대정공(미주·멕시코 법인장) · 현대모비스 · 기아</a:t>
            </a:r>
            <a:endParaRPr lang="en-US" sz="1400" dirty="0"/>
          </a:p>
        </p:txBody>
      </p:sp>
      <p:sp>
        <p:nvSpPr>
          <p:cNvPr id="6" name="timeline-axis"/>
          <p:cNvSpPr/>
          <p:nvPr/>
        </p:nvSpPr>
        <p:spPr>
          <a:xfrm>
            <a:off x="685800" y="2971800"/>
            <a:ext cx="10820095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7" name="tl-year-0"/>
          <p:cNvSpPr txBox="1"/>
          <p:nvPr/>
        </p:nvSpPr>
        <p:spPr>
          <a:xfrm>
            <a:off x="685800" y="21945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2003</a:t>
            </a:r>
            <a:endParaRPr lang="en-US" sz="2400" dirty="0"/>
          </a:p>
        </p:txBody>
      </p:sp>
      <p:sp>
        <p:nvSpPr>
          <p:cNvPr id="8" name="tl-dot-0"/>
          <p:cNvSpPr/>
          <p:nvPr/>
        </p:nvSpPr>
        <p:spPr>
          <a:xfrm>
            <a:off x="685800" y="288036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l-desc-0"/>
          <p:cNvSpPr txBox="1"/>
          <p:nvPr/>
        </p:nvSpPr>
        <p:spPr>
          <a:xfrm>
            <a:off x="685800" y="320040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대표이사 취임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첫해 6천억대 적자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현대카드M 출시</a:t>
            </a:r>
            <a:endParaRPr lang="en-US" sz="1400" dirty="0"/>
          </a:p>
        </p:txBody>
      </p:sp>
      <p:sp>
        <p:nvSpPr>
          <p:cNvPr id="10" name="tl-year-1"/>
          <p:cNvSpPr txBox="1"/>
          <p:nvPr/>
        </p:nvSpPr>
        <p:spPr>
          <a:xfrm>
            <a:off x="2489149" y="21945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2005</a:t>
            </a:r>
            <a:endParaRPr lang="en-US" sz="2000" dirty="0"/>
          </a:p>
        </p:txBody>
      </p:sp>
      <p:sp>
        <p:nvSpPr>
          <p:cNvPr id="11" name="tl-dot-1"/>
          <p:cNvSpPr/>
          <p:nvPr/>
        </p:nvSpPr>
        <p:spPr>
          <a:xfrm>
            <a:off x="2489149" y="2912364"/>
            <a:ext cx="118872" cy="11887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2" name="tl-desc-1"/>
          <p:cNvSpPr txBox="1"/>
          <p:nvPr/>
        </p:nvSpPr>
        <p:spPr>
          <a:xfrm>
            <a:off x="2489149" y="320040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초청제 프리미엄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‘the Black’ 출시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문화 마케팅 시작</a:t>
            </a:r>
            <a:endParaRPr lang="en-US" sz="1400" dirty="0"/>
          </a:p>
        </p:txBody>
      </p:sp>
      <p:sp>
        <p:nvSpPr>
          <p:cNvPr id="13" name="tl-year-2"/>
          <p:cNvSpPr txBox="1"/>
          <p:nvPr/>
        </p:nvSpPr>
        <p:spPr>
          <a:xfrm>
            <a:off x="4292498" y="21945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2015</a:t>
            </a:r>
            <a:endParaRPr lang="en-US" sz="2000" dirty="0"/>
          </a:p>
        </p:txBody>
      </p:sp>
      <p:sp>
        <p:nvSpPr>
          <p:cNvPr id="14" name="tl-dot-2"/>
          <p:cNvSpPr/>
          <p:nvPr/>
        </p:nvSpPr>
        <p:spPr>
          <a:xfrm>
            <a:off x="4292498" y="2912364"/>
            <a:ext cx="118872" cy="11887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tl-desc-2"/>
          <p:cNvSpPr txBox="1"/>
          <p:nvPr/>
        </p:nvSpPr>
        <p:spPr>
          <a:xfrm>
            <a:off x="4292498" y="320040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부회장 승진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‘디지털 현대카드’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선언</a:t>
            </a:r>
            <a:endParaRPr lang="en-US" sz="1400" dirty="0"/>
          </a:p>
        </p:txBody>
      </p:sp>
      <p:sp>
        <p:nvSpPr>
          <p:cNvPr id="16" name="tl-year-3"/>
          <p:cNvSpPr txBox="1"/>
          <p:nvPr/>
        </p:nvSpPr>
        <p:spPr>
          <a:xfrm>
            <a:off x="6095848" y="21945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2018</a:t>
            </a:r>
            <a:endParaRPr lang="en-US" sz="2000" dirty="0"/>
          </a:p>
        </p:txBody>
      </p:sp>
      <p:sp>
        <p:nvSpPr>
          <p:cNvPr id="17" name="tl-dot-3"/>
          <p:cNvSpPr/>
          <p:nvPr/>
        </p:nvSpPr>
        <p:spPr>
          <a:xfrm>
            <a:off x="6095848" y="2912364"/>
            <a:ext cx="118872" cy="11887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tl-desc-3"/>
          <p:cNvSpPr txBox="1"/>
          <p:nvPr/>
        </p:nvSpPr>
        <p:spPr>
          <a:xfrm>
            <a:off x="6095848" y="320040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수수료 인하로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실적 악화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창사 첫 희망퇴직</a:t>
            </a:r>
            <a:endParaRPr lang="en-US" sz="1400" dirty="0"/>
          </a:p>
        </p:txBody>
      </p:sp>
      <p:sp>
        <p:nvSpPr>
          <p:cNvPr id="19" name="tl-year-4"/>
          <p:cNvSpPr txBox="1"/>
          <p:nvPr/>
        </p:nvSpPr>
        <p:spPr>
          <a:xfrm>
            <a:off x="7899197" y="21945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2023</a:t>
            </a:r>
            <a:endParaRPr lang="en-US" sz="2000" dirty="0"/>
          </a:p>
        </p:txBody>
      </p:sp>
      <p:sp>
        <p:nvSpPr>
          <p:cNvPr id="20" name="tl-dot-4"/>
          <p:cNvSpPr/>
          <p:nvPr/>
        </p:nvSpPr>
        <p:spPr>
          <a:xfrm>
            <a:off x="7899197" y="2912364"/>
            <a:ext cx="118872" cy="11887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1" name="tl-desc-4"/>
          <p:cNvSpPr txBox="1"/>
          <p:nvPr/>
        </p:nvSpPr>
        <p:spPr>
          <a:xfrm>
            <a:off x="7899197" y="320040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애플페이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국내 첫 도입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‘전시체제’ 선언</a:t>
            </a:r>
            <a:endParaRPr lang="en-US" sz="1400" dirty="0"/>
          </a:p>
        </p:txBody>
      </p:sp>
      <p:sp>
        <p:nvSpPr>
          <p:cNvPr id="22" name="tl-year-5"/>
          <p:cNvSpPr txBox="1"/>
          <p:nvPr/>
        </p:nvSpPr>
        <p:spPr>
          <a:xfrm>
            <a:off x="9702546" y="2194560"/>
            <a:ext cx="16661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2024–26</a:t>
            </a:r>
            <a:endParaRPr lang="en-US" sz="2000" dirty="0"/>
          </a:p>
        </p:txBody>
      </p:sp>
      <p:sp>
        <p:nvSpPr>
          <p:cNvPr id="23" name="tl-dot-5"/>
          <p:cNvSpPr/>
          <p:nvPr/>
        </p:nvSpPr>
        <p:spPr>
          <a:xfrm>
            <a:off x="9702546" y="2912364"/>
            <a:ext cx="118872" cy="118872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4" name="tl-desc-5"/>
          <p:cNvSpPr txBox="1"/>
          <p:nvPr/>
        </p:nvSpPr>
        <p:spPr>
          <a:xfrm>
            <a:off x="9702546" y="320040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AI 플랫폼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‘유니버스’를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tx1"/>
                </a:solidFill>
              </a:rPr>
              <a:t>일본에 수출</a:t>
            </a:r>
            <a:endParaRPr lang="en-US" sz="1400" dirty="0"/>
          </a:p>
        </p:txBody>
      </p:sp>
      <p:sp>
        <p:nvSpPr>
          <p:cNvPr id="25" name="phase-label"/>
          <p:cNvSpPr txBox="1"/>
          <p:nvPr/>
        </p:nvSpPr>
        <p:spPr>
          <a:xfrm>
            <a:off x="68580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보고서에서 나눠 볼 네 시기</a:t>
            </a:r>
            <a:endParaRPr lang="en-US" sz="1200" dirty="0"/>
          </a:p>
        </p:txBody>
      </p:sp>
      <p:sp>
        <p:nvSpPr>
          <p:cNvPr id="26" name="phase-0"/>
          <p:cNvSpPr/>
          <p:nvPr/>
        </p:nvSpPr>
        <p:spPr>
          <a:xfrm>
            <a:off x="685800" y="4892040"/>
            <a:ext cx="349697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7" name="phase-text-0"/>
          <p:cNvSpPr txBox="1"/>
          <p:nvPr/>
        </p:nvSpPr>
        <p:spPr>
          <a:xfrm>
            <a:off x="850392" y="4892040"/>
            <a:ext cx="3314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①  위기와 회생</a:t>
            </a:r>
            <a:endParaRPr lang="en-US" sz="1300" dirty="0"/>
          </a:p>
        </p:txBody>
      </p:sp>
      <p:sp>
        <p:nvSpPr>
          <p:cNvPr id="28" name="phase-1"/>
          <p:cNvSpPr/>
          <p:nvPr/>
        </p:nvSpPr>
        <p:spPr>
          <a:xfrm>
            <a:off x="4292498" y="4892040"/>
            <a:ext cx="1693621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9" name="phase-text-1"/>
          <p:cNvSpPr txBox="1"/>
          <p:nvPr/>
        </p:nvSpPr>
        <p:spPr>
          <a:xfrm>
            <a:off x="4457090" y="4892040"/>
            <a:ext cx="1510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②  브랜드 성장</a:t>
            </a:r>
            <a:endParaRPr lang="en-US" sz="1300" dirty="0"/>
          </a:p>
        </p:txBody>
      </p:sp>
      <p:sp>
        <p:nvSpPr>
          <p:cNvPr id="30" name="phase-2"/>
          <p:cNvSpPr/>
          <p:nvPr/>
        </p:nvSpPr>
        <p:spPr>
          <a:xfrm>
            <a:off x="6095848" y="4892040"/>
            <a:ext cx="1693621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phase-text-2"/>
          <p:cNvSpPr txBox="1"/>
          <p:nvPr/>
        </p:nvSpPr>
        <p:spPr>
          <a:xfrm>
            <a:off x="6260440" y="4892040"/>
            <a:ext cx="1510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③  구조조정</a:t>
            </a:r>
            <a:endParaRPr lang="en-US" sz="1300" dirty="0"/>
          </a:p>
        </p:txBody>
      </p:sp>
      <p:sp>
        <p:nvSpPr>
          <p:cNvPr id="32" name="phase-3"/>
          <p:cNvSpPr/>
          <p:nvPr/>
        </p:nvSpPr>
        <p:spPr>
          <a:xfrm>
            <a:off x="7899197" y="4892040"/>
            <a:ext cx="3496970" cy="502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3" name="phase-text-3"/>
          <p:cNvSpPr txBox="1"/>
          <p:nvPr/>
        </p:nvSpPr>
        <p:spPr>
          <a:xfrm>
            <a:off x="8063789" y="4892040"/>
            <a:ext cx="33140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④  디지털 전환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02  대상 리더 소개 · 재무정보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49808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영업이익·순이익 모두 늘었고, 이용실적 점유율은 업계 2위</a:t>
            </a:r>
            <a:endParaRPr lang="en-US" sz="2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63276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출처: 현대카드 반기보고서 제32기(2026.8.14 제출) Ⅲ-1 요약재무정보, DART · 연결 기준 · 점유율은 금감원 신용카드 이용실적 기준</a:t>
            </a:r>
            <a:endParaRPr lang="en-US" sz="1000" dirty="0"/>
          </a:p>
        </p:txBody>
      </p:sp>
      <p:sp>
        <p:nvSpPr>
          <p:cNvPr id="5" name="stat-num-0"/>
          <p:cNvSpPr txBox="1"/>
          <p:nvPr/>
        </p:nvSpPr>
        <p:spPr>
          <a:xfrm>
            <a:off x="685800" y="1874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4조 78억원</a:t>
            </a:r>
            <a:endParaRPr lang="en-US" sz="3600" dirty="0"/>
          </a:p>
        </p:txBody>
      </p:sp>
      <p:sp>
        <p:nvSpPr>
          <p:cNvPr id="6" name="stat-label-0"/>
          <p:cNvSpPr txBox="1"/>
          <p:nvPr/>
        </p:nvSpPr>
        <p:spPr>
          <a:xfrm>
            <a:off x="685800" y="2606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2025년 영업수익</a:t>
            </a:r>
            <a:endParaRPr lang="en-US" sz="1300" dirty="0"/>
          </a:p>
        </p:txBody>
      </p:sp>
      <p:sp>
        <p:nvSpPr>
          <p:cNvPr id="7" name="stat-num-1"/>
          <p:cNvSpPr txBox="1"/>
          <p:nvPr/>
        </p:nvSpPr>
        <p:spPr>
          <a:xfrm>
            <a:off x="685800" y="32461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3,503억원</a:t>
            </a:r>
            <a:endParaRPr lang="en-US" sz="3600" dirty="0"/>
          </a:p>
        </p:txBody>
      </p:sp>
      <p:sp>
        <p:nvSpPr>
          <p:cNvPr id="8" name="stat-label-1"/>
          <p:cNvSpPr txBox="1"/>
          <p:nvPr/>
        </p:nvSpPr>
        <p:spPr>
          <a:xfrm>
            <a:off x="685800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2025년 당기순이익 · 전년 대비 +10.7%</a:t>
            </a:r>
            <a:endParaRPr lang="en-US" sz="1300" dirty="0"/>
          </a:p>
        </p:txBody>
      </p:sp>
      <p:sp>
        <p:nvSpPr>
          <p:cNvPr id="9" name="stat-num-2"/>
          <p:cNvSpPr txBox="1"/>
          <p:nvPr/>
        </p:nvSpPr>
        <p:spPr>
          <a:xfrm>
            <a:off x="685800" y="46177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19.3%</a:t>
            </a:r>
            <a:endParaRPr lang="en-US" sz="3600" dirty="0"/>
          </a:p>
        </p:txBody>
      </p:sp>
      <p:sp>
        <p:nvSpPr>
          <p:cNvPr id="10" name="stat-label-2"/>
          <p:cNvSpPr txBox="1"/>
          <p:nvPr/>
        </p:nvSpPr>
        <p:spPr>
          <a:xfrm>
            <a:off x="685800" y="5349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2025년 이용실적 점유율 · 2위 (1위 신한 19.8%)</a:t>
            </a:r>
            <a:endParaRPr lang="en-US" sz="1300" dirty="0"/>
          </a:p>
        </p:txBody>
      </p:sp>
      <p:sp>
        <p:nvSpPr>
          <p:cNvPr id="11" name="chart-title"/>
          <p:cNvSpPr txBox="1"/>
          <p:nvPr/>
        </p:nvSpPr>
        <p:spPr>
          <a:xfrm>
            <a:off x="5486400" y="1874520"/>
            <a:ext cx="6019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영업이익 · 당기순이익 (억원)</a:t>
            </a:r>
            <a:endParaRPr lang="en-US" sz="1300" dirty="0"/>
          </a:p>
        </p:txBody>
      </p:sp>
      <p:graphicFrame>
        <p:nvGraphicFramePr>
          <p:cNvPr id="12" name="chart-profit" descr=""/>
          <p:cNvGraphicFramePr/>
          <p:nvPr/>
        </p:nvGraphicFramePr>
        <p:xfrm>
          <a:off x="5486400" y="2240280"/>
          <a:ext cx="6019495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h1-box"/>
          <p:cNvSpPr/>
          <p:nvPr/>
        </p:nvSpPr>
        <p:spPr>
          <a:xfrm>
            <a:off x="5486400" y="5166360"/>
            <a:ext cx="6019495" cy="8229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h1-text"/>
          <p:cNvSpPr txBox="1"/>
          <p:nvPr/>
        </p:nvSpPr>
        <p:spPr>
          <a:xfrm>
            <a:off x="5715000" y="5166360"/>
            <a:ext cx="5653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2026년 상반기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영업수익 2조 3,372억 · 영업이익 2,495억 · 순이익 1,852억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E6E6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dership Ink Vermilion">
  <a:themeElements>
    <a:clrScheme name="Leadership Ink Vermilion">
      <a:dk1>
        <a:srgbClr val="141414"/>
      </a:dk1>
      <a:lt1>
        <a:srgbClr val="FFFFFF"/>
      </a:lt1>
      <a:dk2>
        <a:srgbClr val="6E6E6E"/>
      </a:dk2>
      <a:lt2>
        <a:srgbClr val="F3F3F3"/>
      </a:lt2>
      <a:accent1>
        <a:srgbClr val="D8452B"/>
      </a:accent1>
      <a:accent2>
        <a:srgbClr val="B9B9B9"/>
      </a:accent2>
      <a:accent3>
        <a:srgbClr val="4A4A4A"/>
      </a:accent3>
      <a:accent4>
        <a:srgbClr val="8C8C8C"/>
      </a:accent4>
      <a:accent5>
        <a:srgbClr val="D6D6D6"/>
      </a:accent5>
      <a:accent6>
        <a:srgbClr val="2E2E2E"/>
      </a:accent6>
      <a:hlink>
        <a:srgbClr val="D8452B"/>
      </a:hlink>
      <a:folHlink>
        <a:srgbClr val="6E6E6E"/>
      </a:folHlink>
    </a:clrScheme>
    <a:fontScheme name="Leadership Ink Vermilion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리더십 팀프로젝트 계획서: 현대카드 정태영 부회장</dc:title>
  <dc:subject>PptxGenJS Presentation</dc:subject>
  <dc:creator>PptxGenJS</dc:creator>
  <cp:lastModifiedBy>PptxGenJS</cp:lastModifiedBy>
  <cp:revision>1</cp:revision>
  <dcterms:created xsi:type="dcterms:W3CDTF">2026-10-24T04:56:33Z</dcterms:created>
  <dcterms:modified xsi:type="dcterms:W3CDTF">2026-10-24T04:56:33Z</dcterms:modified>
</cp:coreProperties>
</file>