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2024년</c:v>
                </c:pt>
              </c:strCache>
            </c:strRef>
          </c:tx>
          <c:spPr>
            <a:solidFill>
              <a:srgbClr val="C4C4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영업이익</c:v>
                  </c:pt>
                  <c:pt idx="1">
                    <c:v>당기순이익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4061</c:v>
                </c:pt>
                <c:pt idx="1">
                  <c:v>3164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2025년</c:v>
                </c:pt>
              </c:strCache>
            </c:strRef>
          </c:tx>
          <c:spPr>
            <a:solidFill>
              <a:srgbClr val="D845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영업이익</c:v>
                  </c:pt>
                  <c:pt idx="1">
                    <c:v>당기순이익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4393</c:v>
                </c:pt>
                <c:pt idx="1">
                  <c:v>3503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6E6E6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○조입니다. 저희 조는 현대카드 정태영 부회장을 분석 대상으로 정했습니다. 오늘은 보고서를 어떻게 쓸지, 그 계획을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순서는 과제에서 주신 항목 그대로입니다. 리더를 왜 골랐는지, 어떤 사람이고 어떤 회사를 이끄는지 먼저 말씀드리고, 마지막에 보고서를 어떤 틀로 쓸지 가장 자세히 설명드리겠습니다.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보고서 전체를 이 질문 하나로 끌고 가려고 합니다. 정 부회장이 상황에 맞춰 자기 행동을 바꿨다면 House의 경로-목표이론으로 설명이 되고, 반대로 제휴나 원칙 같은 걸로 상황 자체를 바꿨다면 Fiedler의 상황 모델로 설명이 됩니다. 두 이론 중 어느 쪽이 더 잘 맞는지 비교하는 게 보고서의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정태영 부회장이 어떤 사람인지, 그리고 저희가 왜 이 사람을 골랐는지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 부회장은 현대차그룹 계열사에서 기획과 해외 사업을 하다가, 카드대란이 한창이던 2003년에 적자 상태인 현대카드를 맡았습니다. 첫해에만 6천억 원대 적자가 났는데, 현대카드M을 내놓으면서 반전의 계기를 만들었습니다. 그 뒤로 프리미엄 카드와 문화 마케팅, 디지털 선언, 희망퇴직, 애플페이, AI 수출까지 이어집니다. 아래 띠처럼 저희는 이 23년을 네 시기로 나눠서 분석할 계획입니다.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 부회장을 고른 이유는 세 가지입니다. 가장 큰 이유는 성격이 전혀 다른 네 시기를 한 사람이 이끌었다는 점입니다. 리더가 같으니까 상황만 바뀌었을 때 리더십이 어떻게 달라지는지 비교하기 좋습니다. 또 본인이 SNS나 인터뷰로 직접 설명한 자료가 많고, 성과만큼 논란도 있어서 칭찬만 하는 보고서가 되지 않을 거라고 봤습니다.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정 부회장 개인과 현대카드라는 회사를 간단히 소개하겠습니다.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 부회장은 1960년생이고, 서울대 불문과를 나와 MIT에서 MBA를 했습니다. 여기서 눈여겨볼 건 정몽구 명예회장의 사위라는 점입니다. 월급 받는 전문경영인이면서 동시에 오너 일가이기도 해서, 이 사람의 영향력이 어디서 나오는지는 6장 권력 부분에서 따로 보려고 합니다. 그리고 2003년부터 23년째 대표를 맡고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현대카드는 다이너스클럽코리아를 현대차그룹이 인수해서 2001년에 이름을 바꾼 회사입니다. 상장은 안 되어 있고, 올해 6월 기준 회원이 1,311만 명 정도 됩니다. 사업은 크게 네 가지인데, 자체 카드, 코스트코나 대한항공처럼 제휴사 이름을 단 PLCC, 카드대출, 그리고 최근에 키우고 있는 데이터와 AI 사업입니다.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작년 영업수익은 4조 78억 원이고, 순이익은 3,503억 원으로 1년 전보다 10.7% 늘었습니다. 카드 이용실적 점유율은 19.3%로, 신한카드 바로 다음인 업계 2위입니다. 2003년에 적자 회사였다는 걸 생각하면 꽤 큰 변화입니다. 올해 상반기 숫자는 기간이 달라서 아래에 따로 적었습니다.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주주를 보면 현대자동차가 1대 주주, 현대커머셜이 2대 주주입니다. 재미있는 건 정 부회장 본인은 현대카드 주식이 한 주도 없다는 점입니다. 대신 부부가 대주주인 현대커머셜이 현대카드 지분의 34.62%를 갖고 있어서, 간접적으로 영향력을 가집니다. 지분보다는 직위와 관계에서 나오는 힘이라서, 이 부분도 권력 이론으로 연결해 볼 생각입니다.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보고서를 어떻게 쓸지 말씀드리겠습니다. 오늘 발표에서 가장 중요한 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자료는 네 군데서 모읍니다. 매출이나 지분 같은 숫자는 DART 공시를 기준으로 하고, 회사가 직접 낸 IR 자료와 뉴스룸으로 시기별 발표를 확인합니다. 리더가 왜 그런 결정을 했는지는 인터뷰와 본인 SNS에서 찾고, 논문은 앞선 연구가 현대카드를 어떤 틀로 분석했는지 참고하려고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보고서 본론은 이 표대로 갑니다. 네 시기마다 어떤 상황이었는지, 리더가 뭘 했는지, 결과가 어땠는지, 아쉬운 점은 뭐였는지를 같은 순서로 봅니다. 순서를 똑같이 맞춰야 시기끼리 비교가 되기 때문입니다. 그중에서도 빨간색, 리더의 행동이 저희 질문과 바로 이어지는 부분이라 가장 자세히 다룰 예정입니다.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이론은 수업 4장에서 배운 두 가지가 중심입니다. 리더의 행동이 바뀌었는지는 House의 경로-목표이론으로, 상황이 바뀌었는지는 Fiedler의 상황 모델로 봅니다. 여기에 2장 특성이론, 3장 행동이론, 5장 갈등관리, 6장 권력과 협상을 보조로 써서, 리더 개인의 성향이나 영향력이 어디서 나오는지도 함께 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자료를 찾아보면서 미리 세워 본 가설입니다. 선을 따라가 보시면, 위기 때는 리더가 직접 방향을 정하는 지시적 리더십, 흑자가 난 뒤에는 직원에게 맡기는 참여적이고 후원적인 모습, 구조조정 때는 다시 지시적으로 돌아가고, 디지털 전환기에는 높은 목표를 던지는 성취지향적 리더십이 보일 거라고 예상합니다. 아래는 같은 시기에 상황이 어떻게 바뀌었는지를 Fiedler의 상황변수로 본 것입니다. 이 가설이 맞는지는 보고서에서 자료로 확인하겠습니다.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평가할 때는 잘한 점만 늘어놓지 않으려고 합니다. 점유율 2위, 브랜드 차별화, AI 수출 같은 성과가 있지만, 창사 첫 희망퇴직이나 애플페이 수수료 논란, 그리고 리더 한 사람에게 너무 기대는 구조라는 지적도 있습니다. 이걸 다 놓고 결론에서는 처음 질문으로 돌아가, 스스로 바뀐 리더였는지 판을 바꾼 리더였는지 저희 판단을 내리겠습니다.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참고한 자료입니다. 따로 설명하지 않고 넘어가셔도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이상으로 저희 조의 계획 발표를 마치겠습니다. 질문 주시면 답변드리겠습니다.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A8A8A8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8A8"/>
                </a:solidFill>
              </a:rPr>
              <a:t>리더십 · 팀프로젝트 계획 발표</a:t>
            </a:r>
            <a:endParaRPr lang="en-US" sz="1200" dirty="0"/>
          </a:p>
        </p:txBody>
      </p:sp>
      <p:sp>
        <p:nvSpPr>
          <p:cNvPr id="3" name="t1"/>
          <p:cNvSpPr txBox="1"/>
          <p:nvPr/>
        </p:nvSpPr>
        <p:spPr>
          <a:xfrm>
            <a:off x="685800" y="18288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스스로 바뀐 리더인가,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판을 바꾼 리더인가</a:t>
            </a:r>
            <a:endParaRPr lang="en-US" sz="4400" dirty="0"/>
          </a:p>
        </p:txBody>
      </p:sp>
      <p:sp>
        <p:nvSpPr>
          <p:cNvPr id="4" name="t2"/>
          <p:cNvSpPr txBox="1"/>
          <p:nvPr/>
        </p:nvSpPr>
        <p:spPr>
          <a:xfrm>
            <a:off x="685800" y="3657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A8A8"/>
                </a:solidFill>
              </a:rPr>
              <a:t>현대카드 정태영 부회장 사례분석 계획</a:t>
            </a:r>
            <a:endParaRPr lang="en-US" sz="2000" dirty="0"/>
          </a:p>
        </p:txBody>
      </p:sp>
      <p:sp>
        <p:nvSpPr>
          <p:cNvPr id="5" name="t3"/>
          <p:cNvSpPr txBox="1"/>
          <p:nvPr/>
        </p:nvSpPr>
        <p:spPr>
          <a:xfrm>
            <a:off x="685800" y="5120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○조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8A8A8"/>
                </a:solidFill>
              </a:rPr>
              <a:t>조원1 · 조원2 · 조원3 · 조원4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8A8A8"/>
                </a:solidFill>
              </a:rPr>
              <a:t>2026. 10. 26</a:t>
            </a:r>
            <a:endParaRPr lang="en-US" sz="1300" dirty="0"/>
          </a:p>
        </p:txBody>
      </p:sp>
      <p:sp>
        <p:nvSpPr>
          <p:cNvPr id="6" name="rr4"/>
          <p:cNvSpPr/>
          <p:nvPr/>
        </p:nvSpPr>
        <p:spPr>
          <a:xfrm>
            <a:off x="8136331" y="1613916"/>
            <a:ext cx="2514600" cy="3988156"/>
          </a:xfrm>
          <a:prstGeom prst="roundRect">
            <a:avLst>
              <a:gd name="adj" fmla="val 5000"/>
            </a:avLst>
          </a:prstGeom>
          <a:solidFill>
            <a:srgbClr val="2E2E2E"/>
          </a:solidFill>
          <a:ln/>
        </p:spPr>
      </p:sp>
      <p:sp>
        <p:nvSpPr>
          <p:cNvPr id="7" name="rr5"/>
          <p:cNvSpPr/>
          <p:nvPr/>
        </p:nvSpPr>
        <p:spPr>
          <a:xfrm>
            <a:off x="8412937" y="1965960"/>
            <a:ext cx="427482" cy="339471"/>
          </a:xfrm>
          <a:prstGeom prst="roundRect">
            <a:avLst>
              <a:gd name="adj" fmla="val 14815"/>
            </a:avLst>
          </a:prstGeom>
          <a:solidFill>
            <a:srgbClr val="2E2E2E"/>
          </a:solidFill>
          <a:ln/>
        </p:spPr>
      </p:sp>
      <p:sp>
        <p:nvSpPr>
          <p:cNvPr id="8" name="rr6"/>
          <p:cNvSpPr/>
          <p:nvPr/>
        </p:nvSpPr>
        <p:spPr>
          <a:xfrm>
            <a:off x="8563813" y="1287018"/>
            <a:ext cx="2514600" cy="3988156"/>
          </a:xfrm>
          <a:prstGeom prst="roundRect">
            <a:avLst>
              <a:gd name="adj" fmla="val 5000"/>
            </a:avLst>
          </a:prstGeom>
          <a:solidFill>
            <a:srgbClr val="8C8C8C"/>
          </a:solidFill>
          <a:ln/>
        </p:spPr>
      </p:sp>
      <p:sp>
        <p:nvSpPr>
          <p:cNvPr id="9" name="rr7"/>
          <p:cNvSpPr/>
          <p:nvPr/>
        </p:nvSpPr>
        <p:spPr>
          <a:xfrm>
            <a:off x="8840419" y="1639062"/>
            <a:ext cx="427482" cy="339471"/>
          </a:xfrm>
          <a:prstGeom prst="roundRect">
            <a:avLst>
              <a:gd name="adj" fmla="val 14815"/>
            </a:avLst>
          </a:prstGeom>
          <a:solidFill>
            <a:srgbClr val="8C8C8C"/>
          </a:solidFill>
          <a:ln/>
        </p:spPr>
      </p:sp>
      <p:sp>
        <p:nvSpPr>
          <p:cNvPr id="10" name="rr8"/>
          <p:cNvSpPr/>
          <p:nvPr/>
        </p:nvSpPr>
        <p:spPr>
          <a:xfrm>
            <a:off x="8991295" y="960120"/>
            <a:ext cx="2514600" cy="3988156"/>
          </a:xfrm>
          <a:prstGeom prst="roundRect">
            <a:avLst>
              <a:gd name="adj" fmla="val 5000"/>
            </a:avLst>
          </a:prstGeom>
          <a:solidFill>
            <a:srgbClr val="D8452B"/>
          </a:solidFill>
          <a:ln/>
        </p:spPr>
      </p:sp>
      <p:sp>
        <p:nvSpPr>
          <p:cNvPr id="11" name="rr9"/>
          <p:cNvSpPr/>
          <p:nvPr/>
        </p:nvSpPr>
        <p:spPr>
          <a:xfrm>
            <a:off x="9267901" y="1312164"/>
            <a:ext cx="427482" cy="339471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/>
        </p:spPr>
      </p:sp>
      <p:sp>
        <p:nvSpPr>
          <p:cNvPr id="12" name="t10"/>
          <p:cNvSpPr txBox="1"/>
          <p:nvPr/>
        </p:nvSpPr>
        <p:spPr>
          <a:xfrm>
            <a:off x="9267901" y="3892144"/>
            <a:ext cx="2011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bg1"/>
                </a:solidFill>
              </a:rPr>
              <a:t>JUNG TAE-YOUNG</a:t>
            </a:r>
            <a:endParaRPr lang="en-US" sz="1100" dirty="0"/>
          </a:p>
          <a:p>
            <a:pPr indent="0" marL="0">
              <a:buNone/>
            </a:pPr>
            <a:r>
              <a:rPr lang="en-US" sz="1100" spc="150" kern="0" dirty="0">
                <a:solidFill>
                  <a:schemeClr val="bg1"/>
                </a:solidFill>
              </a:rPr>
              <a:t>2003 —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1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12"/>
          <p:cNvSpPr txBox="1"/>
          <p:nvPr/>
        </p:nvSpPr>
        <p:spPr>
          <a:xfrm>
            <a:off x="685800" y="76809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목차</a:t>
            </a:r>
            <a:endParaRPr lang="en-US" sz="2800" dirty="0"/>
          </a:p>
        </p:txBody>
      </p:sp>
      <p:sp>
        <p:nvSpPr>
          <p:cNvPr id="4" name="t13"/>
          <p:cNvSpPr txBox="1"/>
          <p:nvPr/>
        </p:nvSpPr>
        <p:spPr>
          <a:xfrm>
            <a:off x="685800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</a:rPr>
              <a:t>발표 20분 · 질의응답 15분</a:t>
            </a:r>
            <a:endParaRPr lang="en-US" sz="1300" dirty="0"/>
          </a:p>
        </p:txBody>
      </p:sp>
      <p:sp>
        <p:nvSpPr>
          <p:cNvPr id="5" name="rr14"/>
          <p:cNvSpPr/>
          <p:nvPr/>
        </p:nvSpPr>
        <p:spPr>
          <a:xfrm>
            <a:off x="685800" y="3749040"/>
            <a:ext cx="1417320" cy="224787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</p:sp>
      <p:sp>
        <p:nvSpPr>
          <p:cNvPr id="6" name="rr15"/>
          <p:cNvSpPr/>
          <p:nvPr/>
        </p:nvSpPr>
        <p:spPr>
          <a:xfrm>
            <a:off x="841705" y="3947465"/>
            <a:ext cx="240944" cy="191338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/>
        </p:spPr>
      </p:sp>
      <p:sp>
        <p:nvSpPr>
          <p:cNvPr id="7" name="t16"/>
          <p:cNvSpPr txBox="1"/>
          <p:nvPr/>
        </p:nvSpPr>
        <p:spPr>
          <a:xfrm>
            <a:off x="4800600" y="1344168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01</a:t>
            </a:r>
            <a:endParaRPr lang="en-US" sz="4800" dirty="0"/>
          </a:p>
        </p:txBody>
      </p:sp>
      <p:sp>
        <p:nvSpPr>
          <p:cNvPr id="8" name="t17"/>
          <p:cNvSpPr txBox="1"/>
          <p:nvPr/>
        </p:nvSpPr>
        <p:spPr>
          <a:xfrm>
            <a:off x="6263640" y="1435608"/>
            <a:ext cx="5242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리더 및 선정 배경</a:t>
            </a:r>
            <a:endParaRPr lang="en-US" sz="2600" dirty="0"/>
          </a:p>
        </p:txBody>
      </p:sp>
      <p:sp>
        <p:nvSpPr>
          <p:cNvPr id="9" name="t18"/>
          <p:cNvSpPr txBox="1"/>
          <p:nvPr/>
        </p:nvSpPr>
        <p:spPr>
          <a:xfrm>
            <a:off x="6263640" y="196596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어떤 사람인지, 왜 골랐는지</a:t>
            </a:r>
            <a:endParaRPr lang="en-US" sz="1500" dirty="0"/>
          </a:p>
        </p:txBody>
      </p:sp>
      <p:sp>
        <p:nvSpPr>
          <p:cNvPr id="10" name="l19"/>
          <p:cNvSpPr/>
          <p:nvPr/>
        </p:nvSpPr>
        <p:spPr>
          <a:xfrm>
            <a:off x="4800600" y="2606040"/>
            <a:ext cx="6705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t20"/>
          <p:cNvSpPr txBox="1"/>
          <p:nvPr/>
        </p:nvSpPr>
        <p:spPr>
          <a:xfrm>
            <a:off x="4800600" y="2807208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9D9D9"/>
                </a:solidFill>
              </a:rPr>
              <a:t>02</a:t>
            </a:r>
            <a:endParaRPr lang="en-US" sz="4800" dirty="0"/>
          </a:p>
        </p:txBody>
      </p:sp>
      <p:sp>
        <p:nvSpPr>
          <p:cNvPr id="12" name="t21"/>
          <p:cNvSpPr txBox="1"/>
          <p:nvPr/>
        </p:nvSpPr>
        <p:spPr>
          <a:xfrm>
            <a:off x="6263640" y="2898648"/>
            <a:ext cx="5242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대상 리더 간략 소개</a:t>
            </a:r>
            <a:endParaRPr lang="en-US" sz="2600" dirty="0"/>
          </a:p>
        </p:txBody>
      </p:sp>
      <p:sp>
        <p:nvSpPr>
          <p:cNvPr id="13" name="t22"/>
          <p:cNvSpPr txBox="1"/>
          <p:nvPr/>
        </p:nvSpPr>
        <p:spPr>
          <a:xfrm>
            <a:off x="6263640" y="342900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프로필 · 회사 현황 · 재무 · 주주 구성</a:t>
            </a:r>
            <a:endParaRPr lang="en-US" sz="1500" dirty="0"/>
          </a:p>
        </p:txBody>
      </p:sp>
      <p:sp>
        <p:nvSpPr>
          <p:cNvPr id="14" name="l23"/>
          <p:cNvSpPr/>
          <p:nvPr/>
        </p:nvSpPr>
        <p:spPr>
          <a:xfrm>
            <a:off x="4800600" y="4069080"/>
            <a:ext cx="6705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t24"/>
          <p:cNvSpPr txBox="1"/>
          <p:nvPr/>
        </p:nvSpPr>
        <p:spPr>
          <a:xfrm>
            <a:off x="4800600" y="4270248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9D9D9"/>
                </a:solidFill>
              </a:rPr>
              <a:t>03</a:t>
            </a:r>
            <a:endParaRPr lang="en-US" sz="4800" dirty="0"/>
          </a:p>
        </p:txBody>
      </p:sp>
      <p:sp>
        <p:nvSpPr>
          <p:cNvPr id="16" name="t25"/>
          <p:cNvSpPr txBox="1"/>
          <p:nvPr/>
        </p:nvSpPr>
        <p:spPr>
          <a:xfrm>
            <a:off x="6263640" y="4361688"/>
            <a:ext cx="5242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팀플 보고서 작성 방법</a:t>
            </a:r>
            <a:endParaRPr lang="en-US" sz="2600" dirty="0"/>
          </a:p>
        </p:txBody>
      </p:sp>
      <p:sp>
        <p:nvSpPr>
          <p:cNvPr id="17" name="t26"/>
          <p:cNvSpPr txBox="1"/>
          <p:nvPr/>
        </p:nvSpPr>
        <p:spPr>
          <a:xfrm>
            <a:off x="6263640" y="489204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자료 조사 · 사례분석 틀 · 이론 연계 · 평가 방향</a:t>
            </a:r>
            <a:endParaRPr lang="en-US" sz="1500" dirty="0"/>
          </a:p>
        </p:txBody>
      </p:sp>
      <p:sp>
        <p:nvSpPr>
          <p:cNvPr id="19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0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1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8A8"/>
                </a:solidFill>
              </a:rPr>
              <a:t>저희가 답하려는 질문</a:t>
            </a:r>
            <a:endParaRPr lang="en-US" sz="1200" dirty="0"/>
          </a:p>
        </p:txBody>
      </p:sp>
      <p:sp>
        <p:nvSpPr>
          <p:cNvPr id="3" name="t27"/>
          <p:cNvSpPr txBox="1"/>
          <p:nvPr/>
        </p:nvSpPr>
        <p:spPr>
          <a:xfrm>
            <a:off x="685800" y="128016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정태영 부회장은 상황이 바뀔 때마다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자기 행동을 바꾼 리더일까,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아니면 상황 자체를 바꾼 리더일까?</a:t>
            </a:r>
            <a:endParaRPr lang="en-US" sz="3600" dirty="0"/>
          </a:p>
        </p:txBody>
      </p:sp>
      <p:sp>
        <p:nvSpPr>
          <p:cNvPr id="4" name="r28"/>
          <p:cNvSpPr/>
          <p:nvPr/>
        </p:nvSpPr>
        <p:spPr>
          <a:xfrm>
            <a:off x="685800" y="4069080"/>
            <a:ext cx="5227168" cy="192024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5" name="t29"/>
          <p:cNvSpPr txBox="1"/>
          <p:nvPr/>
        </p:nvSpPr>
        <p:spPr>
          <a:xfrm>
            <a:off x="4724248" y="416052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3A3A3A"/>
                </a:solidFill>
              </a:rPr>
              <a:t>A</a:t>
            </a:r>
            <a:endParaRPr lang="en-US" sz="6400" dirty="0"/>
          </a:p>
        </p:txBody>
      </p:sp>
      <p:sp>
        <p:nvSpPr>
          <p:cNvPr id="6" name="t30"/>
          <p:cNvSpPr txBox="1"/>
          <p:nvPr/>
        </p:nvSpPr>
        <p:spPr>
          <a:xfrm>
            <a:off x="1051560" y="4389120"/>
            <a:ext cx="376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리더가 바뀌었다면</a:t>
            </a:r>
            <a:endParaRPr lang="en-US" sz="1400" dirty="0"/>
          </a:p>
        </p:txBody>
      </p:sp>
      <p:sp>
        <p:nvSpPr>
          <p:cNvPr id="7" name="t31"/>
          <p:cNvSpPr txBox="1"/>
          <p:nvPr/>
        </p:nvSpPr>
        <p:spPr>
          <a:xfrm>
            <a:off x="1051560" y="4709160"/>
            <a:ext cx="376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House 경로-목표이론</a:t>
            </a:r>
            <a:endParaRPr lang="en-US" sz="2400" dirty="0"/>
          </a:p>
        </p:txBody>
      </p:sp>
      <p:sp>
        <p:nvSpPr>
          <p:cNvPr id="8" name="t32"/>
          <p:cNvSpPr txBox="1"/>
          <p:nvPr/>
        </p:nvSpPr>
        <p:spPr>
          <a:xfrm>
            <a:off x="1051560" y="52120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8A8A8"/>
                </a:solidFill>
              </a:rPr>
              <a:t>위기 때와 전환기에 리더 행동이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8A8A8"/>
                </a:solidFill>
              </a:rPr>
              <a:t>어떻게 달랐는지 본다</a:t>
            </a:r>
            <a:endParaRPr lang="en-US" sz="1500" dirty="0"/>
          </a:p>
        </p:txBody>
      </p:sp>
      <p:sp>
        <p:nvSpPr>
          <p:cNvPr id="9" name="r33"/>
          <p:cNvSpPr/>
          <p:nvPr/>
        </p:nvSpPr>
        <p:spPr>
          <a:xfrm>
            <a:off x="6278728" y="4069080"/>
            <a:ext cx="5227168" cy="192024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0" name="t34"/>
          <p:cNvSpPr txBox="1"/>
          <p:nvPr/>
        </p:nvSpPr>
        <p:spPr>
          <a:xfrm>
            <a:off x="10317175" y="416052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3A3A3A"/>
                </a:solidFill>
              </a:rPr>
              <a:t>B</a:t>
            </a:r>
            <a:endParaRPr lang="en-US" sz="6400" dirty="0"/>
          </a:p>
        </p:txBody>
      </p:sp>
      <p:sp>
        <p:nvSpPr>
          <p:cNvPr id="11" name="t35"/>
          <p:cNvSpPr txBox="1"/>
          <p:nvPr/>
        </p:nvSpPr>
        <p:spPr>
          <a:xfrm>
            <a:off x="6644488" y="4389120"/>
            <a:ext cx="376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상황을 바꿨다면</a:t>
            </a:r>
            <a:endParaRPr lang="en-US" sz="1400" dirty="0"/>
          </a:p>
        </p:txBody>
      </p:sp>
      <p:sp>
        <p:nvSpPr>
          <p:cNvPr id="12" name="t36"/>
          <p:cNvSpPr txBox="1"/>
          <p:nvPr/>
        </p:nvSpPr>
        <p:spPr>
          <a:xfrm>
            <a:off x="6644488" y="4709160"/>
            <a:ext cx="376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Fiedler 상황 모델</a:t>
            </a:r>
            <a:endParaRPr lang="en-US" sz="2400" dirty="0"/>
          </a:p>
        </p:txBody>
      </p:sp>
      <p:sp>
        <p:nvSpPr>
          <p:cNvPr id="13" name="t37"/>
          <p:cNvSpPr txBox="1"/>
          <p:nvPr/>
        </p:nvSpPr>
        <p:spPr>
          <a:xfrm>
            <a:off x="6644488" y="52120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8A8A8"/>
                </a:solidFill>
              </a:rPr>
              <a:t>제휴와 원칙으로 일하기 좋은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8A8A8"/>
                </a:solidFill>
              </a:rPr>
              <a:t>판을 만들었는지 본다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8"/>
          <p:cNvSpPr txBox="1"/>
          <p:nvPr/>
        </p:nvSpPr>
        <p:spPr>
          <a:xfrm>
            <a:off x="685800" y="1234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</a:rPr>
              <a:t>01</a:t>
            </a:r>
            <a:endParaRPr lang="en-US" sz="9600" dirty="0"/>
          </a:p>
        </p:txBody>
      </p:sp>
      <p:sp>
        <p:nvSpPr>
          <p:cNvPr id="3" name="t39"/>
          <p:cNvSpPr txBox="1"/>
          <p:nvPr/>
        </p:nvSpPr>
        <p:spPr>
          <a:xfrm>
            <a:off x="685800" y="2788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리더 및 선정 배경</a:t>
            </a:r>
            <a:endParaRPr lang="en-US" sz="4000" dirty="0"/>
          </a:p>
        </p:txBody>
      </p:sp>
      <p:sp>
        <p:nvSpPr>
          <p:cNvPr id="4" name="t40"/>
          <p:cNvSpPr txBox="1"/>
          <p:nvPr/>
        </p:nvSpPr>
        <p:spPr>
          <a:xfrm>
            <a:off x="68580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8A8"/>
                </a:solidFill>
              </a:rPr>
              <a:t>History · 선정 이유</a:t>
            </a:r>
            <a:endParaRPr lang="en-US" sz="1800" dirty="0"/>
          </a:p>
        </p:txBody>
      </p:sp>
      <p:sp>
        <p:nvSpPr>
          <p:cNvPr id="5" name="rr41"/>
          <p:cNvSpPr/>
          <p:nvPr/>
        </p:nvSpPr>
        <p:spPr>
          <a:xfrm>
            <a:off x="9177833" y="3377794"/>
            <a:ext cx="1737360" cy="2755453"/>
          </a:xfrm>
          <a:prstGeom prst="roundRect">
            <a:avLst>
              <a:gd name="adj" fmla="val 5000"/>
            </a:avLst>
          </a:prstGeom>
          <a:solidFill>
            <a:srgbClr val="2E2E2E"/>
          </a:solidFill>
          <a:ln/>
        </p:spPr>
      </p:sp>
      <p:sp>
        <p:nvSpPr>
          <p:cNvPr id="6" name="rr42"/>
          <p:cNvSpPr/>
          <p:nvPr/>
        </p:nvSpPr>
        <p:spPr>
          <a:xfrm>
            <a:off x="9368942" y="3621024"/>
            <a:ext cx="295351" cy="234544"/>
          </a:xfrm>
          <a:prstGeom prst="roundRect">
            <a:avLst>
              <a:gd name="adj" fmla="val 14815"/>
            </a:avLst>
          </a:prstGeom>
          <a:solidFill>
            <a:srgbClr val="2E2E2E"/>
          </a:solidFill>
          <a:ln/>
        </p:spPr>
      </p:sp>
      <p:sp>
        <p:nvSpPr>
          <p:cNvPr id="7" name="rr43"/>
          <p:cNvSpPr/>
          <p:nvPr/>
        </p:nvSpPr>
        <p:spPr>
          <a:xfrm>
            <a:off x="9473184" y="3151937"/>
            <a:ext cx="1737360" cy="2755453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/>
        </p:spPr>
      </p:sp>
      <p:sp>
        <p:nvSpPr>
          <p:cNvPr id="8" name="rr44"/>
          <p:cNvSpPr/>
          <p:nvPr/>
        </p:nvSpPr>
        <p:spPr>
          <a:xfrm>
            <a:off x="9664294" y="3395167"/>
            <a:ext cx="295351" cy="234544"/>
          </a:xfrm>
          <a:prstGeom prst="roundRect">
            <a:avLst>
              <a:gd name="adj" fmla="val 14815"/>
            </a:avLst>
          </a:prstGeom>
          <a:solidFill>
            <a:srgbClr val="4A4A4A"/>
          </a:solidFill>
          <a:ln/>
        </p:spPr>
      </p:sp>
      <p:sp>
        <p:nvSpPr>
          <p:cNvPr id="9" name="rr45"/>
          <p:cNvSpPr/>
          <p:nvPr/>
        </p:nvSpPr>
        <p:spPr>
          <a:xfrm>
            <a:off x="9768535" y="2926080"/>
            <a:ext cx="1737360" cy="2755453"/>
          </a:xfrm>
          <a:prstGeom prst="roundRect">
            <a:avLst>
              <a:gd name="adj" fmla="val 5000"/>
            </a:avLst>
          </a:prstGeom>
          <a:solidFill>
            <a:srgbClr val="D8452B"/>
          </a:solidFill>
          <a:ln/>
        </p:spPr>
      </p:sp>
      <p:sp>
        <p:nvSpPr>
          <p:cNvPr id="10" name="rr46"/>
          <p:cNvSpPr/>
          <p:nvPr/>
        </p:nvSpPr>
        <p:spPr>
          <a:xfrm>
            <a:off x="9959645" y="3169310"/>
            <a:ext cx="295351" cy="234544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/>
        </p:spPr>
      </p:sp>
      <p:sp>
        <p:nvSpPr>
          <p:cNvPr id="12" name="Text 0"/>
          <p:cNvSpPr/>
          <p:nvPr>
            <p:ph idx="100" type="body" hasCustomPrompt="1"/>
          </p:nvPr>
        </p:nvSpPr>
        <p:spPr>
          <a:xfrm>
            <a:off x="6858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01  리더 및 선정 배경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카드대란 한복판에 적자 회사를 맡아 23년째 경영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출처: 비즈니스포스트 「Who Is? 정태영」, 한경비즈니스 「2021 파워 금융인 30」, 프라임경제 「CEO리포트」</a:t>
            </a:r>
            <a:endParaRPr lang="en-US" sz="1000" dirty="0"/>
          </a:p>
        </p:txBody>
      </p:sp>
      <p:sp>
        <p:nvSpPr>
          <p:cNvPr id="5" name="t47"/>
          <p:cNvSpPr txBox="1"/>
          <p:nvPr/>
        </p:nvSpPr>
        <p:spPr>
          <a:xfrm>
            <a:off x="685800" y="17373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이전 경력 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1987–2002  현대종합상사 · 현대정공(미주·멕시코 법인장) · 현대모비스 · 기아</a:t>
            </a:r>
            <a:endParaRPr lang="en-US" sz="1400" dirty="0"/>
          </a:p>
        </p:txBody>
      </p:sp>
      <p:sp>
        <p:nvSpPr>
          <p:cNvPr id="6" name="r48"/>
          <p:cNvSpPr/>
          <p:nvPr/>
        </p:nvSpPr>
        <p:spPr>
          <a:xfrm>
            <a:off x="0" y="2331720"/>
            <a:ext cx="12191695" cy="2331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l49"/>
          <p:cNvSpPr/>
          <p:nvPr/>
        </p:nvSpPr>
        <p:spPr>
          <a:xfrm>
            <a:off x="685800" y="3291840"/>
            <a:ext cx="10820095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8" name="t50"/>
          <p:cNvSpPr txBox="1"/>
          <p:nvPr/>
        </p:nvSpPr>
        <p:spPr>
          <a:xfrm>
            <a:off x="685800" y="2514600"/>
            <a:ext cx="17119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2003</a:t>
            </a:r>
            <a:endParaRPr lang="en-US" sz="2800" dirty="0"/>
          </a:p>
        </p:txBody>
      </p:sp>
      <p:sp>
        <p:nvSpPr>
          <p:cNvPr id="9" name="d51"/>
          <p:cNvSpPr/>
          <p:nvPr/>
        </p:nvSpPr>
        <p:spPr>
          <a:xfrm>
            <a:off x="685800" y="3191256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52"/>
          <p:cNvSpPr txBox="1"/>
          <p:nvPr/>
        </p:nvSpPr>
        <p:spPr>
          <a:xfrm>
            <a:off x="685800" y="352044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대표이사 취임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첫해 6천억대 적자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현대카드M 출시</a:t>
            </a:r>
            <a:endParaRPr lang="en-US" sz="1400" dirty="0"/>
          </a:p>
        </p:txBody>
      </p:sp>
      <p:sp>
        <p:nvSpPr>
          <p:cNvPr id="11" name="t53"/>
          <p:cNvSpPr txBox="1"/>
          <p:nvPr/>
        </p:nvSpPr>
        <p:spPr>
          <a:xfrm>
            <a:off x="2489149" y="2514600"/>
            <a:ext cx="17119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2005</a:t>
            </a:r>
            <a:endParaRPr lang="en-US" sz="2200" dirty="0"/>
          </a:p>
        </p:txBody>
      </p:sp>
      <p:sp>
        <p:nvSpPr>
          <p:cNvPr id="12" name="d54"/>
          <p:cNvSpPr/>
          <p:nvPr/>
        </p:nvSpPr>
        <p:spPr>
          <a:xfrm>
            <a:off x="2489149" y="322783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3" name="t55"/>
          <p:cNvSpPr txBox="1"/>
          <p:nvPr/>
        </p:nvSpPr>
        <p:spPr>
          <a:xfrm>
            <a:off x="2489149" y="352044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초청제 프리미엄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‘the Black’ 출시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문화 마케팅 시작</a:t>
            </a:r>
            <a:endParaRPr lang="en-US" sz="1400" dirty="0"/>
          </a:p>
        </p:txBody>
      </p:sp>
      <p:sp>
        <p:nvSpPr>
          <p:cNvPr id="14" name="t56"/>
          <p:cNvSpPr txBox="1"/>
          <p:nvPr/>
        </p:nvSpPr>
        <p:spPr>
          <a:xfrm>
            <a:off x="4292498" y="2514600"/>
            <a:ext cx="17119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2015</a:t>
            </a:r>
            <a:endParaRPr lang="en-US" sz="2200" dirty="0"/>
          </a:p>
        </p:txBody>
      </p:sp>
      <p:sp>
        <p:nvSpPr>
          <p:cNvPr id="15" name="d57"/>
          <p:cNvSpPr/>
          <p:nvPr/>
        </p:nvSpPr>
        <p:spPr>
          <a:xfrm>
            <a:off x="4292498" y="322783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6" name="t58"/>
          <p:cNvSpPr txBox="1"/>
          <p:nvPr/>
        </p:nvSpPr>
        <p:spPr>
          <a:xfrm>
            <a:off x="4292498" y="352044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부회장 승진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‘디지털 현대카드’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선언</a:t>
            </a:r>
            <a:endParaRPr lang="en-US" sz="1400" dirty="0"/>
          </a:p>
        </p:txBody>
      </p:sp>
      <p:sp>
        <p:nvSpPr>
          <p:cNvPr id="17" name="t59"/>
          <p:cNvSpPr txBox="1"/>
          <p:nvPr/>
        </p:nvSpPr>
        <p:spPr>
          <a:xfrm>
            <a:off x="6095848" y="2514600"/>
            <a:ext cx="17119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2018</a:t>
            </a:r>
            <a:endParaRPr lang="en-US" sz="2200" dirty="0"/>
          </a:p>
        </p:txBody>
      </p:sp>
      <p:sp>
        <p:nvSpPr>
          <p:cNvPr id="18" name="d60"/>
          <p:cNvSpPr/>
          <p:nvPr/>
        </p:nvSpPr>
        <p:spPr>
          <a:xfrm>
            <a:off x="6095848" y="322783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t61"/>
          <p:cNvSpPr txBox="1"/>
          <p:nvPr/>
        </p:nvSpPr>
        <p:spPr>
          <a:xfrm>
            <a:off x="6095848" y="352044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수수료 인하로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실적 악화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창사 첫 희망퇴직</a:t>
            </a:r>
            <a:endParaRPr lang="en-US" sz="1400" dirty="0"/>
          </a:p>
        </p:txBody>
      </p:sp>
      <p:sp>
        <p:nvSpPr>
          <p:cNvPr id="20" name="t62"/>
          <p:cNvSpPr txBox="1"/>
          <p:nvPr/>
        </p:nvSpPr>
        <p:spPr>
          <a:xfrm>
            <a:off x="7899197" y="2514600"/>
            <a:ext cx="17119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2023</a:t>
            </a:r>
            <a:endParaRPr lang="en-US" sz="2200" dirty="0"/>
          </a:p>
        </p:txBody>
      </p:sp>
      <p:sp>
        <p:nvSpPr>
          <p:cNvPr id="21" name="d63"/>
          <p:cNvSpPr/>
          <p:nvPr/>
        </p:nvSpPr>
        <p:spPr>
          <a:xfrm>
            <a:off x="7899197" y="322783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2" name="t64"/>
          <p:cNvSpPr txBox="1"/>
          <p:nvPr/>
        </p:nvSpPr>
        <p:spPr>
          <a:xfrm>
            <a:off x="7899197" y="352044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애플페이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국내 첫 도입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‘전시체제’ 선언</a:t>
            </a:r>
            <a:endParaRPr lang="en-US" sz="1400" dirty="0"/>
          </a:p>
        </p:txBody>
      </p:sp>
      <p:sp>
        <p:nvSpPr>
          <p:cNvPr id="23" name="t65"/>
          <p:cNvSpPr txBox="1"/>
          <p:nvPr/>
        </p:nvSpPr>
        <p:spPr>
          <a:xfrm>
            <a:off x="9702546" y="2514600"/>
            <a:ext cx="17119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2024–26</a:t>
            </a:r>
            <a:endParaRPr lang="en-US" sz="2200" dirty="0"/>
          </a:p>
        </p:txBody>
      </p:sp>
      <p:sp>
        <p:nvSpPr>
          <p:cNvPr id="24" name="d66"/>
          <p:cNvSpPr/>
          <p:nvPr/>
        </p:nvSpPr>
        <p:spPr>
          <a:xfrm>
            <a:off x="9702546" y="322783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5" name="t67"/>
          <p:cNvSpPr txBox="1"/>
          <p:nvPr/>
        </p:nvSpPr>
        <p:spPr>
          <a:xfrm>
            <a:off x="9702546" y="352044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AI 플랫폼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‘유니버스’를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일본에 수출</a:t>
            </a:r>
            <a:endParaRPr lang="en-US" sz="1400" dirty="0"/>
          </a:p>
        </p:txBody>
      </p:sp>
      <p:sp>
        <p:nvSpPr>
          <p:cNvPr id="26" name="t68"/>
          <p:cNvSpPr txBox="1"/>
          <p:nvPr/>
        </p:nvSpPr>
        <p:spPr>
          <a:xfrm>
            <a:off x="68580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분석은 네 시기로 나눠서</a:t>
            </a:r>
            <a:endParaRPr lang="en-US" sz="1200" dirty="0"/>
          </a:p>
        </p:txBody>
      </p:sp>
      <p:sp>
        <p:nvSpPr>
          <p:cNvPr id="27" name="r69"/>
          <p:cNvSpPr/>
          <p:nvPr/>
        </p:nvSpPr>
        <p:spPr>
          <a:xfrm>
            <a:off x="685800" y="5230368"/>
            <a:ext cx="3515258" cy="54864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8" name="t70"/>
          <p:cNvSpPr txBox="1"/>
          <p:nvPr/>
        </p:nvSpPr>
        <p:spPr>
          <a:xfrm>
            <a:off x="850392" y="5230368"/>
            <a:ext cx="3332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</a:rPr>
              <a:t>①  위기와 회생</a:t>
            </a:r>
            <a:endParaRPr lang="en-US" sz="1400" dirty="0"/>
          </a:p>
        </p:txBody>
      </p:sp>
      <p:sp>
        <p:nvSpPr>
          <p:cNvPr id="29" name="r71"/>
          <p:cNvSpPr/>
          <p:nvPr/>
        </p:nvSpPr>
        <p:spPr>
          <a:xfrm>
            <a:off x="4292498" y="5230368"/>
            <a:ext cx="1711909" cy="54864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30" name="t72"/>
          <p:cNvSpPr txBox="1"/>
          <p:nvPr/>
        </p:nvSpPr>
        <p:spPr>
          <a:xfrm>
            <a:off x="4457090" y="5230368"/>
            <a:ext cx="15290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</a:rPr>
              <a:t>②  브랜드 성장</a:t>
            </a:r>
            <a:endParaRPr lang="en-US" sz="1400" dirty="0"/>
          </a:p>
        </p:txBody>
      </p:sp>
      <p:sp>
        <p:nvSpPr>
          <p:cNvPr id="31" name="r73"/>
          <p:cNvSpPr/>
          <p:nvPr/>
        </p:nvSpPr>
        <p:spPr>
          <a:xfrm>
            <a:off x="6095848" y="5230368"/>
            <a:ext cx="1711909" cy="548640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32" name="t74"/>
          <p:cNvSpPr txBox="1"/>
          <p:nvPr/>
        </p:nvSpPr>
        <p:spPr>
          <a:xfrm>
            <a:off x="6260440" y="5230368"/>
            <a:ext cx="15290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③  구조조정</a:t>
            </a:r>
            <a:endParaRPr lang="en-US" sz="1400" dirty="0"/>
          </a:p>
        </p:txBody>
      </p:sp>
      <p:sp>
        <p:nvSpPr>
          <p:cNvPr id="33" name="r75"/>
          <p:cNvSpPr/>
          <p:nvPr/>
        </p:nvSpPr>
        <p:spPr>
          <a:xfrm>
            <a:off x="7899197" y="5230368"/>
            <a:ext cx="3515258" cy="5486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4" name="t76"/>
          <p:cNvSpPr txBox="1"/>
          <p:nvPr/>
        </p:nvSpPr>
        <p:spPr>
          <a:xfrm>
            <a:off x="8063789" y="5230368"/>
            <a:ext cx="3332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④  디지털 전환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01  리더 및 선정 배경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상황에 따라 리더십이 어떻게 달라지는지 보기 좋은 사례</a:t>
            </a:r>
            <a:endParaRPr lang="en-US" sz="2800" dirty="0"/>
          </a:p>
        </p:txBody>
      </p:sp>
      <p:sp>
        <p:nvSpPr>
          <p:cNvPr id="4" name="r77"/>
          <p:cNvSpPr/>
          <p:nvPr/>
        </p:nvSpPr>
        <p:spPr>
          <a:xfrm>
            <a:off x="685800" y="1783080"/>
            <a:ext cx="5852160" cy="42062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t78"/>
          <p:cNvSpPr txBox="1"/>
          <p:nvPr/>
        </p:nvSpPr>
        <p:spPr>
          <a:xfrm>
            <a:off x="114300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79"/>
          <p:cNvSpPr txBox="1"/>
          <p:nvPr/>
        </p:nvSpPr>
        <p:spPr>
          <a:xfrm>
            <a:off x="1143000" y="26517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chemeClr val="bg1"/>
                </a:solidFill>
              </a:rPr>
              <a:t>성격이 전혀 다른 네 시기를</a:t>
            </a:r>
            <a:endParaRPr lang="en-US" sz="2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chemeClr val="bg1"/>
                </a:solidFill>
              </a:rPr>
              <a:t>한 사람이 이끌었다</a:t>
            </a:r>
            <a:endParaRPr lang="en-US" sz="2800" dirty="0"/>
          </a:p>
        </p:txBody>
      </p:sp>
      <p:sp>
        <p:nvSpPr>
          <p:cNvPr id="7" name="t80"/>
          <p:cNvSpPr txBox="1"/>
          <p:nvPr/>
        </p:nvSpPr>
        <p:spPr>
          <a:xfrm>
            <a:off x="1143000" y="3931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8A8A8"/>
                </a:solidFill>
              </a:rPr>
              <a:t>위기부터 디지털 전환까지 한 CEO가 다 겪었기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8A8A8"/>
                </a:solidFill>
              </a:rPr>
              <a:t>때문에 시기별로 나란히 놓고 비교할 수 있다</a:t>
            </a:r>
            <a:endParaRPr lang="en-US" sz="1500" dirty="0"/>
          </a:p>
        </p:txBody>
      </p:sp>
      <p:sp>
        <p:nvSpPr>
          <p:cNvPr id="8" name="r81"/>
          <p:cNvSpPr/>
          <p:nvPr/>
        </p:nvSpPr>
        <p:spPr>
          <a:xfrm>
            <a:off x="1143000" y="5029200"/>
            <a:ext cx="1165860" cy="50292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9" name="t82"/>
          <p:cNvSpPr txBox="1"/>
          <p:nvPr/>
        </p:nvSpPr>
        <p:spPr>
          <a:xfrm>
            <a:off x="1143000" y="5029200"/>
            <a:ext cx="1165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</a:rPr>
              <a:t>위기</a:t>
            </a:r>
            <a:endParaRPr lang="en-US" sz="1300" dirty="0"/>
          </a:p>
        </p:txBody>
      </p:sp>
      <p:sp>
        <p:nvSpPr>
          <p:cNvPr id="10" name="r83"/>
          <p:cNvSpPr/>
          <p:nvPr/>
        </p:nvSpPr>
        <p:spPr>
          <a:xfrm>
            <a:off x="2400300" y="5029200"/>
            <a:ext cx="1165860" cy="50292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1" name="t84"/>
          <p:cNvSpPr txBox="1"/>
          <p:nvPr/>
        </p:nvSpPr>
        <p:spPr>
          <a:xfrm>
            <a:off x="2400300" y="5029200"/>
            <a:ext cx="1165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</a:rPr>
              <a:t>성장</a:t>
            </a:r>
            <a:endParaRPr lang="en-US" sz="1300" dirty="0"/>
          </a:p>
        </p:txBody>
      </p:sp>
      <p:sp>
        <p:nvSpPr>
          <p:cNvPr id="12" name="r85"/>
          <p:cNvSpPr/>
          <p:nvPr/>
        </p:nvSpPr>
        <p:spPr>
          <a:xfrm>
            <a:off x="3657600" y="5029200"/>
            <a:ext cx="1165860" cy="502920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13" name="t86"/>
          <p:cNvSpPr txBox="1"/>
          <p:nvPr/>
        </p:nvSpPr>
        <p:spPr>
          <a:xfrm>
            <a:off x="3657600" y="5029200"/>
            <a:ext cx="1165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구조조정</a:t>
            </a:r>
            <a:endParaRPr lang="en-US" sz="1300" dirty="0"/>
          </a:p>
        </p:txBody>
      </p:sp>
      <p:sp>
        <p:nvSpPr>
          <p:cNvPr id="14" name="r87"/>
          <p:cNvSpPr/>
          <p:nvPr/>
        </p:nvSpPr>
        <p:spPr>
          <a:xfrm>
            <a:off x="4914900" y="5029200"/>
            <a:ext cx="1165860" cy="502920"/>
          </a:xfrm>
          <a:prstGeom prst="rect">
            <a:avLst/>
          </a:prstGeom>
          <a:solidFill>
            <a:srgbClr val="D8452B"/>
          </a:solidFill>
          <a:ln/>
        </p:spPr>
      </p:sp>
      <p:sp>
        <p:nvSpPr>
          <p:cNvPr id="15" name="t88"/>
          <p:cNvSpPr txBox="1"/>
          <p:nvPr/>
        </p:nvSpPr>
        <p:spPr>
          <a:xfrm>
            <a:off x="4914900" y="5029200"/>
            <a:ext cx="1165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디지털 전환</a:t>
            </a:r>
            <a:endParaRPr lang="en-US" sz="1300" dirty="0"/>
          </a:p>
        </p:txBody>
      </p:sp>
      <p:sp>
        <p:nvSpPr>
          <p:cNvPr id="16" name="r89"/>
          <p:cNvSpPr/>
          <p:nvPr/>
        </p:nvSpPr>
        <p:spPr>
          <a:xfrm>
            <a:off x="7086600" y="1783080"/>
            <a:ext cx="4419295" cy="2057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90"/>
          <p:cNvSpPr txBox="1"/>
          <p:nvPr/>
        </p:nvSpPr>
        <p:spPr>
          <a:xfrm>
            <a:off x="7452360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02</a:t>
            </a:r>
            <a:endParaRPr lang="en-US" sz="1600" dirty="0"/>
          </a:p>
        </p:txBody>
      </p:sp>
      <p:sp>
        <p:nvSpPr>
          <p:cNvPr id="18" name="t91"/>
          <p:cNvSpPr txBox="1"/>
          <p:nvPr/>
        </p:nvSpPr>
        <p:spPr>
          <a:xfrm>
            <a:off x="7452360" y="2468880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본인이 직접 한 말이 많다</a:t>
            </a:r>
            <a:endParaRPr lang="en-US" sz="2000" dirty="0"/>
          </a:p>
        </p:txBody>
      </p:sp>
      <p:sp>
        <p:nvSpPr>
          <p:cNvPr id="19" name="t92"/>
          <p:cNvSpPr txBox="1"/>
          <p:nvPr/>
        </p:nvSpPr>
        <p:spPr>
          <a:xfrm>
            <a:off x="7452360" y="2953512"/>
            <a:ext cx="3870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SNS와 인터뷰가 많아서 기사 내용과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본인 설명을 서로 맞춰 볼 수 있다</a:t>
            </a:r>
            <a:endParaRPr lang="en-US" sz="1400" dirty="0"/>
          </a:p>
        </p:txBody>
      </p:sp>
      <p:sp>
        <p:nvSpPr>
          <p:cNvPr id="20" name="r93"/>
          <p:cNvSpPr/>
          <p:nvPr/>
        </p:nvSpPr>
        <p:spPr>
          <a:xfrm>
            <a:off x="7086600" y="3931920"/>
            <a:ext cx="4419295" cy="2057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t94"/>
          <p:cNvSpPr txBox="1"/>
          <p:nvPr/>
        </p:nvSpPr>
        <p:spPr>
          <a:xfrm>
            <a:off x="7452360" y="4206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t95"/>
          <p:cNvSpPr txBox="1"/>
          <p:nvPr/>
        </p:nvSpPr>
        <p:spPr>
          <a:xfrm>
            <a:off x="7452360" y="4617720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성과만큼 논란도 있다</a:t>
            </a:r>
            <a:endParaRPr lang="en-US" sz="2000" dirty="0"/>
          </a:p>
        </p:txBody>
      </p:sp>
      <p:sp>
        <p:nvSpPr>
          <p:cNvPr id="23" name="t96"/>
          <p:cNvSpPr txBox="1"/>
          <p:nvPr/>
        </p:nvSpPr>
        <p:spPr>
          <a:xfrm>
            <a:off x="7452360" y="5102352"/>
            <a:ext cx="3870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업계 2위까지 키웠지만 희망퇴직, 애플페이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수수료 논란도 있어 한쪽으로 치우치지 않는다</a:t>
            </a:r>
            <a:endParaRPr lang="en-US" sz="1400" dirty="0"/>
          </a:p>
        </p:txBody>
      </p:sp>
      <p:sp>
        <p:nvSpPr>
          <p:cNvPr id="25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97"/>
          <p:cNvSpPr txBox="1"/>
          <p:nvPr/>
        </p:nvSpPr>
        <p:spPr>
          <a:xfrm>
            <a:off x="685800" y="1234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</a:rPr>
              <a:t>02</a:t>
            </a:r>
            <a:endParaRPr lang="en-US" sz="9600" dirty="0"/>
          </a:p>
        </p:txBody>
      </p:sp>
      <p:sp>
        <p:nvSpPr>
          <p:cNvPr id="3" name="t98"/>
          <p:cNvSpPr txBox="1"/>
          <p:nvPr/>
        </p:nvSpPr>
        <p:spPr>
          <a:xfrm>
            <a:off x="685800" y="2788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대상 리더 간략 소개</a:t>
            </a:r>
            <a:endParaRPr lang="en-US" sz="4000" dirty="0"/>
          </a:p>
        </p:txBody>
      </p:sp>
      <p:sp>
        <p:nvSpPr>
          <p:cNvPr id="4" name="t99"/>
          <p:cNvSpPr txBox="1"/>
          <p:nvPr/>
        </p:nvSpPr>
        <p:spPr>
          <a:xfrm>
            <a:off x="68580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8A8"/>
                </a:solidFill>
              </a:rPr>
              <a:t>프로필 · 회사 현황 · 재무 · 주주 구성</a:t>
            </a:r>
            <a:endParaRPr lang="en-US" sz="1800" dirty="0"/>
          </a:p>
        </p:txBody>
      </p:sp>
      <p:sp>
        <p:nvSpPr>
          <p:cNvPr id="5" name="rr100"/>
          <p:cNvSpPr/>
          <p:nvPr/>
        </p:nvSpPr>
        <p:spPr>
          <a:xfrm>
            <a:off x="9177833" y="3377794"/>
            <a:ext cx="1737360" cy="2755453"/>
          </a:xfrm>
          <a:prstGeom prst="roundRect">
            <a:avLst>
              <a:gd name="adj" fmla="val 5000"/>
            </a:avLst>
          </a:prstGeom>
          <a:solidFill>
            <a:srgbClr val="2E2E2E"/>
          </a:solidFill>
          <a:ln/>
        </p:spPr>
      </p:sp>
      <p:sp>
        <p:nvSpPr>
          <p:cNvPr id="6" name="rr101"/>
          <p:cNvSpPr/>
          <p:nvPr/>
        </p:nvSpPr>
        <p:spPr>
          <a:xfrm>
            <a:off x="9368942" y="3621024"/>
            <a:ext cx="295351" cy="234544"/>
          </a:xfrm>
          <a:prstGeom prst="roundRect">
            <a:avLst>
              <a:gd name="adj" fmla="val 14815"/>
            </a:avLst>
          </a:prstGeom>
          <a:solidFill>
            <a:srgbClr val="2E2E2E"/>
          </a:solidFill>
          <a:ln/>
        </p:spPr>
      </p:sp>
      <p:sp>
        <p:nvSpPr>
          <p:cNvPr id="7" name="rr102"/>
          <p:cNvSpPr/>
          <p:nvPr/>
        </p:nvSpPr>
        <p:spPr>
          <a:xfrm>
            <a:off x="9473184" y="3151937"/>
            <a:ext cx="1737360" cy="2755453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/>
        </p:spPr>
      </p:sp>
      <p:sp>
        <p:nvSpPr>
          <p:cNvPr id="8" name="rr103"/>
          <p:cNvSpPr/>
          <p:nvPr/>
        </p:nvSpPr>
        <p:spPr>
          <a:xfrm>
            <a:off x="9664294" y="3395167"/>
            <a:ext cx="295351" cy="234544"/>
          </a:xfrm>
          <a:prstGeom prst="roundRect">
            <a:avLst>
              <a:gd name="adj" fmla="val 14815"/>
            </a:avLst>
          </a:prstGeom>
          <a:solidFill>
            <a:srgbClr val="4A4A4A"/>
          </a:solidFill>
          <a:ln/>
        </p:spPr>
      </p:sp>
      <p:sp>
        <p:nvSpPr>
          <p:cNvPr id="9" name="rr104"/>
          <p:cNvSpPr/>
          <p:nvPr/>
        </p:nvSpPr>
        <p:spPr>
          <a:xfrm>
            <a:off x="9768535" y="2926080"/>
            <a:ext cx="1737360" cy="2755453"/>
          </a:xfrm>
          <a:prstGeom prst="roundRect">
            <a:avLst>
              <a:gd name="adj" fmla="val 5000"/>
            </a:avLst>
          </a:prstGeom>
          <a:solidFill>
            <a:srgbClr val="D8452B"/>
          </a:solidFill>
          <a:ln/>
        </p:spPr>
      </p:sp>
      <p:sp>
        <p:nvSpPr>
          <p:cNvPr id="10" name="rr105"/>
          <p:cNvSpPr/>
          <p:nvPr/>
        </p:nvSpPr>
        <p:spPr>
          <a:xfrm>
            <a:off x="9959645" y="3169310"/>
            <a:ext cx="295351" cy="234544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/>
        </p:spPr>
      </p:sp>
      <p:sp>
        <p:nvSpPr>
          <p:cNvPr id="12" name="Text 0"/>
          <p:cNvSpPr/>
          <p:nvPr>
            <p:ph idx="100" type="body" hasCustomPrompt="1"/>
          </p:nvPr>
        </p:nvSpPr>
        <p:spPr>
          <a:xfrm>
            <a:off x="6858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02  대상 리더 간략 소개 · 프로필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전문경영인이자 오너 일가의 사위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출처: 비즈니스포스트 「Who Is? 정태영」, 현대카드 반기보고서 제32기 임원 현황(DART)</a:t>
            </a:r>
            <a:endParaRPr lang="en-US" sz="1000" dirty="0"/>
          </a:p>
        </p:txBody>
      </p:sp>
      <p:sp>
        <p:nvSpPr>
          <p:cNvPr id="5" name="rr106"/>
          <p:cNvSpPr/>
          <p:nvPr/>
        </p:nvSpPr>
        <p:spPr>
          <a:xfrm>
            <a:off x="738835" y="2092147"/>
            <a:ext cx="2377440" cy="3770620"/>
          </a:xfrm>
          <a:prstGeom prst="roundRect">
            <a:avLst>
              <a:gd name="adj" fmla="val 5000"/>
            </a:avLst>
          </a:prstGeom>
          <a:solidFill>
            <a:srgbClr val="BDBDBD"/>
          </a:solidFill>
          <a:ln/>
        </p:spPr>
      </p:sp>
      <p:sp>
        <p:nvSpPr>
          <p:cNvPr id="6" name="rr107"/>
          <p:cNvSpPr/>
          <p:nvPr/>
        </p:nvSpPr>
        <p:spPr>
          <a:xfrm>
            <a:off x="1000354" y="2424989"/>
            <a:ext cx="404165" cy="320954"/>
          </a:xfrm>
          <a:prstGeom prst="roundRect">
            <a:avLst>
              <a:gd name="adj" fmla="val 14815"/>
            </a:avLst>
          </a:prstGeom>
          <a:solidFill>
            <a:srgbClr val="BDBDBD"/>
          </a:solidFill>
          <a:ln/>
        </p:spPr>
      </p:sp>
      <p:sp>
        <p:nvSpPr>
          <p:cNvPr id="7" name="rr108"/>
          <p:cNvSpPr/>
          <p:nvPr/>
        </p:nvSpPr>
        <p:spPr>
          <a:xfrm>
            <a:off x="1143000" y="1783080"/>
            <a:ext cx="2377440" cy="377062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8" name="rr109"/>
          <p:cNvSpPr/>
          <p:nvPr/>
        </p:nvSpPr>
        <p:spPr>
          <a:xfrm>
            <a:off x="1404518" y="2115922"/>
            <a:ext cx="404165" cy="320954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9" name="t110"/>
          <p:cNvSpPr txBox="1"/>
          <p:nvPr/>
        </p:nvSpPr>
        <p:spPr>
          <a:xfrm>
            <a:off x="1404518" y="4555175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정태영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</a:rPr>
              <a:t>Ted Chung · 1960</a:t>
            </a:r>
            <a:endParaRPr lang="en-US" sz="1200" dirty="0"/>
          </a:p>
        </p:txBody>
      </p:sp>
      <p:sp>
        <p:nvSpPr>
          <p:cNvPr id="10" name="t111"/>
          <p:cNvSpPr txBox="1"/>
          <p:nvPr/>
        </p:nvSpPr>
        <p:spPr>
          <a:xfrm>
            <a:off x="4069080" y="17830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학력</a:t>
            </a:r>
            <a:endParaRPr lang="en-US" sz="1400" dirty="0"/>
          </a:p>
        </p:txBody>
      </p:sp>
      <p:sp>
        <p:nvSpPr>
          <p:cNvPr id="11" name="t112"/>
          <p:cNvSpPr txBox="1"/>
          <p:nvPr/>
        </p:nvSpPr>
        <p:spPr>
          <a:xfrm>
            <a:off x="5989320" y="1783080"/>
            <a:ext cx="5516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서울대 불어불문학과, 미국 MIT 경영대학원 MBA</a:t>
            </a:r>
            <a:endParaRPr lang="en-US" sz="1700" dirty="0"/>
          </a:p>
        </p:txBody>
      </p:sp>
      <p:sp>
        <p:nvSpPr>
          <p:cNvPr id="12" name="l113"/>
          <p:cNvSpPr/>
          <p:nvPr/>
        </p:nvSpPr>
        <p:spPr>
          <a:xfrm>
            <a:off x="4069080" y="2441448"/>
            <a:ext cx="74368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3" name="t114"/>
          <p:cNvSpPr txBox="1"/>
          <p:nvPr/>
        </p:nvSpPr>
        <p:spPr>
          <a:xfrm>
            <a:off x="4069080" y="24414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현직</a:t>
            </a:r>
            <a:endParaRPr lang="en-US" sz="1400" dirty="0"/>
          </a:p>
        </p:txBody>
      </p:sp>
      <p:sp>
        <p:nvSpPr>
          <p:cNvPr id="14" name="t115"/>
          <p:cNvSpPr txBox="1"/>
          <p:nvPr/>
        </p:nvSpPr>
        <p:spPr>
          <a:xfrm>
            <a:off x="5989320" y="2441448"/>
            <a:ext cx="5516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현대카드 · 현대커머셜 대표이사 부회장</a:t>
            </a:r>
            <a:endParaRPr lang="en-US" sz="1700" dirty="0"/>
          </a:p>
        </p:txBody>
      </p:sp>
      <p:sp>
        <p:nvSpPr>
          <p:cNvPr id="15" name="l116"/>
          <p:cNvSpPr/>
          <p:nvPr/>
        </p:nvSpPr>
        <p:spPr>
          <a:xfrm>
            <a:off x="4069080" y="3099816"/>
            <a:ext cx="74368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6" name="t117"/>
          <p:cNvSpPr txBox="1"/>
          <p:nvPr/>
        </p:nvSpPr>
        <p:spPr>
          <a:xfrm>
            <a:off x="4069080" y="309981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그룹과의 관계</a:t>
            </a:r>
            <a:endParaRPr lang="en-US" sz="1400" dirty="0"/>
          </a:p>
        </p:txBody>
      </p:sp>
      <p:sp>
        <p:nvSpPr>
          <p:cNvPr id="17" name="t118"/>
          <p:cNvSpPr txBox="1"/>
          <p:nvPr/>
        </p:nvSpPr>
        <p:spPr>
          <a:xfrm>
            <a:off x="5989320" y="3099816"/>
            <a:ext cx="5516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정몽구 현대차그룹 명예회장의 사위</a:t>
            </a:r>
            <a:endParaRPr lang="en-US" sz="1700" dirty="0"/>
          </a:p>
        </p:txBody>
      </p:sp>
      <p:sp>
        <p:nvSpPr>
          <p:cNvPr id="18" name="l119"/>
          <p:cNvSpPr/>
          <p:nvPr/>
        </p:nvSpPr>
        <p:spPr>
          <a:xfrm>
            <a:off x="4069080" y="3758184"/>
            <a:ext cx="74368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9" name="t120"/>
          <p:cNvSpPr txBox="1"/>
          <p:nvPr/>
        </p:nvSpPr>
        <p:spPr>
          <a:xfrm>
            <a:off x="4069080" y="375818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별명</a:t>
            </a:r>
            <a:endParaRPr lang="en-US" sz="1400" dirty="0"/>
          </a:p>
        </p:txBody>
      </p:sp>
      <p:sp>
        <p:nvSpPr>
          <p:cNvPr id="20" name="t121"/>
          <p:cNvSpPr txBox="1"/>
          <p:nvPr/>
        </p:nvSpPr>
        <p:spPr>
          <a:xfrm>
            <a:off x="5989320" y="3758184"/>
            <a:ext cx="5516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‘마케팅 천재’, ‘괴짜 경영인’</a:t>
            </a:r>
            <a:endParaRPr lang="en-US" sz="1700" dirty="0"/>
          </a:p>
        </p:txBody>
      </p:sp>
      <p:sp>
        <p:nvSpPr>
          <p:cNvPr id="21" name="r122"/>
          <p:cNvSpPr/>
          <p:nvPr/>
        </p:nvSpPr>
        <p:spPr>
          <a:xfrm>
            <a:off x="4069080" y="4690872"/>
            <a:ext cx="7436815" cy="129844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t123"/>
          <p:cNvSpPr txBox="1"/>
          <p:nvPr/>
        </p:nvSpPr>
        <p:spPr>
          <a:xfrm>
            <a:off x="4434840" y="4690872"/>
            <a:ext cx="3291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23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 년째</a:t>
            </a:r>
            <a:endParaRPr lang="en-US" sz="6000" dirty="0"/>
          </a:p>
        </p:txBody>
      </p:sp>
      <p:sp>
        <p:nvSpPr>
          <p:cNvPr id="23" name="t124"/>
          <p:cNvSpPr txBox="1"/>
          <p:nvPr/>
        </p:nvSpPr>
        <p:spPr>
          <a:xfrm>
            <a:off x="7726680" y="4690872"/>
            <a:ext cx="350489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2003년 대표이사 취임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현 임기 2027년 3월까지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02  대상 리더 간략 소개 · 회사 현황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현대차그룹 계열 카드사, 회원 1,311만 명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출처: 현대카드 반기보고서 제32기(2026.8.14 제출) Ⅰ. 회사의 개요, DART · 회원·직원 수는 2026년 6월 말 기준</a:t>
            </a:r>
            <a:endParaRPr lang="en-US" sz="1000" dirty="0"/>
          </a:p>
        </p:txBody>
      </p:sp>
      <p:sp>
        <p:nvSpPr>
          <p:cNvPr id="5" name="r125"/>
          <p:cNvSpPr/>
          <p:nvPr/>
        </p:nvSpPr>
        <p:spPr>
          <a:xfrm>
            <a:off x="685800" y="1783080"/>
            <a:ext cx="3423818" cy="1417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126"/>
          <p:cNvSpPr txBox="1"/>
          <p:nvPr/>
        </p:nvSpPr>
        <p:spPr>
          <a:xfrm>
            <a:off x="1005840" y="196596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2001년</a:t>
            </a:r>
            <a:endParaRPr lang="en-US" sz="3600" dirty="0"/>
          </a:p>
        </p:txBody>
      </p:sp>
      <p:sp>
        <p:nvSpPr>
          <p:cNvPr id="7" name="t127"/>
          <p:cNvSpPr txBox="1"/>
          <p:nvPr/>
        </p:nvSpPr>
        <p:spPr>
          <a:xfrm>
            <a:off x="1005840" y="2715768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현대카드 출범</a:t>
            </a:r>
            <a:endParaRPr lang="en-US" sz="1400" dirty="0"/>
          </a:p>
        </p:txBody>
      </p:sp>
      <p:sp>
        <p:nvSpPr>
          <p:cNvPr id="8" name="r128"/>
          <p:cNvSpPr/>
          <p:nvPr/>
        </p:nvSpPr>
        <p:spPr>
          <a:xfrm>
            <a:off x="4383938" y="1783080"/>
            <a:ext cx="3423818" cy="1417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129"/>
          <p:cNvSpPr txBox="1"/>
          <p:nvPr/>
        </p:nvSpPr>
        <p:spPr>
          <a:xfrm>
            <a:off x="4703978" y="196596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1,311만 명</a:t>
            </a:r>
            <a:endParaRPr lang="en-US" sz="3600" dirty="0"/>
          </a:p>
        </p:txBody>
      </p:sp>
      <p:sp>
        <p:nvSpPr>
          <p:cNvPr id="10" name="t130"/>
          <p:cNvSpPr txBox="1"/>
          <p:nvPr/>
        </p:nvSpPr>
        <p:spPr>
          <a:xfrm>
            <a:off x="4703978" y="2715768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신용카드 회원</a:t>
            </a:r>
            <a:endParaRPr lang="en-US" sz="1400" dirty="0"/>
          </a:p>
        </p:txBody>
      </p:sp>
      <p:sp>
        <p:nvSpPr>
          <p:cNvPr id="11" name="r131"/>
          <p:cNvSpPr/>
          <p:nvPr/>
        </p:nvSpPr>
        <p:spPr>
          <a:xfrm>
            <a:off x="8082077" y="1783080"/>
            <a:ext cx="3423818" cy="1417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132"/>
          <p:cNvSpPr txBox="1"/>
          <p:nvPr/>
        </p:nvSpPr>
        <p:spPr>
          <a:xfrm>
            <a:off x="8402117" y="196596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2,116명</a:t>
            </a:r>
            <a:endParaRPr lang="en-US" sz="3600" dirty="0"/>
          </a:p>
        </p:txBody>
      </p:sp>
      <p:sp>
        <p:nvSpPr>
          <p:cNvPr id="13" name="t133"/>
          <p:cNvSpPr txBox="1"/>
          <p:nvPr/>
        </p:nvSpPr>
        <p:spPr>
          <a:xfrm>
            <a:off x="8402117" y="2715768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직원 · 본사 서울 여의도</a:t>
            </a:r>
            <a:endParaRPr lang="en-US" sz="1400" dirty="0"/>
          </a:p>
        </p:txBody>
      </p:sp>
      <p:sp>
        <p:nvSpPr>
          <p:cNvPr id="14" name="t134"/>
          <p:cNvSpPr txBox="1"/>
          <p:nvPr/>
        </p:nvSpPr>
        <p:spPr>
          <a:xfrm>
            <a:off x="6858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주요 사업</a:t>
            </a:r>
            <a:endParaRPr lang="en-US" sz="1200" dirty="0"/>
          </a:p>
        </p:txBody>
      </p:sp>
      <p:sp>
        <p:nvSpPr>
          <p:cNvPr id="15" name="rr135"/>
          <p:cNvSpPr/>
          <p:nvPr/>
        </p:nvSpPr>
        <p:spPr>
          <a:xfrm>
            <a:off x="685800" y="3886200"/>
            <a:ext cx="566928" cy="899148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16" name="rr136"/>
          <p:cNvSpPr/>
          <p:nvPr/>
        </p:nvSpPr>
        <p:spPr>
          <a:xfrm>
            <a:off x="748162" y="3965570"/>
            <a:ext cx="96378" cy="76535"/>
          </a:xfrm>
          <a:prstGeom prst="roundRect">
            <a:avLst>
              <a:gd name="adj" fmla="val 14815"/>
            </a:avLst>
          </a:prstGeom>
          <a:solidFill>
            <a:schemeClr val="accent1"/>
          </a:solidFill>
          <a:ln/>
        </p:spPr>
      </p:sp>
      <p:sp>
        <p:nvSpPr>
          <p:cNvPr id="17" name="t137"/>
          <p:cNvSpPr txBox="1"/>
          <p:nvPr/>
        </p:nvSpPr>
        <p:spPr>
          <a:xfrm>
            <a:off x="1527048" y="3886200"/>
            <a:ext cx="1726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자체 카드</a:t>
            </a:r>
            <a:endParaRPr lang="en-US" sz="1700" dirty="0"/>
          </a:p>
        </p:txBody>
      </p:sp>
      <p:sp>
        <p:nvSpPr>
          <p:cNvPr id="18" name="t138"/>
          <p:cNvSpPr txBox="1"/>
          <p:nvPr/>
        </p:nvSpPr>
        <p:spPr>
          <a:xfrm>
            <a:off x="1527048" y="4343400"/>
            <a:ext cx="1772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알파벳카드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the Black · the Purple</a:t>
            </a:r>
            <a:endParaRPr lang="en-US" sz="1300" dirty="0"/>
          </a:p>
        </p:txBody>
      </p:sp>
      <p:sp>
        <p:nvSpPr>
          <p:cNvPr id="19" name="rr139"/>
          <p:cNvSpPr/>
          <p:nvPr/>
        </p:nvSpPr>
        <p:spPr>
          <a:xfrm>
            <a:off x="3390824" y="3886200"/>
            <a:ext cx="566928" cy="899148"/>
          </a:xfrm>
          <a:prstGeom prst="roundRect">
            <a:avLst>
              <a:gd name="adj" fmla="val 5000"/>
            </a:avLst>
          </a:prstGeom>
          <a:solidFill>
            <a:srgbClr val="8C8C8C"/>
          </a:solidFill>
          <a:ln/>
        </p:spPr>
      </p:sp>
      <p:sp>
        <p:nvSpPr>
          <p:cNvPr id="20" name="rr140"/>
          <p:cNvSpPr/>
          <p:nvPr/>
        </p:nvSpPr>
        <p:spPr>
          <a:xfrm>
            <a:off x="3453186" y="3965570"/>
            <a:ext cx="96378" cy="76535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/>
        </p:spPr>
      </p:sp>
      <p:sp>
        <p:nvSpPr>
          <p:cNvPr id="21" name="t141"/>
          <p:cNvSpPr txBox="1"/>
          <p:nvPr/>
        </p:nvSpPr>
        <p:spPr>
          <a:xfrm>
            <a:off x="4232072" y="3886200"/>
            <a:ext cx="1726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PLCC</a:t>
            </a:r>
            <a:endParaRPr lang="en-US" sz="1700" dirty="0"/>
          </a:p>
        </p:txBody>
      </p:sp>
      <p:sp>
        <p:nvSpPr>
          <p:cNvPr id="22" name="t142"/>
          <p:cNvSpPr txBox="1"/>
          <p:nvPr/>
        </p:nvSpPr>
        <p:spPr>
          <a:xfrm>
            <a:off x="4232072" y="4343400"/>
            <a:ext cx="1772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2015년 국내 첫 도입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코스트코 · 대한항공</a:t>
            </a:r>
            <a:endParaRPr lang="en-US" sz="1300" dirty="0"/>
          </a:p>
        </p:txBody>
      </p:sp>
      <p:sp>
        <p:nvSpPr>
          <p:cNvPr id="23" name="rr143"/>
          <p:cNvSpPr/>
          <p:nvPr/>
        </p:nvSpPr>
        <p:spPr>
          <a:xfrm>
            <a:off x="6095848" y="3886200"/>
            <a:ext cx="566928" cy="899148"/>
          </a:xfrm>
          <a:prstGeom prst="roundRect">
            <a:avLst>
              <a:gd name="adj" fmla="val 5000"/>
            </a:avLst>
          </a:prstGeom>
          <a:solidFill>
            <a:srgbClr val="BDBDBD"/>
          </a:solidFill>
          <a:ln/>
        </p:spPr>
      </p:sp>
      <p:sp>
        <p:nvSpPr>
          <p:cNvPr id="24" name="rr144"/>
          <p:cNvSpPr/>
          <p:nvPr/>
        </p:nvSpPr>
        <p:spPr>
          <a:xfrm>
            <a:off x="6158210" y="3965570"/>
            <a:ext cx="96378" cy="76535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/>
        </p:spPr>
      </p:sp>
      <p:sp>
        <p:nvSpPr>
          <p:cNvPr id="25" name="t145"/>
          <p:cNvSpPr txBox="1"/>
          <p:nvPr/>
        </p:nvSpPr>
        <p:spPr>
          <a:xfrm>
            <a:off x="6937096" y="3886200"/>
            <a:ext cx="1726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카드대출</a:t>
            </a:r>
            <a:endParaRPr lang="en-US" sz="1700" dirty="0"/>
          </a:p>
        </p:txBody>
      </p:sp>
      <p:sp>
        <p:nvSpPr>
          <p:cNvPr id="26" name="t146"/>
          <p:cNvSpPr txBox="1"/>
          <p:nvPr/>
        </p:nvSpPr>
        <p:spPr>
          <a:xfrm>
            <a:off x="6937096" y="4343400"/>
            <a:ext cx="1772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카드론, 현금서비스</a:t>
            </a:r>
            <a:endParaRPr lang="en-US" sz="1300" dirty="0"/>
          </a:p>
        </p:txBody>
      </p:sp>
      <p:sp>
        <p:nvSpPr>
          <p:cNvPr id="27" name="rr147"/>
          <p:cNvSpPr/>
          <p:nvPr/>
        </p:nvSpPr>
        <p:spPr>
          <a:xfrm>
            <a:off x="8800871" y="3886200"/>
            <a:ext cx="566928" cy="899148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</p:sp>
      <p:sp>
        <p:nvSpPr>
          <p:cNvPr id="28" name="rr148"/>
          <p:cNvSpPr/>
          <p:nvPr/>
        </p:nvSpPr>
        <p:spPr>
          <a:xfrm>
            <a:off x="8863233" y="3965570"/>
            <a:ext cx="96378" cy="76535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/>
        </p:spPr>
      </p:sp>
      <p:sp>
        <p:nvSpPr>
          <p:cNvPr id="29" name="t149"/>
          <p:cNvSpPr txBox="1"/>
          <p:nvPr/>
        </p:nvSpPr>
        <p:spPr>
          <a:xfrm>
            <a:off x="9642119" y="3886200"/>
            <a:ext cx="1726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데이터 · AI</a:t>
            </a:r>
            <a:endParaRPr lang="en-US" sz="1700" dirty="0"/>
          </a:p>
        </p:txBody>
      </p:sp>
      <p:sp>
        <p:nvSpPr>
          <p:cNvPr id="30" name="t150"/>
          <p:cNvSpPr txBox="1"/>
          <p:nvPr/>
        </p:nvSpPr>
        <p:spPr>
          <a:xfrm>
            <a:off x="9642119" y="4343400"/>
            <a:ext cx="1772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AI 플랫폼 ‘유니버스’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일본에 수출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02  대상 리더 간략 소개 · 재무정보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이익은 늘었고, 이용실적 점유율은 업계 2위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출처: 현대카드 반기보고서 제32기(2026.8.14 제출) Ⅲ-1 요약재무정보, DART · 연결 기준 · 점유율은 금감원 신용카드 이용실적으로 계산</a:t>
            </a:r>
            <a:endParaRPr lang="en-US" sz="1000" dirty="0"/>
          </a:p>
        </p:txBody>
      </p:sp>
      <p:sp>
        <p:nvSpPr>
          <p:cNvPr id="5" name="r151"/>
          <p:cNvSpPr/>
          <p:nvPr/>
        </p:nvSpPr>
        <p:spPr>
          <a:xfrm>
            <a:off x="685800" y="1783080"/>
            <a:ext cx="4572000" cy="42062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6" name="t152"/>
          <p:cNvSpPr txBox="1"/>
          <p:nvPr/>
        </p:nvSpPr>
        <p:spPr>
          <a:xfrm>
            <a:off x="1097280" y="20574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4조 78억원</a:t>
            </a:r>
            <a:endParaRPr lang="en-US" sz="3400" dirty="0"/>
          </a:p>
        </p:txBody>
      </p:sp>
      <p:sp>
        <p:nvSpPr>
          <p:cNvPr id="7" name="t153"/>
          <p:cNvSpPr txBox="1"/>
          <p:nvPr/>
        </p:nvSpPr>
        <p:spPr>
          <a:xfrm>
            <a:off x="1097280" y="27523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</a:rPr>
              <a:t>2025년 영업수익</a:t>
            </a:r>
            <a:endParaRPr lang="en-US" sz="1300" dirty="0"/>
          </a:p>
        </p:txBody>
      </p:sp>
      <p:sp>
        <p:nvSpPr>
          <p:cNvPr id="8" name="l154"/>
          <p:cNvSpPr/>
          <p:nvPr/>
        </p:nvSpPr>
        <p:spPr>
          <a:xfrm>
            <a:off x="1097280" y="3246120"/>
            <a:ext cx="374904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9" name="t155"/>
          <p:cNvSpPr txBox="1"/>
          <p:nvPr/>
        </p:nvSpPr>
        <p:spPr>
          <a:xfrm>
            <a:off x="1097280" y="335584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3,503억원</a:t>
            </a:r>
            <a:endParaRPr lang="en-US" sz="3400" dirty="0"/>
          </a:p>
        </p:txBody>
      </p:sp>
      <p:sp>
        <p:nvSpPr>
          <p:cNvPr id="10" name="t156"/>
          <p:cNvSpPr txBox="1"/>
          <p:nvPr/>
        </p:nvSpPr>
        <p:spPr>
          <a:xfrm>
            <a:off x="1097280" y="4050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</a:rPr>
              <a:t>2025년 당기순이익 · 1년 전보다 10.7% 증가</a:t>
            </a:r>
            <a:endParaRPr lang="en-US" sz="1300" dirty="0"/>
          </a:p>
        </p:txBody>
      </p:sp>
      <p:sp>
        <p:nvSpPr>
          <p:cNvPr id="11" name="l157"/>
          <p:cNvSpPr/>
          <p:nvPr/>
        </p:nvSpPr>
        <p:spPr>
          <a:xfrm>
            <a:off x="1097280" y="4544568"/>
            <a:ext cx="374904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12" name="t158"/>
          <p:cNvSpPr txBox="1"/>
          <p:nvPr/>
        </p:nvSpPr>
        <p:spPr>
          <a:xfrm>
            <a:off x="1097280" y="465429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19.3%</a:t>
            </a:r>
            <a:endParaRPr lang="en-US" sz="3400" dirty="0"/>
          </a:p>
        </p:txBody>
      </p:sp>
      <p:sp>
        <p:nvSpPr>
          <p:cNvPr id="13" name="t159"/>
          <p:cNvSpPr txBox="1"/>
          <p:nvPr/>
        </p:nvSpPr>
        <p:spPr>
          <a:xfrm>
            <a:off x="1097280" y="5349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</a:rPr>
              <a:t>2025년 이용실적 점유율 2위 (1위 신한 19.8%)</a:t>
            </a:r>
            <a:endParaRPr lang="en-US" sz="1300" dirty="0"/>
          </a:p>
        </p:txBody>
      </p:sp>
      <p:sp>
        <p:nvSpPr>
          <p:cNvPr id="14" name="t160"/>
          <p:cNvSpPr txBox="1"/>
          <p:nvPr/>
        </p:nvSpPr>
        <p:spPr>
          <a:xfrm>
            <a:off x="5806440" y="1783080"/>
            <a:ext cx="5699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영업이익 · 당기순이익 (억원)</a:t>
            </a:r>
            <a:endParaRPr lang="en-US" sz="1400" dirty="0"/>
          </a:p>
        </p:txBody>
      </p:sp>
      <p:graphicFrame>
        <p:nvGraphicFramePr>
          <p:cNvPr id="15" name="chart-profit" descr=""/>
          <p:cNvGraphicFramePr/>
          <p:nvPr/>
        </p:nvGraphicFramePr>
        <p:xfrm>
          <a:off x="5806440" y="2148840"/>
          <a:ext cx="5699455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r161"/>
          <p:cNvSpPr/>
          <p:nvPr/>
        </p:nvSpPr>
        <p:spPr>
          <a:xfrm>
            <a:off x="5806440" y="5166360"/>
            <a:ext cx="5699455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162"/>
          <p:cNvSpPr txBox="1"/>
          <p:nvPr/>
        </p:nvSpPr>
        <p:spPr>
          <a:xfrm>
            <a:off x="6035040" y="5166360"/>
            <a:ext cx="5333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2026년 상반기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영업수익 2조 3,372억 · 영업이익 2,495억 · 순이익 1,852억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02  대상 리더 간략 소개 · 기업 현황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정 부회장 개인 지분은 0%, 영향력은 현대커머셜에서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출처: 현대카드 반기보고서 제32기(2026.8.14 제출) 주주에 관한 사항, DART · 한국경제 「현대커머셜, 현대카드 지분 5% 추가 확보」(2022.10)</a:t>
            </a:r>
            <a:endParaRPr lang="en-US" sz="1000" dirty="0"/>
          </a:p>
        </p:txBody>
      </p:sp>
      <p:sp>
        <p:nvSpPr>
          <p:cNvPr id="5" name="r163"/>
          <p:cNvSpPr/>
          <p:nvPr/>
        </p:nvSpPr>
        <p:spPr>
          <a:xfrm>
            <a:off x="685800" y="1874520"/>
            <a:ext cx="3971675" cy="10058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t164"/>
          <p:cNvSpPr txBox="1"/>
          <p:nvPr/>
        </p:nvSpPr>
        <p:spPr>
          <a:xfrm>
            <a:off x="914400" y="1874520"/>
            <a:ext cx="372478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36.96%</a:t>
            </a:r>
            <a:endParaRPr lang="en-US" sz="2400" dirty="0"/>
          </a:p>
        </p:txBody>
      </p:sp>
      <p:sp>
        <p:nvSpPr>
          <p:cNvPr id="7" name="r165"/>
          <p:cNvSpPr/>
          <p:nvPr/>
        </p:nvSpPr>
        <p:spPr>
          <a:xfrm>
            <a:off x="4684907" y="1874520"/>
            <a:ext cx="3718485" cy="1005840"/>
          </a:xfrm>
          <a:prstGeom prst="rect">
            <a:avLst/>
          </a:prstGeom>
          <a:solidFill>
            <a:srgbClr val="D8452B"/>
          </a:solidFill>
          <a:ln/>
        </p:spPr>
      </p:sp>
      <p:sp>
        <p:nvSpPr>
          <p:cNvPr id="8" name="t166"/>
          <p:cNvSpPr txBox="1"/>
          <p:nvPr/>
        </p:nvSpPr>
        <p:spPr>
          <a:xfrm>
            <a:off x="4913507" y="1874520"/>
            <a:ext cx="347159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34.62%</a:t>
            </a:r>
            <a:endParaRPr lang="en-US" sz="2400" dirty="0"/>
          </a:p>
        </p:txBody>
      </p:sp>
      <p:sp>
        <p:nvSpPr>
          <p:cNvPr id="9" name="r167"/>
          <p:cNvSpPr/>
          <p:nvPr/>
        </p:nvSpPr>
        <p:spPr>
          <a:xfrm>
            <a:off x="8430824" y="1874520"/>
            <a:ext cx="2134423" cy="100584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10" name="t168"/>
          <p:cNvSpPr txBox="1"/>
          <p:nvPr/>
        </p:nvSpPr>
        <p:spPr>
          <a:xfrm>
            <a:off x="8659424" y="1874520"/>
            <a:ext cx="1887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19.98%</a:t>
            </a:r>
            <a:endParaRPr lang="en-US" sz="2400" dirty="0"/>
          </a:p>
        </p:txBody>
      </p:sp>
      <p:sp>
        <p:nvSpPr>
          <p:cNvPr id="11" name="r169"/>
          <p:cNvSpPr/>
          <p:nvPr/>
        </p:nvSpPr>
        <p:spPr>
          <a:xfrm>
            <a:off x="10592679" y="1874520"/>
            <a:ext cx="673710" cy="100584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2" name="r170"/>
          <p:cNvSpPr/>
          <p:nvPr/>
        </p:nvSpPr>
        <p:spPr>
          <a:xfrm>
            <a:off x="11293821" y="1874520"/>
            <a:ext cx="184642" cy="10058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3" name="r171"/>
          <p:cNvSpPr/>
          <p:nvPr/>
        </p:nvSpPr>
        <p:spPr>
          <a:xfrm>
            <a:off x="685800" y="3154680"/>
            <a:ext cx="146304" cy="14630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172"/>
          <p:cNvSpPr txBox="1"/>
          <p:nvPr/>
        </p:nvSpPr>
        <p:spPr>
          <a:xfrm>
            <a:off x="941832" y="3081528"/>
            <a:ext cx="18439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현대자동차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36.96%</a:t>
            </a:r>
            <a:endParaRPr lang="en-US" sz="1400" dirty="0"/>
          </a:p>
        </p:txBody>
      </p:sp>
      <p:sp>
        <p:nvSpPr>
          <p:cNvPr id="15" name="r173"/>
          <p:cNvSpPr/>
          <p:nvPr/>
        </p:nvSpPr>
        <p:spPr>
          <a:xfrm>
            <a:off x="2849819" y="3154680"/>
            <a:ext cx="146304" cy="146304"/>
          </a:xfrm>
          <a:prstGeom prst="rect">
            <a:avLst/>
          </a:prstGeom>
          <a:solidFill>
            <a:srgbClr val="D8452B"/>
          </a:solidFill>
          <a:ln/>
        </p:spPr>
      </p:sp>
      <p:sp>
        <p:nvSpPr>
          <p:cNvPr id="16" name="t174"/>
          <p:cNvSpPr txBox="1"/>
          <p:nvPr/>
        </p:nvSpPr>
        <p:spPr>
          <a:xfrm>
            <a:off x="3105851" y="3081528"/>
            <a:ext cx="18439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현대커머셜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34.62%</a:t>
            </a:r>
            <a:endParaRPr lang="en-US" sz="1400" dirty="0"/>
          </a:p>
        </p:txBody>
      </p:sp>
      <p:sp>
        <p:nvSpPr>
          <p:cNvPr id="17" name="r175"/>
          <p:cNvSpPr/>
          <p:nvPr/>
        </p:nvSpPr>
        <p:spPr>
          <a:xfrm>
            <a:off x="5013838" y="3154680"/>
            <a:ext cx="146304" cy="146304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18" name="t176"/>
          <p:cNvSpPr txBox="1"/>
          <p:nvPr/>
        </p:nvSpPr>
        <p:spPr>
          <a:xfrm>
            <a:off x="5269870" y="3081528"/>
            <a:ext cx="18439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대만 푸본금융그룹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19.98%</a:t>
            </a:r>
            <a:endParaRPr lang="en-US" sz="1400" dirty="0"/>
          </a:p>
        </p:txBody>
      </p:sp>
      <p:sp>
        <p:nvSpPr>
          <p:cNvPr id="19" name="r177"/>
          <p:cNvSpPr/>
          <p:nvPr/>
        </p:nvSpPr>
        <p:spPr>
          <a:xfrm>
            <a:off x="7177857" y="3154680"/>
            <a:ext cx="146304" cy="146304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0" name="t178"/>
          <p:cNvSpPr txBox="1"/>
          <p:nvPr/>
        </p:nvSpPr>
        <p:spPr>
          <a:xfrm>
            <a:off x="7433889" y="3081528"/>
            <a:ext cx="18439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기아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6.48%</a:t>
            </a:r>
            <a:endParaRPr lang="en-US" sz="1400" dirty="0"/>
          </a:p>
        </p:txBody>
      </p:sp>
      <p:sp>
        <p:nvSpPr>
          <p:cNvPr id="21" name="r179"/>
          <p:cNvSpPr/>
          <p:nvPr/>
        </p:nvSpPr>
        <p:spPr>
          <a:xfrm>
            <a:off x="9341876" y="3154680"/>
            <a:ext cx="146304" cy="1463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" name="t180"/>
          <p:cNvSpPr txBox="1"/>
          <p:nvPr/>
        </p:nvSpPr>
        <p:spPr>
          <a:xfrm>
            <a:off x="9597908" y="3081528"/>
            <a:ext cx="18439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소액주주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1.96%</a:t>
            </a:r>
            <a:endParaRPr lang="en-US" sz="1400" dirty="0"/>
          </a:p>
        </p:txBody>
      </p:sp>
      <p:sp>
        <p:nvSpPr>
          <p:cNvPr id="23" name="r181"/>
          <p:cNvSpPr/>
          <p:nvPr/>
        </p:nvSpPr>
        <p:spPr>
          <a:xfrm>
            <a:off x="685800" y="4160520"/>
            <a:ext cx="10820095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r182"/>
          <p:cNvSpPr/>
          <p:nvPr/>
        </p:nvSpPr>
        <p:spPr>
          <a:xfrm>
            <a:off x="1051560" y="4617720"/>
            <a:ext cx="201168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183"/>
          <p:cNvSpPr txBox="1"/>
          <p:nvPr/>
        </p:nvSpPr>
        <p:spPr>
          <a:xfrm>
            <a:off x="1051560" y="4617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정태영 · 정명이 부부</a:t>
            </a:r>
            <a:endParaRPr lang="en-US" sz="1600" dirty="0"/>
          </a:p>
        </p:txBody>
      </p:sp>
      <p:sp>
        <p:nvSpPr>
          <p:cNvPr id="26" name="arrow0"/>
          <p:cNvSpPr/>
          <p:nvPr/>
        </p:nvSpPr>
        <p:spPr>
          <a:xfrm>
            <a:off x="3172968" y="5074920"/>
            <a:ext cx="649224" cy="0"/>
          </a:xfrm>
          <a:prstGeom prst="line">
            <a:avLst/>
          </a:prstGeom>
          <a:noFill/>
          <a:ln w="15875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27" name="t184"/>
          <p:cNvSpPr txBox="1"/>
          <p:nvPr/>
        </p:nvSpPr>
        <p:spPr>
          <a:xfrm>
            <a:off x="3063240" y="46908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대주주</a:t>
            </a:r>
            <a:endParaRPr lang="en-US" sz="1200" dirty="0"/>
          </a:p>
        </p:txBody>
      </p:sp>
      <p:sp>
        <p:nvSpPr>
          <p:cNvPr id="28" name="r185"/>
          <p:cNvSpPr/>
          <p:nvPr/>
        </p:nvSpPr>
        <p:spPr>
          <a:xfrm>
            <a:off x="3931920" y="4617720"/>
            <a:ext cx="2011680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t186"/>
          <p:cNvSpPr txBox="1"/>
          <p:nvPr/>
        </p:nvSpPr>
        <p:spPr>
          <a:xfrm>
            <a:off x="3931920" y="4617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현대커머셜</a:t>
            </a:r>
            <a:endParaRPr lang="en-US" sz="1600" dirty="0"/>
          </a:p>
        </p:txBody>
      </p:sp>
      <p:sp>
        <p:nvSpPr>
          <p:cNvPr id="30" name="arrow1"/>
          <p:cNvSpPr/>
          <p:nvPr/>
        </p:nvSpPr>
        <p:spPr>
          <a:xfrm>
            <a:off x="6053328" y="5074920"/>
            <a:ext cx="649224" cy="0"/>
          </a:xfrm>
          <a:prstGeom prst="line">
            <a:avLst/>
          </a:prstGeom>
          <a:noFill/>
          <a:ln w="15875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31" name="t187"/>
          <p:cNvSpPr txBox="1"/>
          <p:nvPr/>
        </p:nvSpPr>
        <p:spPr>
          <a:xfrm>
            <a:off x="5943600" y="46908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34.62%</a:t>
            </a:r>
            <a:endParaRPr lang="en-US" sz="1200" dirty="0"/>
          </a:p>
        </p:txBody>
      </p:sp>
      <p:sp>
        <p:nvSpPr>
          <p:cNvPr id="32" name="r188"/>
          <p:cNvSpPr/>
          <p:nvPr/>
        </p:nvSpPr>
        <p:spPr>
          <a:xfrm>
            <a:off x="6812280" y="4617720"/>
            <a:ext cx="2011680" cy="9144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3" name="t189"/>
          <p:cNvSpPr txBox="1"/>
          <p:nvPr/>
        </p:nvSpPr>
        <p:spPr>
          <a:xfrm>
            <a:off x="6812280" y="4617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현대카드</a:t>
            </a:r>
            <a:endParaRPr lang="en-US" sz="1600" dirty="0"/>
          </a:p>
        </p:txBody>
      </p:sp>
      <p:sp>
        <p:nvSpPr>
          <p:cNvPr id="34" name="t190"/>
          <p:cNvSpPr txBox="1"/>
          <p:nvPr/>
        </p:nvSpPr>
        <p:spPr>
          <a:xfrm>
            <a:off x="9281160" y="4572000"/>
            <a:ext cx="2041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현대차그룹 계열 합계</a:t>
            </a:r>
            <a:endParaRPr lang="en-US" sz="14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78.06%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91"/>
          <p:cNvSpPr txBox="1"/>
          <p:nvPr/>
        </p:nvSpPr>
        <p:spPr>
          <a:xfrm>
            <a:off x="685800" y="1234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</a:rPr>
              <a:t>03</a:t>
            </a:r>
            <a:endParaRPr lang="en-US" sz="9600" dirty="0"/>
          </a:p>
        </p:txBody>
      </p:sp>
      <p:sp>
        <p:nvSpPr>
          <p:cNvPr id="3" name="t192"/>
          <p:cNvSpPr txBox="1"/>
          <p:nvPr/>
        </p:nvSpPr>
        <p:spPr>
          <a:xfrm>
            <a:off x="685800" y="2788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팀플 보고서 작성 방법</a:t>
            </a:r>
            <a:endParaRPr lang="en-US" sz="4000" dirty="0"/>
          </a:p>
        </p:txBody>
      </p:sp>
      <p:sp>
        <p:nvSpPr>
          <p:cNvPr id="4" name="t193"/>
          <p:cNvSpPr txBox="1"/>
          <p:nvPr/>
        </p:nvSpPr>
        <p:spPr>
          <a:xfrm>
            <a:off x="68580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8A8"/>
                </a:solidFill>
              </a:rPr>
              <a:t>자료 조사 · 사례분석 틀 · 이론 연계 · 평가 방향</a:t>
            </a:r>
            <a:endParaRPr lang="en-US" sz="1800" dirty="0"/>
          </a:p>
        </p:txBody>
      </p:sp>
      <p:sp>
        <p:nvSpPr>
          <p:cNvPr id="5" name="rr194"/>
          <p:cNvSpPr/>
          <p:nvPr/>
        </p:nvSpPr>
        <p:spPr>
          <a:xfrm>
            <a:off x="9177833" y="3377794"/>
            <a:ext cx="1737360" cy="2755453"/>
          </a:xfrm>
          <a:prstGeom prst="roundRect">
            <a:avLst>
              <a:gd name="adj" fmla="val 5000"/>
            </a:avLst>
          </a:prstGeom>
          <a:solidFill>
            <a:srgbClr val="2E2E2E"/>
          </a:solidFill>
          <a:ln/>
        </p:spPr>
      </p:sp>
      <p:sp>
        <p:nvSpPr>
          <p:cNvPr id="6" name="rr195"/>
          <p:cNvSpPr/>
          <p:nvPr/>
        </p:nvSpPr>
        <p:spPr>
          <a:xfrm>
            <a:off x="9368942" y="3621024"/>
            <a:ext cx="295351" cy="234544"/>
          </a:xfrm>
          <a:prstGeom prst="roundRect">
            <a:avLst>
              <a:gd name="adj" fmla="val 14815"/>
            </a:avLst>
          </a:prstGeom>
          <a:solidFill>
            <a:srgbClr val="2E2E2E"/>
          </a:solidFill>
          <a:ln/>
        </p:spPr>
      </p:sp>
      <p:sp>
        <p:nvSpPr>
          <p:cNvPr id="7" name="rr196"/>
          <p:cNvSpPr/>
          <p:nvPr/>
        </p:nvSpPr>
        <p:spPr>
          <a:xfrm>
            <a:off x="9473184" y="3151937"/>
            <a:ext cx="1737360" cy="2755453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/>
        </p:spPr>
      </p:sp>
      <p:sp>
        <p:nvSpPr>
          <p:cNvPr id="8" name="rr197"/>
          <p:cNvSpPr/>
          <p:nvPr/>
        </p:nvSpPr>
        <p:spPr>
          <a:xfrm>
            <a:off x="9664294" y="3395167"/>
            <a:ext cx="295351" cy="234544"/>
          </a:xfrm>
          <a:prstGeom prst="roundRect">
            <a:avLst>
              <a:gd name="adj" fmla="val 14815"/>
            </a:avLst>
          </a:prstGeom>
          <a:solidFill>
            <a:srgbClr val="4A4A4A"/>
          </a:solidFill>
          <a:ln/>
        </p:spPr>
      </p:sp>
      <p:sp>
        <p:nvSpPr>
          <p:cNvPr id="9" name="rr198"/>
          <p:cNvSpPr/>
          <p:nvPr/>
        </p:nvSpPr>
        <p:spPr>
          <a:xfrm>
            <a:off x="9768535" y="2926080"/>
            <a:ext cx="1737360" cy="2755453"/>
          </a:xfrm>
          <a:prstGeom prst="roundRect">
            <a:avLst>
              <a:gd name="adj" fmla="val 5000"/>
            </a:avLst>
          </a:prstGeom>
          <a:solidFill>
            <a:srgbClr val="D8452B"/>
          </a:solidFill>
          <a:ln/>
        </p:spPr>
      </p:sp>
      <p:sp>
        <p:nvSpPr>
          <p:cNvPr id="10" name="rr199"/>
          <p:cNvSpPr/>
          <p:nvPr/>
        </p:nvSpPr>
        <p:spPr>
          <a:xfrm>
            <a:off x="9959645" y="3169310"/>
            <a:ext cx="295351" cy="234544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/>
        </p:spPr>
      </p:sp>
      <p:sp>
        <p:nvSpPr>
          <p:cNvPr id="12" name="Text 0"/>
          <p:cNvSpPr/>
          <p:nvPr>
            <p:ph idx="100" type="body" hasCustomPrompt="1"/>
          </p:nvPr>
        </p:nvSpPr>
        <p:spPr>
          <a:xfrm>
            <a:off x="6858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03  팀플 보고서 작성 방법 · 자료 조사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숫자는 공시로, 리더의 생각은 인터뷰로 확인</a:t>
            </a:r>
            <a:endParaRPr lang="en-US" sz="2800" dirty="0"/>
          </a:p>
        </p:txBody>
      </p:sp>
      <p:sp>
        <p:nvSpPr>
          <p:cNvPr id="4" name="r200"/>
          <p:cNvSpPr/>
          <p:nvPr/>
        </p:nvSpPr>
        <p:spPr>
          <a:xfrm>
            <a:off x="685800" y="1783080"/>
            <a:ext cx="5272888" cy="19659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t201"/>
          <p:cNvSpPr txBox="1"/>
          <p:nvPr/>
        </p:nvSpPr>
        <p:spPr>
          <a:xfrm>
            <a:off x="4678528" y="19202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A3A3A"/>
                </a:solidFill>
              </a:rPr>
              <a:t>01</a:t>
            </a:r>
            <a:endParaRPr lang="en-US" sz="4000" dirty="0"/>
          </a:p>
        </p:txBody>
      </p:sp>
      <p:sp>
        <p:nvSpPr>
          <p:cNvPr id="6" name="t202"/>
          <p:cNvSpPr txBox="1"/>
          <p:nvPr/>
        </p:nvSpPr>
        <p:spPr>
          <a:xfrm>
            <a:off x="1051560" y="2103120"/>
            <a:ext cx="3444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공시</a:t>
            </a:r>
            <a:endParaRPr lang="en-US" sz="2000" dirty="0"/>
          </a:p>
        </p:txBody>
      </p:sp>
      <p:sp>
        <p:nvSpPr>
          <p:cNvPr id="7" name="t203"/>
          <p:cNvSpPr txBox="1"/>
          <p:nvPr/>
        </p:nvSpPr>
        <p:spPr>
          <a:xfrm>
            <a:off x="1051560" y="2651760"/>
            <a:ext cx="454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금융감독원 DART 사업 · 반기보고서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A8A8A8"/>
                </a:solidFill>
              </a:rPr>
              <a:t>매출과 이익, 주주 구성, 임원 현황</a:t>
            </a:r>
            <a:endParaRPr lang="en-US" sz="1500" dirty="0"/>
          </a:p>
        </p:txBody>
      </p:sp>
      <p:sp>
        <p:nvSpPr>
          <p:cNvPr id="8" name="r204"/>
          <p:cNvSpPr/>
          <p:nvPr/>
        </p:nvSpPr>
        <p:spPr>
          <a:xfrm>
            <a:off x="6233008" y="1783080"/>
            <a:ext cx="5272888" cy="1965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205"/>
          <p:cNvSpPr txBox="1"/>
          <p:nvPr/>
        </p:nvSpPr>
        <p:spPr>
          <a:xfrm>
            <a:off x="10225735" y="19202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D9D9"/>
                </a:solidFill>
              </a:rPr>
              <a:t>02</a:t>
            </a:r>
            <a:endParaRPr lang="en-US" sz="4000" dirty="0"/>
          </a:p>
        </p:txBody>
      </p:sp>
      <p:sp>
        <p:nvSpPr>
          <p:cNvPr id="10" name="t206"/>
          <p:cNvSpPr txBox="1"/>
          <p:nvPr/>
        </p:nvSpPr>
        <p:spPr>
          <a:xfrm>
            <a:off x="6598768" y="2103120"/>
            <a:ext cx="3444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회사 자료</a:t>
            </a:r>
            <a:endParaRPr lang="en-US" sz="2000" dirty="0"/>
          </a:p>
        </p:txBody>
      </p:sp>
      <p:sp>
        <p:nvSpPr>
          <p:cNvPr id="11" name="t207"/>
          <p:cNvSpPr txBox="1"/>
          <p:nvPr/>
        </p:nvSpPr>
        <p:spPr>
          <a:xfrm>
            <a:off x="6598768" y="2651760"/>
            <a:ext cx="454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현대카드 IR 자료, 뉴스룸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사업 전략, 시기별 주요 발표</a:t>
            </a:r>
            <a:endParaRPr lang="en-US" sz="1500" dirty="0"/>
          </a:p>
        </p:txBody>
      </p:sp>
      <p:sp>
        <p:nvSpPr>
          <p:cNvPr id="12" name="r208"/>
          <p:cNvSpPr/>
          <p:nvPr/>
        </p:nvSpPr>
        <p:spPr>
          <a:xfrm>
            <a:off x="685800" y="4023360"/>
            <a:ext cx="5272888" cy="1965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209"/>
          <p:cNvSpPr txBox="1"/>
          <p:nvPr/>
        </p:nvSpPr>
        <p:spPr>
          <a:xfrm>
            <a:off x="4678528" y="416052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D9D9"/>
                </a:solidFill>
              </a:rPr>
              <a:t>03</a:t>
            </a:r>
            <a:endParaRPr lang="en-US" sz="4000" dirty="0"/>
          </a:p>
        </p:txBody>
      </p:sp>
      <p:sp>
        <p:nvSpPr>
          <p:cNvPr id="14" name="t210"/>
          <p:cNvSpPr txBox="1"/>
          <p:nvPr/>
        </p:nvSpPr>
        <p:spPr>
          <a:xfrm>
            <a:off x="1051560" y="4343400"/>
            <a:ext cx="3444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언론 · 인터뷰</a:t>
            </a:r>
            <a:endParaRPr lang="en-US" sz="2000" dirty="0"/>
          </a:p>
        </p:txBody>
      </p:sp>
      <p:sp>
        <p:nvSpPr>
          <p:cNvPr id="15" name="t211"/>
          <p:cNvSpPr txBox="1"/>
          <p:nvPr/>
        </p:nvSpPr>
        <p:spPr>
          <a:xfrm>
            <a:off x="1051560" y="4892040"/>
            <a:ext cx="454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경제지 기사, 맥킨지 인터뷰(2025), 정 부회장 SNS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리더 본인이 설명한 판단 이유와 경영 방침</a:t>
            </a:r>
            <a:endParaRPr lang="en-US" sz="1500" dirty="0"/>
          </a:p>
        </p:txBody>
      </p:sp>
      <p:sp>
        <p:nvSpPr>
          <p:cNvPr id="16" name="r212"/>
          <p:cNvSpPr/>
          <p:nvPr/>
        </p:nvSpPr>
        <p:spPr>
          <a:xfrm>
            <a:off x="6233008" y="4023360"/>
            <a:ext cx="5272888" cy="1965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213"/>
          <p:cNvSpPr txBox="1"/>
          <p:nvPr/>
        </p:nvSpPr>
        <p:spPr>
          <a:xfrm>
            <a:off x="10225735" y="416052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D9D9"/>
                </a:solidFill>
              </a:rPr>
              <a:t>04</a:t>
            </a:r>
            <a:endParaRPr lang="en-US" sz="4000" dirty="0"/>
          </a:p>
        </p:txBody>
      </p:sp>
      <p:sp>
        <p:nvSpPr>
          <p:cNvPr id="18" name="t214"/>
          <p:cNvSpPr txBox="1"/>
          <p:nvPr/>
        </p:nvSpPr>
        <p:spPr>
          <a:xfrm>
            <a:off x="6598768" y="4343400"/>
            <a:ext cx="3444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논문 · 서적</a:t>
            </a:r>
            <a:endParaRPr lang="en-US" sz="2000" dirty="0"/>
          </a:p>
        </p:txBody>
      </p:sp>
      <p:sp>
        <p:nvSpPr>
          <p:cNvPr id="19" name="t215"/>
          <p:cNvSpPr txBox="1"/>
          <p:nvPr/>
        </p:nvSpPr>
        <p:spPr>
          <a:xfrm>
            <a:off x="6598768" y="4892040"/>
            <a:ext cx="454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RISS · DBpia의 현대카드 사례 연구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앞선 연구가 쓴 분석 틀, 이론 적용 방식</a:t>
            </a:r>
            <a:endParaRPr lang="en-US" sz="1500" dirty="0"/>
          </a:p>
        </p:txBody>
      </p:sp>
      <p:sp>
        <p:nvSpPr>
          <p:cNvPr id="21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03  팀플 보고서 작성 방법 · 사례분석 프레임워크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23년을 네 시기로 나누고, 시기마다 같은 순서로 분석</a:t>
            </a:r>
            <a:endParaRPr lang="en-US" sz="2800" dirty="0"/>
          </a:p>
        </p:txBody>
      </p:sp>
      <p:sp>
        <p:nvSpPr>
          <p:cNvPr id="4" name="t216"/>
          <p:cNvSpPr txBox="1"/>
          <p:nvPr/>
        </p:nvSpPr>
        <p:spPr>
          <a:xfrm>
            <a:off x="685800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시기마다</a:t>
            </a:r>
            <a:endParaRPr lang="en-US" sz="1400" dirty="0"/>
          </a:p>
        </p:txBody>
      </p:sp>
      <p:sp>
        <p:nvSpPr>
          <p:cNvPr id="5" name="rr217"/>
          <p:cNvSpPr/>
          <p:nvPr/>
        </p:nvSpPr>
        <p:spPr>
          <a:xfrm>
            <a:off x="173736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6" name="t218"/>
          <p:cNvSpPr txBox="1"/>
          <p:nvPr/>
        </p:nvSpPr>
        <p:spPr>
          <a:xfrm>
            <a:off x="173736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상황</a:t>
            </a:r>
            <a:endParaRPr lang="en-US" sz="1400" dirty="0"/>
          </a:p>
        </p:txBody>
      </p:sp>
      <p:sp>
        <p:nvSpPr>
          <p:cNvPr id="7" name="t219"/>
          <p:cNvSpPr txBox="1"/>
          <p:nvPr/>
        </p:nvSpPr>
        <p:spPr>
          <a:xfrm>
            <a:off x="347472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rr220"/>
          <p:cNvSpPr/>
          <p:nvPr/>
        </p:nvSpPr>
        <p:spPr>
          <a:xfrm>
            <a:off x="388620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9" name="t221"/>
          <p:cNvSpPr txBox="1"/>
          <p:nvPr/>
        </p:nvSpPr>
        <p:spPr>
          <a:xfrm>
            <a:off x="388620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리더의 행동</a:t>
            </a:r>
            <a:endParaRPr lang="en-US" sz="1400" dirty="0"/>
          </a:p>
        </p:txBody>
      </p:sp>
      <p:sp>
        <p:nvSpPr>
          <p:cNvPr id="10" name="t222"/>
          <p:cNvSpPr txBox="1"/>
          <p:nvPr/>
        </p:nvSpPr>
        <p:spPr>
          <a:xfrm>
            <a:off x="562356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rr223"/>
          <p:cNvSpPr/>
          <p:nvPr/>
        </p:nvSpPr>
        <p:spPr>
          <a:xfrm>
            <a:off x="603504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2" name="t224"/>
          <p:cNvSpPr txBox="1"/>
          <p:nvPr/>
        </p:nvSpPr>
        <p:spPr>
          <a:xfrm>
            <a:off x="603504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성과</a:t>
            </a:r>
            <a:endParaRPr lang="en-US" sz="1400" dirty="0"/>
          </a:p>
        </p:txBody>
      </p:sp>
      <p:sp>
        <p:nvSpPr>
          <p:cNvPr id="13" name="t225"/>
          <p:cNvSpPr txBox="1"/>
          <p:nvPr/>
        </p:nvSpPr>
        <p:spPr>
          <a:xfrm>
            <a:off x="77724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rr226"/>
          <p:cNvSpPr/>
          <p:nvPr/>
        </p:nvSpPr>
        <p:spPr>
          <a:xfrm>
            <a:off x="818388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5" name="t227"/>
          <p:cNvSpPr txBox="1"/>
          <p:nvPr/>
        </p:nvSpPr>
        <p:spPr>
          <a:xfrm>
            <a:off x="818388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한계</a:t>
            </a:r>
            <a:endParaRPr lang="en-US" sz="1400" dirty="0"/>
          </a:p>
        </p:txBody>
      </p:sp>
      <p:sp>
        <p:nvSpPr>
          <p:cNvPr id="16" name="t228"/>
          <p:cNvSpPr txBox="1"/>
          <p:nvPr/>
        </p:nvSpPr>
        <p:spPr>
          <a:xfrm>
            <a:off x="685800" y="34747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상황</a:t>
            </a:r>
            <a:endParaRPr lang="en-US" sz="1300" dirty="0"/>
          </a:p>
        </p:txBody>
      </p:sp>
      <p:sp>
        <p:nvSpPr>
          <p:cNvPr id="17" name="t229"/>
          <p:cNvSpPr txBox="1"/>
          <p:nvPr/>
        </p:nvSpPr>
        <p:spPr>
          <a:xfrm>
            <a:off x="685800" y="42519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분석할 사례</a:t>
            </a:r>
            <a:endParaRPr lang="en-US" sz="1300" dirty="0"/>
          </a:p>
        </p:txBody>
      </p:sp>
      <p:sp>
        <p:nvSpPr>
          <p:cNvPr id="18" name="r230"/>
          <p:cNvSpPr/>
          <p:nvPr/>
        </p:nvSpPr>
        <p:spPr>
          <a:xfrm>
            <a:off x="2011680" y="2514600"/>
            <a:ext cx="2291258" cy="86868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9" name="t231"/>
          <p:cNvSpPr txBox="1"/>
          <p:nvPr/>
        </p:nvSpPr>
        <p:spPr>
          <a:xfrm>
            <a:off x="2194560" y="2514600"/>
            <a:ext cx="20169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41414"/>
                </a:solidFill>
              </a:rPr>
              <a:t>①  위기와 회생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41414"/>
                </a:solidFill>
              </a:rPr>
              <a:t>2003–2007</a:t>
            </a:r>
            <a:endParaRPr lang="en-US" sz="1600" dirty="0"/>
          </a:p>
        </p:txBody>
      </p:sp>
      <p:sp>
        <p:nvSpPr>
          <p:cNvPr id="20" name="r232"/>
          <p:cNvSpPr/>
          <p:nvPr/>
        </p:nvSpPr>
        <p:spPr>
          <a:xfrm>
            <a:off x="2011680" y="3383280"/>
            <a:ext cx="2291258" cy="2514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233"/>
          <p:cNvSpPr txBox="1"/>
          <p:nvPr/>
        </p:nvSpPr>
        <p:spPr>
          <a:xfrm>
            <a:off x="2194560" y="3474720"/>
            <a:ext cx="2016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카드대란, 대규모 적자</a:t>
            </a:r>
            <a:endParaRPr lang="en-US" sz="1400" dirty="0"/>
          </a:p>
        </p:txBody>
      </p:sp>
      <p:sp>
        <p:nvSpPr>
          <p:cNvPr id="22" name="l234"/>
          <p:cNvSpPr/>
          <p:nvPr/>
        </p:nvSpPr>
        <p:spPr>
          <a:xfrm>
            <a:off x="2194560" y="4133088"/>
            <a:ext cx="192549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3" name="t235"/>
          <p:cNvSpPr txBox="1"/>
          <p:nvPr/>
        </p:nvSpPr>
        <p:spPr>
          <a:xfrm>
            <a:off x="2194560" y="4279392"/>
            <a:ext cx="20169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현대카드M 출시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윤리 원칙 수립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GE와의 제휴</a:t>
            </a:r>
            <a:endParaRPr lang="en-US" sz="1400" dirty="0"/>
          </a:p>
        </p:txBody>
      </p:sp>
      <p:sp>
        <p:nvSpPr>
          <p:cNvPr id="24" name="r236"/>
          <p:cNvSpPr/>
          <p:nvPr/>
        </p:nvSpPr>
        <p:spPr>
          <a:xfrm>
            <a:off x="4412666" y="2514600"/>
            <a:ext cx="2291258" cy="86868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5" name="t237"/>
          <p:cNvSpPr txBox="1"/>
          <p:nvPr/>
        </p:nvSpPr>
        <p:spPr>
          <a:xfrm>
            <a:off x="4595546" y="2514600"/>
            <a:ext cx="20169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41414"/>
                </a:solidFill>
              </a:rPr>
              <a:t>②  브랜드 성장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41414"/>
                </a:solidFill>
              </a:rPr>
              <a:t>2008–2017</a:t>
            </a:r>
            <a:endParaRPr lang="en-US" sz="1600" dirty="0"/>
          </a:p>
        </p:txBody>
      </p:sp>
      <p:sp>
        <p:nvSpPr>
          <p:cNvPr id="26" name="r238"/>
          <p:cNvSpPr/>
          <p:nvPr/>
        </p:nvSpPr>
        <p:spPr>
          <a:xfrm>
            <a:off x="4412666" y="3383280"/>
            <a:ext cx="2291258" cy="2514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239"/>
          <p:cNvSpPr txBox="1"/>
          <p:nvPr/>
        </p:nvSpPr>
        <p:spPr>
          <a:xfrm>
            <a:off x="4595546" y="3474720"/>
            <a:ext cx="2016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흑자 안정, 차별화 경쟁</a:t>
            </a:r>
            <a:endParaRPr lang="en-US" sz="1400" dirty="0"/>
          </a:p>
        </p:txBody>
      </p:sp>
      <p:sp>
        <p:nvSpPr>
          <p:cNvPr id="28" name="l240"/>
          <p:cNvSpPr/>
          <p:nvPr/>
        </p:nvSpPr>
        <p:spPr>
          <a:xfrm>
            <a:off x="4595546" y="4133088"/>
            <a:ext cx="192549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9" name="t241"/>
          <p:cNvSpPr txBox="1"/>
          <p:nvPr/>
        </p:nvSpPr>
        <p:spPr>
          <a:xfrm>
            <a:off x="4595546" y="4279392"/>
            <a:ext cx="20169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문화 마케팅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자율적인 조직문화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디지털 전환 선언</a:t>
            </a:r>
            <a:endParaRPr lang="en-US" sz="1400" dirty="0"/>
          </a:p>
        </p:txBody>
      </p:sp>
      <p:sp>
        <p:nvSpPr>
          <p:cNvPr id="30" name="r242"/>
          <p:cNvSpPr/>
          <p:nvPr/>
        </p:nvSpPr>
        <p:spPr>
          <a:xfrm>
            <a:off x="6813652" y="2514600"/>
            <a:ext cx="2291258" cy="868680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31" name="t243"/>
          <p:cNvSpPr txBox="1"/>
          <p:nvPr/>
        </p:nvSpPr>
        <p:spPr>
          <a:xfrm>
            <a:off x="6996532" y="2514600"/>
            <a:ext cx="20169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③  구조조정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2018–2021</a:t>
            </a:r>
            <a:endParaRPr lang="en-US" sz="1600" dirty="0"/>
          </a:p>
        </p:txBody>
      </p:sp>
      <p:sp>
        <p:nvSpPr>
          <p:cNvPr id="32" name="r244"/>
          <p:cNvSpPr/>
          <p:nvPr/>
        </p:nvSpPr>
        <p:spPr>
          <a:xfrm>
            <a:off x="6813652" y="3383280"/>
            <a:ext cx="2291258" cy="2514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245"/>
          <p:cNvSpPr txBox="1"/>
          <p:nvPr/>
        </p:nvSpPr>
        <p:spPr>
          <a:xfrm>
            <a:off x="6996532" y="3474720"/>
            <a:ext cx="2016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수수료 인하, 실적 악화</a:t>
            </a:r>
            <a:endParaRPr lang="en-US" sz="1400" dirty="0"/>
          </a:p>
        </p:txBody>
      </p:sp>
      <p:sp>
        <p:nvSpPr>
          <p:cNvPr id="34" name="l246"/>
          <p:cNvSpPr/>
          <p:nvPr/>
        </p:nvSpPr>
        <p:spPr>
          <a:xfrm>
            <a:off x="6996532" y="4133088"/>
            <a:ext cx="192549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5" name="t247"/>
          <p:cNvSpPr txBox="1"/>
          <p:nvPr/>
        </p:nvSpPr>
        <p:spPr>
          <a:xfrm>
            <a:off x="6996532" y="4279392"/>
            <a:ext cx="20169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창사 첫 희망퇴직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코스트코 제휴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데이터 투자</a:t>
            </a:r>
            <a:endParaRPr lang="en-US" sz="1400" dirty="0"/>
          </a:p>
        </p:txBody>
      </p:sp>
      <p:sp>
        <p:nvSpPr>
          <p:cNvPr id="36" name="r248"/>
          <p:cNvSpPr/>
          <p:nvPr/>
        </p:nvSpPr>
        <p:spPr>
          <a:xfrm>
            <a:off x="9214637" y="2514600"/>
            <a:ext cx="2291258" cy="8686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7" name="t249"/>
          <p:cNvSpPr txBox="1"/>
          <p:nvPr/>
        </p:nvSpPr>
        <p:spPr>
          <a:xfrm>
            <a:off x="9397517" y="2514600"/>
            <a:ext cx="20169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④  디지털 전환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2022–현재</a:t>
            </a:r>
            <a:endParaRPr lang="en-US" sz="1600" dirty="0"/>
          </a:p>
        </p:txBody>
      </p:sp>
      <p:sp>
        <p:nvSpPr>
          <p:cNvPr id="38" name="r250"/>
          <p:cNvSpPr/>
          <p:nvPr/>
        </p:nvSpPr>
        <p:spPr>
          <a:xfrm>
            <a:off x="9214637" y="3383280"/>
            <a:ext cx="2291258" cy="2514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251"/>
          <p:cNvSpPr txBox="1"/>
          <p:nvPr/>
        </p:nvSpPr>
        <p:spPr>
          <a:xfrm>
            <a:off x="9397517" y="3474720"/>
            <a:ext cx="2016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고금리, 빅테크와의 경쟁</a:t>
            </a:r>
            <a:endParaRPr lang="en-US" sz="1400" dirty="0"/>
          </a:p>
        </p:txBody>
      </p:sp>
      <p:sp>
        <p:nvSpPr>
          <p:cNvPr id="40" name="l252"/>
          <p:cNvSpPr/>
          <p:nvPr/>
        </p:nvSpPr>
        <p:spPr>
          <a:xfrm>
            <a:off x="9397517" y="4133088"/>
            <a:ext cx="192549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1" name="t253"/>
          <p:cNvSpPr txBox="1"/>
          <p:nvPr/>
        </p:nvSpPr>
        <p:spPr>
          <a:xfrm>
            <a:off x="9397517" y="4279392"/>
            <a:ext cx="20169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리스크 관리 강화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애플페이 도입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AI 플랫폼 수출</a:t>
            </a:r>
            <a:endParaRPr lang="en-US" sz="1400" dirty="0"/>
          </a:p>
        </p:txBody>
      </p:sp>
      <p:sp>
        <p:nvSpPr>
          <p:cNvPr id="43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03  팀플 보고서 작성 방법 · 이론과의 연계성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4장의 두 이론이 중심, 나머지 네 이론은 보조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이론 출처: 리더십 강의자료 2장 특성이론, 3장 행동이론과 동기부여, 4장 리더십 상황이론, 5장 갈등관리, 6장 권력·협상</a:t>
            </a:r>
            <a:endParaRPr lang="en-US" sz="1000" dirty="0"/>
          </a:p>
        </p:txBody>
      </p:sp>
      <p:sp>
        <p:nvSpPr>
          <p:cNvPr id="5" name="r254"/>
          <p:cNvSpPr/>
          <p:nvPr/>
        </p:nvSpPr>
        <p:spPr>
          <a:xfrm>
            <a:off x="685800" y="1783080"/>
            <a:ext cx="5272888" cy="20116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6" name="t255"/>
          <p:cNvSpPr txBox="1"/>
          <p:nvPr/>
        </p:nvSpPr>
        <p:spPr>
          <a:xfrm>
            <a:off x="4769968" y="187452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3A3A3A"/>
                </a:solidFill>
              </a:rPr>
              <a:t>A</a:t>
            </a:r>
            <a:endParaRPr lang="en-US" sz="6400" dirty="0"/>
          </a:p>
        </p:txBody>
      </p:sp>
      <p:sp>
        <p:nvSpPr>
          <p:cNvPr id="7" name="t256"/>
          <p:cNvSpPr txBox="1"/>
          <p:nvPr/>
        </p:nvSpPr>
        <p:spPr>
          <a:xfrm>
            <a:off x="1051560" y="2103120"/>
            <a:ext cx="380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리더 행동의 변화</a:t>
            </a:r>
            <a:pPr indent="0" marL="0">
              <a:buNone/>
            </a:pPr>
            <a:r>
              <a:rPr lang="en-US" sz="1400" b="1" dirty="0">
                <a:solidFill>
                  <a:srgbClr val="A8A8A8"/>
                </a:solidFill>
              </a:rPr>
              <a:t>  ·  4장</a:t>
            </a:r>
            <a:endParaRPr lang="en-US" sz="1400" dirty="0"/>
          </a:p>
        </p:txBody>
      </p:sp>
      <p:sp>
        <p:nvSpPr>
          <p:cNvPr id="8" name="t257"/>
          <p:cNvSpPr txBox="1"/>
          <p:nvPr/>
        </p:nvSpPr>
        <p:spPr>
          <a:xfrm>
            <a:off x="1051560" y="2441448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House 경로-목표이론</a:t>
            </a:r>
            <a:endParaRPr lang="en-US" sz="2400" dirty="0"/>
          </a:p>
        </p:txBody>
      </p:sp>
      <p:sp>
        <p:nvSpPr>
          <p:cNvPr id="9" name="t258"/>
          <p:cNvSpPr txBox="1"/>
          <p:nvPr/>
        </p:nvSpPr>
        <p:spPr>
          <a:xfrm>
            <a:off x="1051560" y="3017520"/>
            <a:ext cx="454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8A8A8"/>
                </a:solidFill>
              </a:rPr>
              <a:t>위기 때는 지시적, 전환기에는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8A8A8"/>
                </a:solidFill>
              </a:rPr>
              <a:t>성취지향적 리더십을 보였을까</a:t>
            </a:r>
            <a:endParaRPr lang="en-US" sz="1500" dirty="0"/>
          </a:p>
        </p:txBody>
      </p:sp>
      <p:sp>
        <p:nvSpPr>
          <p:cNvPr id="10" name="r259"/>
          <p:cNvSpPr/>
          <p:nvPr/>
        </p:nvSpPr>
        <p:spPr>
          <a:xfrm>
            <a:off x="6233008" y="1783080"/>
            <a:ext cx="5272888" cy="20116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1" name="t260"/>
          <p:cNvSpPr txBox="1"/>
          <p:nvPr/>
        </p:nvSpPr>
        <p:spPr>
          <a:xfrm>
            <a:off x="10317175" y="187452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3A3A3A"/>
                </a:solidFill>
              </a:rPr>
              <a:t>B</a:t>
            </a:r>
            <a:endParaRPr lang="en-US" sz="6400" dirty="0"/>
          </a:p>
        </p:txBody>
      </p:sp>
      <p:sp>
        <p:nvSpPr>
          <p:cNvPr id="12" name="t261"/>
          <p:cNvSpPr txBox="1"/>
          <p:nvPr/>
        </p:nvSpPr>
        <p:spPr>
          <a:xfrm>
            <a:off x="6598768" y="2103120"/>
            <a:ext cx="380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조직 상황의 변화</a:t>
            </a:r>
            <a:pPr indent="0" marL="0">
              <a:buNone/>
            </a:pPr>
            <a:r>
              <a:rPr lang="en-US" sz="1400" b="1" dirty="0">
                <a:solidFill>
                  <a:srgbClr val="A8A8A8"/>
                </a:solidFill>
              </a:rPr>
              <a:t>  ·  4장</a:t>
            </a:r>
            <a:endParaRPr lang="en-US" sz="1400" dirty="0"/>
          </a:p>
        </p:txBody>
      </p:sp>
      <p:sp>
        <p:nvSpPr>
          <p:cNvPr id="13" name="t262"/>
          <p:cNvSpPr txBox="1"/>
          <p:nvPr/>
        </p:nvSpPr>
        <p:spPr>
          <a:xfrm>
            <a:off x="6598768" y="2441448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Fiedler 상황 모델</a:t>
            </a:r>
            <a:endParaRPr lang="en-US" sz="2400" dirty="0"/>
          </a:p>
        </p:txBody>
      </p:sp>
      <p:sp>
        <p:nvSpPr>
          <p:cNvPr id="14" name="t263"/>
          <p:cNvSpPr txBox="1"/>
          <p:nvPr/>
        </p:nvSpPr>
        <p:spPr>
          <a:xfrm>
            <a:off x="6598768" y="3017520"/>
            <a:ext cx="454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8A8A8"/>
                </a:solidFill>
              </a:rPr>
              <a:t>GE 제휴와 윤리 원칙이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8A8A8"/>
                </a:solidFill>
              </a:rPr>
              <a:t>과업구조와 직위권력을 바꿨을까</a:t>
            </a:r>
            <a:endParaRPr lang="en-US" sz="1500" dirty="0"/>
          </a:p>
        </p:txBody>
      </p:sp>
      <p:sp>
        <p:nvSpPr>
          <p:cNvPr id="15" name="r264"/>
          <p:cNvSpPr/>
          <p:nvPr/>
        </p:nvSpPr>
        <p:spPr>
          <a:xfrm>
            <a:off x="685800" y="4069080"/>
            <a:ext cx="2499284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265"/>
          <p:cNvSpPr txBox="1"/>
          <p:nvPr/>
        </p:nvSpPr>
        <p:spPr>
          <a:xfrm>
            <a:off x="960120" y="434340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특성이론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 2장</a:t>
            </a:r>
            <a:endParaRPr lang="en-US" sz="1700" dirty="0"/>
          </a:p>
        </p:txBody>
      </p:sp>
      <p:sp>
        <p:nvSpPr>
          <p:cNvPr id="17" name="t266"/>
          <p:cNvSpPr txBox="1"/>
          <p:nvPr/>
        </p:nvSpPr>
        <p:spPr>
          <a:xfrm>
            <a:off x="960120" y="4846320"/>
            <a:ext cx="20878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개방성과 위험 감수 성향이 결정에 드러났나</a:t>
            </a:r>
            <a:endParaRPr lang="en-US" sz="1400" dirty="0"/>
          </a:p>
        </p:txBody>
      </p:sp>
      <p:sp>
        <p:nvSpPr>
          <p:cNvPr id="18" name="r267"/>
          <p:cNvSpPr/>
          <p:nvPr/>
        </p:nvSpPr>
        <p:spPr>
          <a:xfrm>
            <a:off x="3459404" y="4069080"/>
            <a:ext cx="2499284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t268"/>
          <p:cNvSpPr txBox="1"/>
          <p:nvPr/>
        </p:nvSpPr>
        <p:spPr>
          <a:xfrm>
            <a:off x="3733724" y="434340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행동이론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 3장</a:t>
            </a:r>
            <a:endParaRPr lang="en-US" sz="1700" dirty="0"/>
          </a:p>
        </p:txBody>
      </p:sp>
      <p:sp>
        <p:nvSpPr>
          <p:cNvPr id="20" name="t269"/>
          <p:cNvSpPr txBox="1"/>
          <p:nvPr/>
        </p:nvSpPr>
        <p:spPr>
          <a:xfrm>
            <a:off x="3733724" y="4846320"/>
            <a:ext cx="20878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구조주도(원칙 · 디자인)와 배려가 함께 보였나</a:t>
            </a:r>
            <a:endParaRPr lang="en-US" sz="1400" dirty="0"/>
          </a:p>
        </p:txBody>
      </p:sp>
      <p:sp>
        <p:nvSpPr>
          <p:cNvPr id="21" name="r270"/>
          <p:cNvSpPr/>
          <p:nvPr/>
        </p:nvSpPr>
        <p:spPr>
          <a:xfrm>
            <a:off x="6233008" y="4069080"/>
            <a:ext cx="2499284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t271"/>
          <p:cNvSpPr txBox="1"/>
          <p:nvPr/>
        </p:nvSpPr>
        <p:spPr>
          <a:xfrm>
            <a:off x="6507328" y="434340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갈등관리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 5장</a:t>
            </a:r>
            <a:endParaRPr lang="en-US" sz="1700" dirty="0"/>
          </a:p>
        </p:txBody>
      </p:sp>
      <p:sp>
        <p:nvSpPr>
          <p:cNvPr id="23" name="t272"/>
          <p:cNvSpPr txBox="1"/>
          <p:nvPr/>
        </p:nvSpPr>
        <p:spPr>
          <a:xfrm>
            <a:off x="6507328" y="4846320"/>
            <a:ext cx="20878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희망퇴직과 노조 면담 때 어떤 방식으로 대응했나</a:t>
            </a:r>
            <a:endParaRPr lang="en-US" sz="1400" dirty="0"/>
          </a:p>
        </p:txBody>
      </p:sp>
      <p:sp>
        <p:nvSpPr>
          <p:cNvPr id="24" name="r273"/>
          <p:cNvSpPr/>
          <p:nvPr/>
        </p:nvSpPr>
        <p:spPr>
          <a:xfrm>
            <a:off x="9006611" y="4069080"/>
            <a:ext cx="2499284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t274"/>
          <p:cNvSpPr txBox="1"/>
          <p:nvPr/>
        </p:nvSpPr>
        <p:spPr>
          <a:xfrm>
            <a:off x="9280931" y="434340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권력 · 협상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 6장</a:t>
            </a:r>
            <a:endParaRPr lang="en-US" sz="1700" dirty="0"/>
          </a:p>
        </p:txBody>
      </p:sp>
      <p:sp>
        <p:nvSpPr>
          <p:cNvPr id="26" name="t275"/>
          <p:cNvSpPr txBox="1"/>
          <p:nvPr/>
        </p:nvSpPr>
        <p:spPr>
          <a:xfrm>
            <a:off x="9280931" y="4846320"/>
            <a:ext cx="20878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직위와 관계에서 나온 힘, 애플페이 협상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03  팀플 보고서 작성 방법 · 시기별 예상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리더 행동은 지시적에서 시작해 성취지향적으로 갈 것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리더 행동 유형: House 경로-목표이론 · 상황변수: Fiedler의 리더-부하 관계, 과업구조, 직위권력 · 보고서에서 맞는지 확인할 가설</a:t>
            </a:r>
            <a:endParaRPr lang="en-US" sz="1000" dirty="0"/>
          </a:p>
        </p:txBody>
      </p:sp>
      <p:sp>
        <p:nvSpPr>
          <p:cNvPr id="5" name="t276"/>
          <p:cNvSpPr txBox="1"/>
          <p:nvPr/>
        </p:nvSpPr>
        <p:spPr>
          <a:xfrm>
            <a:off x="68580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예상 리더 행동</a:t>
            </a:r>
            <a:endParaRPr lang="en-US" sz="1200" dirty="0"/>
          </a:p>
        </p:txBody>
      </p:sp>
      <p:sp>
        <p:nvSpPr>
          <p:cNvPr id="6" name="l277"/>
          <p:cNvSpPr/>
          <p:nvPr/>
        </p:nvSpPr>
        <p:spPr>
          <a:xfrm>
            <a:off x="2788920" y="2331720"/>
            <a:ext cx="8716975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7" name="t278"/>
          <p:cNvSpPr txBox="1"/>
          <p:nvPr/>
        </p:nvSpPr>
        <p:spPr>
          <a:xfrm>
            <a:off x="68580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성취지향적</a:t>
            </a:r>
            <a:endParaRPr lang="en-US" sz="1400" dirty="0"/>
          </a:p>
        </p:txBody>
      </p:sp>
      <p:sp>
        <p:nvSpPr>
          <p:cNvPr id="8" name="l279"/>
          <p:cNvSpPr/>
          <p:nvPr/>
        </p:nvSpPr>
        <p:spPr>
          <a:xfrm>
            <a:off x="2788920" y="3081528"/>
            <a:ext cx="8716975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9" name="t280"/>
          <p:cNvSpPr txBox="1"/>
          <p:nvPr/>
        </p:nvSpPr>
        <p:spPr>
          <a:xfrm>
            <a:off x="685800" y="2898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참여적 · 후원적</a:t>
            </a:r>
            <a:endParaRPr lang="en-US" sz="1400" dirty="0"/>
          </a:p>
        </p:txBody>
      </p:sp>
      <p:sp>
        <p:nvSpPr>
          <p:cNvPr id="10" name="l281"/>
          <p:cNvSpPr/>
          <p:nvPr/>
        </p:nvSpPr>
        <p:spPr>
          <a:xfrm>
            <a:off x="2788920" y="3831336"/>
            <a:ext cx="871697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11" name="t282"/>
          <p:cNvSpPr txBox="1"/>
          <p:nvPr/>
        </p:nvSpPr>
        <p:spPr>
          <a:xfrm>
            <a:off x="685800" y="3648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지시적</a:t>
            </a:r>
            <a:endParaRPr lang="en-US" sz="1400" dirty="0"/>
          </a:p>
        </p:txBody>
      </p:sp>
      <p:sp>
        <p:nvSpPr>
          <p:cNvPr id="12" name="seg283"/>
          <p:cNvSpPr/>
          <p:nvPr/>
        </p:nvSpPr>
        <p:spPr>
          <a:xfrm flipV="1">
            <a:off x="3878542" y="3081528"/>
            <a:ext cx="2179244" cy="749808"/>
          </a:xfrm>
          <a:prstGeom prst="line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3" name="seg284"/>
          <p:cNvSpPr/>
          <p:nvPr/>
        </p:nvSpPr>
        <p:spPr>
          <a:xfrm>
            <a:off x="6057786" y="3081528"/>
            <a:ext cx="2179244" cy="749808"/>
          </a:xfrm>
          <a:prstGeom prst="line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4" name="seg285"/>
          <p:cNvSpPr/>
          <p:nvPr/>
        </p:nvSpPr>
        <p:spPr>
          <a:xfrm flipV="1">
            <a:off x="8237030" y="2331720"/>
            <a:ext cx="2179244" cy="1499616"/>
          </a:xfrm>
          <a:prstGeom prst="line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5" name="d286"/>
          <p:cNvSpPr/>
          <p:nvPr/>
        </p:nvSpPr>
        <p:spPr>
          <a:xfrm>
            <a:off x="3759670" y="3712464"/>
            <a:ext cx="237744" cy="23774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6" name="d287"/>
          <p:cNvSpPr/>
          <p:nvPr/>
        </p:nvSpPr>
        <p:spPr>
          <a:xfrm>
            <a:off x="5938914" y="2962656"/>
            <a:ext cx="237744" cy="23774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7" name="d288"/>
          <p:cNvSpPr/>
          <p:nvPr/>
        </p:nvSpPr>
        <p:spPr>
          <a:xfrm>
            <a:off x="8118157" y="3712464"/>
            <a:ext cx="237744" cy="23774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d289"/>
          <p:cNvSpPr/>
          <p:nvPr/>
        </p:nvSpPr>
        <p:spPr>
          <a:xfrm>
            <a:off x="10260825" y="217627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290"/>
          <p:cNvSpPr txBox="1"/>
          <p:nvPr/>
        </p:nvSpPr>
        <p:spPr>
          <a:xfrm>
            <a:off x="685800" y="4517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상황 변화</a:t>
            </a:r>
            <a:endParaRPr lang="en-US" sz="1200" dirty="0"/>
          </a:p>
        </p:txBody>
      </p:sp>
      <p:sp>
        <p:nvSpPr>
          <p:cNvPr id="20" name="r291"/>
          <p:cNvSpPr/>
          <p:nvPr/>
        </p:nvSpPr>
        <p:spPr>
          <a:xfrm>
            <a:off x="2843784" y="4334256"/>
            <a:ext cx="2069516" cy="4572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1" name="t292"/>
          <p:cNvSpPr txBox="1"/>
          <p:nvPr/>
        </p:nvSpPr>
        <p:spPr>
          <a:xfrm>
            <a:off x="2980944" y="4334256"/>
            <a:ext cx="188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</a:rPr>
              <a:t>①  위기와 회생</a:t>
            </a:r>
            <a:endParaRPr lang="en-US" sz="1400" dirty="0"/>
          </a:p>
        </p:txBody>
      </p:sp>
      <p:sp>
        <p:nvSpPr>
          <p:cNvPr id="22" name="t293"/>
          <p:cNvSpPr txBox="1"/>
          <p:nvPr/>
        </p:nvSpPr>
        <p:spPr>
          <a:xfrm>
            <a:off x="2980944" y="4882896"/>
            <a:ext cx="18866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윤리 원칙 · GE 제휴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일의 기준이 분명해지고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리더 권한이 커짐</a:t>
            </a:r>
            <a:endParaRPr lang="en-US" sz="1400" dirty="0"/>
          </a:p>
        </p:txBody>
      </p:sp>
      <p:sp>
        <p:nvSpPr>
          <p:cNvPr id="23" name="r294"/>
          <p:cNvSpPr/>
          <p:nvPr/>
        </p:nvSpPr>
        <p:spPr>
          <a:xfrm>
            <a:off x="5023028" y="4334256"/>
            <a:ext cx="2069516" cy="4572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4" name="t295"/>
          <p:cNvSpPr txBox="1"/>
          <p:nvPr/>
        </p:nvSpPr>
        <p:spPr>
          <a:xfrm>
            <a:off x="5160188" y="4334256"/>
            <a:ext cx="188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</a:rPr>
              <a:t>②  브랜드 성장</a:t>
            </a:r>
            <a:endParaRPr lang="en-US" sz="1400" dirty="0"/>
          </a:p>
        </p:txBody>
      </p:sp>
      <p:sp>
        <p:nvSpPr>
          <p:cNvPr id="25" name="t296"/>
          <p:cNvSpPr txBox="1"/>
          <p:nvPr/>
        </p:nvSpPr>
        <p:spPr>
          <a:xfrm>
            <a:off x="5160188" y="4882896"/>
            <a:ext cx="18866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흑자 안정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리더와 직원의 관계가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좋아짐</a:t>
            </a:r>
            <a:endParaRPr lang="en-US" sz="1400" dirty="0"/>
          </a:p>
        </p:txBody>
      </p:sp>
      <p:sp>
        <p:nvSpPr>
          <p:cNvPr id="26" name="r297"/>
          <p:cNvSpPr/>
          <p:nvPr/>
        </p:nvSpPr>
        <p:spPr>
          <a:xfrm>
            <a:off x="7202272" y="4334256"/>
            <a:ext cx="2069516" cy="457200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27" name="t298"/>
          <p:cNvSpPr txBox="1"/>
          <p:nvPr/>
        </p:nvSpPr>
        <p:spPr>
          <a:xfrm>
            <a:off x="7339432" y="4334256"/>
            <a:ext cx="188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③  구조조정</a:t>
            </a:r>
            <a:endParaRPr lang="en-US" sz="1400" dirty="0"/>
          </a:p>
        </p:txBody>
      </p:sp>
      <p:sp>
        <p:nvSpPr>
          <p:cNvPr id="28" name="t299"/>
          <p:cNvSpPr txBox="1"/>
          <p:nvPr/>
        </p:nvSpPr>
        <p:spPr>
          <a:xfrm>
            <a:off x="7339432" y="4882896"/>
            <a:ext cx="18866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수수료 인하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실적이 나빠져 리더에게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불리한 상황</a:t>
            </a:r>
            <a:endParaRPr lang="en-US" sz="1400" dirty="0"/>
          </a:p>
        </p:txBody>
      </p:sp>
      <p:sp>
        <p:nvSpPr>
          <p:cNvPr id="29" name="r300"/>
          <p:cNvSpPr/>
          <p:nvPr/>
        </p:nvSpPr>
        <p:spPr>
          <a:xfrm>
            <a:off x="9381515" y="4334256"/>
            <a:ext cx="2069516" cy="4572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0" name="t301"/>
          <p:cNvSpPr txBox="1"/>
          <p:nvPr/>
        </p:nvSpPr>
        <p:spPr>
          <a:xfrm>
            <a:off x="9518675" y="4334256"/>
            <a:ext cx="188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④  디지털 전환</a:t>
            </a:r>
            <a:endParaRPr lang="en-US" sz="1400" dirty="0"/>
          </a:p>
        </p:txBody>
      </p:sp>
      <p:sp>
        <p:nvSpPr>
          <p:cNvPr id="31" name="t302"/>
          <p:cNvSpPr txBox="1"/>
          <p:nvPr/>
        </p:nvSpPr>
        <p:spPr>
          <a:xfrm>
            <a:off x="9518675" y="4882896"/>
            <a:ext cx="18866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빅테크 경쟁 · 고금리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해 본 적 없는 새로운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과업이 늘어남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03  팀플 보고서 작성 방법 · 평가 방향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잘한 점만큼 아쉬운 점도 같이 평가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출처: 더팩트 「애플페이 도입과 정태영 전략」(2023.3), 한국경제 「현대카드 200여명 희망퇴직」(2019.1), 현대카드 뉴스룸 「금융업계 최초 AI 소프트웨어 수출」</a:t>
            </a:r>
            <a:endParaRPr lang="en-US" sz="1000" dirty="0"/>
          </a:p>
        </p:txBody>
      </p:sp>
      <p:sp>
        <p:nvSpPr>
          <p:cNvPr id="5" name="r303"/>
          <p:cNvSpPr/>
          <p:nvPr/>
        </p:nvSpPr>
        <p:spPr>
          <a:xfrm>
            <a:off x="685800" y="1783080"/>
            <a:ext cx="5272888" cy="3246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304"/>
          <p:cNvSpPr txBox="1"/>
          <p:nvPr/>
        </p:nvSpPr>
        <p:spPr>
          <a:xfrm>
            <a:off x="4952848" y="182880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BDBDBD"/>
                </a:solidFill>
              </a:rPr>
              <a:t>+</a:t>
            </a:r>
            <a:endParaRPr lang="en-US" sz="4800" dirty="0"/>
          </a:p>
        </p:txBody>
      </p:sp>
      <p:sp>
        <p:nvSpPr>
          <p:cNvPr id="7" name="t305"/>
          <p:cNvSpPr txBox="1"/>
          <p:nvPr/>
        </p:nvSpPr>
        <p:spPr>
          <a:xfrm>
            <a:off x="1051560" y="2057400"/>
            <a:ext cx="380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성과</a:t>
            </a:r>
            <a:endParaRPr lang="en-US" sz="1800" dirty="0"/>
          </a:p>
        </p:txBody>
      </p:sp>
      <p:sp>
        <p:nvSpPr>
          <p:cNvPr id="8" name="t306"/>
          <p:cNvSpPr txBox="1"/>
          <p:nvPr/>
        </p:nvSpPr>
        <p:spPr>
          <a:xfrm>
            <a:off x="1051560" y="265176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업계 하위권에서 이용실적 2위로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2025년 신용카드 이용실적 점유율 19.3%</a:t>
            </a:r>
            <a:endParaRPr lang="en-US" sz="1700" dirty="0"/>
          </a:p>
        </p:txBody>
      </p:sp>
      <p:sp>
        <p:nvSpPr>
          <p:cNvPr id="9" name="t307"/>
          <p:cNvSpPr txBox="1"/>
          <p:nvPr/>
        </p:nvSpPr>
        <p:spPr>
          <a:xfrm>
            <a:off x="1051560" y="342900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디자인과 문화로 브랜드 차별화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the Black, 슈퍼콘서트, 라이브러리</a:t>
            </a:r>
            <a:endParaRPr lang="en-US" sz="1700" dirty="0"/>
          </a:p>
        </p:txBody>
      </p:sp>
      <p:sp>
        <p:nvSpPr>
          <p:cNvPr id="10" name="t308"/>
          <p:cNvSpPr txBox="1"/>
          <p:nvPr/>
        </p:nvSpPr>
        <p:spPr>
          <a:xfrm>
            <a:off x="1051560" y="420624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금융권 첫 AI 소프트웨어 수출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AI 플랫폼 ‘유니버스’, 일본 카드사</a:t>
            </a:r>
            <a:endParaRPr lang="en-US" sz="1700" dirty="0"/>
          </a:p>
        </p:txBody>
      </p:sp>
      <p:sp>
        <p:nvSpPr>
          <p:cNvPr id="11" name="r309"/>
          <p:cNvSpPr/>
          <p:nvPr/>
        </p:nvSpPr>
        <p:spPr>
          <a:xfrm>
            <a:off x="6233008" y="1783080"/>
            <a:ext cx="5272888" cy="32461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2" name="t310"/>
          <p:cNvSpPr txBox="1"/>
          <p:nvPr/>
        </p:nvSpPr>
        <p:spPr>
          <a:xfrm>
            <a:off x="10500055" y="182880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−</a:t>
            </a:r>
            <a:endParaRPr lang="en-US" sz="4800" dirty="0"/>
          </a:p>
        </p:txBody>
      </p:sp>
      <p:sp>
        <p:nvSpPr>
          <p:cNvPr id="13" name="t311"/>
          <p:cNvSpPr txBox="1"/>
          <p:nvPr/>
        </p:nvSpPr>
        <p:spPr>
          <a:xfrm>
            <a:off x="6598768" y="2057400"/>
            <a:ext cx="380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한계 · 논란</a:t>
            </a:r>
            <a:endParaRPr lang="en-US" sz="1800" dirty="0"/>
          </a:p>
        </p:txBody>
      </p:sp>
      <p:sp>
        <p:nvSpPr>
          <p:cNvPr id="14" name="t312"/>
          <p:cNvSpPr txBox="1"/>
          <p:nvPr/>
        </p:nvSpPr>
        <p:spPr>
          <a:xfrm>
            <a:off x="6598768" y="265176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창사 첫 희망퇴직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A8A8A8"/>
                </a:solidFill>
              </a:rPr>
              <a:t>2018년 수수료 인하 뒤 실적 악화</a:t>
            </a:r>
            <a:endParaRPr lang="en-US" sz="1700" dirty="0"/>
          </a:p>
        </p:txBody>
      </p:sp>
      <p:sp>
        <p:nvSpPr>
          <p:cNvPr id="15" name="t313"/>
          <p:cNvSpPr txBox="1"/>
          <p:nvPr/>
        </p:nvSpPr>
        <p:spPr>
          <a:xfrm>
            <a:off x="6598768" y="342900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애플페이 수수료 부담 논란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A8A8A8"/>
                </a:solidFill>
              </a:rPr>
              <a:t>2023년 국내 첫 도입 당시</a:t>
            </a:r>
            <a:endParaRPr lang="en-US" sz="1700" dirty="0"/>
          </a:p>
        </p:txBody>
      </p:sp>
      <p:sp>
        <p:nvSpPr>
          <p:cNvPr id="16" name="t314"/>
          <p:cNvSpPr txBox="1"/>
          <p:nvPr/>
        </p:nvSpPr>
        <p:spPr>
          <a:xfrm>
            <a:off x="6598768" y="420624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리더 한 사람에게 기대는 구조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A8A8A8"/>
                </a:solidFill>
              </a:rPr>
              <a:t>오너 일가 출신, 23년 장기 재임</a:t>
            </a:r>
            <a:endParaRPr lang="en-US" sz="1700" dirty="0"/>
          </a:p>
        </p:txBody>
      </p:sp>
      <p:sp>
        <p:nvSpPr>
          <p:cNvPr id="17" name="r315"/>
          <p:cNvSpPr/>
          <p:nvPr/>
        </p:nvSpPr>
        <p:spPr>
          <a:xfrm>
            <a:off x="685800" y="5303520"/>
            <a:ext cx="10820095" cy="6858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316"/>
          <p:cNvSpPr txBox="1"/>
          <p:nvPr/>
        </p:nvSpPr>
        <p:spPr>
          <a:xfrm>
            <a:off x="1051560" y="53035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결론에서는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두 관점 중 어느 쪽이 정태영의 23년을 더 잘 설명하는지 판단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부록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참고자료</a:t>
            </a:r>
            <a:endParaRPr lang="en-US" sz="2800" dirty="0"/>
          </a:p>
        </p:txBody>
      </p:sp>
      <p:sp>
        <p:nvSpPr>
          <p:cNvPr id="4" name="t317"/>
          <p:cNvSpPr txBox="1"/>
          <p:nvPr/>
        </p:nvSpPr>
        <p:spPr>
          <a:xfrm>
            <a:off x="685800" y="1691640"/>
            <a:ext cx="5044288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공시 · 인터뷰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현대카드, 「반기보고서」 제32기 2분기, 2026.8.14 제출, DART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McKinsey &amp; Company, After a decade of innovation, Hyundai Card seeks the next horizon (2025.7.23)</a:t>
            </a:r>
            <a:endParaRPr lang="en-US" sz="1200" dirty="0"/>
          </a:p>
          <a:p>
            <a:pPr indent="0" marL="0">
              <a:lnSpc>
                <a:spcPct val="11000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인물 · 이력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한경비즈니스, 2021 파워 금융인 30: 정태영 현대카드 부회장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서울신문, 금융 CEO에게 묻다: 정태영 현대카드 사장 (2010)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비즈니스포스트, Who Is? 정태영 현대카드 대표이사 부회장</a:t>
            </a:r>
            <a:endParaRPr lang="en-US" sz="1200" dirty="0"/>
          </a:p>
          <a:p>
            <a:pPr indent="0" marL="0">
              <a:lnSpc>
                <a:spcPct val="11000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실적 · 지분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딜사이트, 현대카드 지난해 순익 3,503억 (2026.1)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SBS Biz, 현대카드 상반기 순이익 1,852억원 (2026.7)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한국경제, 현대커머셜 현대카드 지분 5% 추가 확보 (2022.10)</a:t>
            </a:r>
            <a:endParaRPr lang="en-US" sz="1200" dirty="0"/>
          </a:p>
        </p:txBody>
      </p:sp>
      <p:sp>
        <p:nvSpPr>
          <p:cNvPr id="5" name="t318"/>
          <p:cNvSpPr txBox="1"/>
          <p:nvPr/>
        </p:nvSpPr>
        <p:spPr>
          <a:xfrm>
            <a:off x="6461608" y="1691640"/>
            <a:ext cx="5044288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시기별 사례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프라임경제, CEO리포트: ‘현대카드스러움’을 만들다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포브스코리아, 성공요인? 윤리경영이 답이다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한국경제, 카드업계 구조조정 칼바람…현대카드 200여명 희망퇴직 (2019.1)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더팩트, ‘나홀로 성장’ 이끈 정태영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더팩트, 애플페이 도입과 정태영 전략 (2023.3)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한경비즈니스, 2024 올해의 CEO: 유니버스 일본 수출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딜사이트, 정태영도 직접 실습…현대카드 AI 내재화 (2026.6)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현대카드 뉴스룸, 현대카드, 금융업계 최초 AI 소프트웨어 수출</a:t>
            </a:r>
            <a:endParaRPr lang="en-US" sz="1200" dirty="0"/>
          </a:p>
          <a:p>
            <a:pPr indent="0" marL="0">
              <a:lnSpc>
                <a:spcPct val="11000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이론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리더십 강의자료 2장 – 6장</a:t>
            </a:r>
            <a:endParaRPr lang="en-US" sz="12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19"/>
          <p:cNvSpPr txBox="1"/>
          <p:nvPr/>
        </p:nvSpPr>
        <p:spPr>
          <a:xfrm>
            <a:off x="68580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감사합니다</a:t>
            </a:r>
            <a:endParaRPr lang="en-US" sz="4400" dirty="0"/>
          </a:p>
        </p:txBody>
      </p:sp>
      <p:sp>
        <p:nvSpPr>
          <p:cNvPr id="3" name="t320"/>
          <p:cNvSpPr txBox="1"/>
          <p:nvPr/>
        </p:nvSpPr>
        <p:spPr>
          <a:xfrm>
            <a:off x="685800" y="3200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A8A8"/>
                </a:solidFill>
              </a:rPr>
              <a:t>질문 받겠습니다</a:t>
            </a:r>
            <a:endParaRPr lang="en-US" sz="2000" dirty="0"/>
          </a:p>
        </p:txBody>
      </p:sp>
      <p:sp>
        <p:nvSpPr>
          <p:cNvPr id="4" name="t321"/>
          <p:cNvSpPr txBox="1"/>
          <p:nvPr/>
        </p:nvSpPr>
        <p:spPr>
          <a:xfrm>
            <a:off x="685800" y="5394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○조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8A8A8"/>
                </a:solidFill>
              </a:rPr>
              <a:t>조원1 · 조원2 · 조원3 · 조원4</a:t>
            </a:r>
            <a:endParaRPr lang="en-US" sz="1300" dirty="0"/>
          </a:p>
        </p:txBody>
      </p:sp>
      <p:sp>
        <p:nvSpPr>
          <p:cNvPr id="5" name="rr322"/>
          <p:cNvSpPr/>
          <p:nvPr/>
        </p:nvSpPr>
        <p:spPr>
          <a:xfrm>
            <a:off x="8136331" y="1613916"/>
            <a:ext cx="2514600" cy="3988156"/>
          </a:xfrm>
          <a:prstGeom prst="roundRect">
            <a:avLst>
              <a:gd name="adj" fmla="val 5000"/>
            </a:avLst>
          </a:prstGeom>
          <a:solidFill>
            <a:srgbClr val="2E2E2E"/>
          </a:solidFill>
          <a:ln/>
        </p:spPr>
      </p:sp>
      <p:sp>
        <p:nvSpPr>
          <p:cNvPr id="6" name="rr323"/>
          <p:cNvSpPr/>
          <p:nvPr/>
        </p:nvSpPr>
        <p:spPr>
          <a:xfrm>
            <a:off x="8412937" y="1965960"/>
            <a:ext cx="427482" cy="339471"/>
          </a:xfrm>
          <a:prstGeom prst="roundRect">
            <a:avLst>
              <a:gd name="adj" fmla="val 14815"/>
            </a:avLst>
          </a:prstGeom>
          <a:solidFill>
            <a:srgbClr val="2E2E2E"/>
          </a:solidFill>
          <a:ln/>
        </p:spPr>
      </p:sp>
      <p:sp>
        <p:nvSpPr>
          <p:cNvPr id="7" name="rr324"/>
          <p:cNvSpPr/>
          <p:nvPr/>
        </p:nvSpPr>
        <p:spPr>
          <a:xfrm>
            <a:off x="8563813" y="1287018"/>
            <a:ext cx="2514600" cy="3988156"/>
          </a:xfrm>
          <a:prstGeom prst="roundRect">
            <a:avLst>
              <a:gd name="adj" fmla="val 5000"/>
            </a:avLst>
          </a:prstGeom>
          <a:solidFill>
            <a:srgbClr val="8C8C8C"/>
          </a:solidFill>
          <a:ln/>
        </p:spPr>
      </p:sp>
      <p:sp>
        <p:nvSpPr>
          <p:cNvPr id="8" name="rr325"/>
          <p:cNvSpPr/>
          <p:nvPr/>
        </p:nvSpPr>
        <p:spPr>
          <a:xfrm>
            <a:off x="8840419" y="1639062"/>
            <a:ext cx="427482" cy="339471"/>
          </a:xfrm>
          <a:prstGeom prst="roundRect">
            <a:avLst>
              <a:gd name="adj" fmla="val 14815"/>
            </a:avLst>
          </a:prstGeom>
          <a:solidFill>
            <a:srgbClr val="8C8C8C"/>
          </a:solidFill>
          <a:ln/>
        </p:spPr>
      </p:sp>
      <p:sp>
        <p:nvSpPr>
          <p:cNvPr id="9" name="rr326"/>
          <p:cNvSpPr/>
          <p:nvPr/>
        </p:nvSpPr>
        <p:spPr>
          <a:xfrm>
            <a:off x="8991295" y="960120"/>
            <a:ext cx="2514600" cy="3988156"/>
          </a:xfrm>
          <a:prstGeom prst="roundRect">
            <a:avLst>
              <a:gd name="adj" fmla="val 5000"/>
            </a:avLst>
          </a:prstGeom>
          <a:solidFill>
            <a:srgbClr val="D8452B"/>
          </a:solidFill>
          <a:ln/>
        </p:spPr>
      </p:sp>
      <p:sp>
        <p:nvSpPr>
          <p:cNvPr id="10" name="rr327"/>
          <p:cNvSpPr/>
          <p:nvPr/>
        </p:nvSpPr>
        <p:spPr>
          <a:xfrm>
            <a:off x="9267901" y="1312164"/>
            <a:ext cx="427482" cy="339471"/>
          </a:xfrm>
          <a:prstGeom prst="roundRect">
            <a:avLst>
              <a:gd name="adj" fmla="val 14815"/>
            </a:avLst>
          </a:prstGeom>
          <a:solidFill>
            <a:schemeClr val="tx1"/>
          </a:solidFill>
          <a:ln/>
        </p:spPr>
      </p:sp>
      <p:sp>
        <p:nvSpPr>
          <p:cNvPr id="12" name="Text 0"/>
          <p:cNvSpPr/>
          <p:nvPr>
            <p:ph idx="100" type="body" hasCustomPrompt="1"/>
          </p:nvPr>
        </p:nvSpPr>
        <p:spPr>
          <a:xfrm>
            <a:off x="6858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dership Ink Vermilion">
  <a:themeElements>
    <a:clrScheme name="Leadership Ink Vermilion">
      <a:dk1>
        <a:srgbClr val="141414"/>
      </a:dk1>
      <a:lt1>
        <a:srgbClr val="FFFFFF"/>
      </a:lt1>
      <a:dk2>
        <a:srgbClr val="6E6E6E"/>
      </a:dk2>
      <a:lt2>
        <a:srgbClr val="F3F3F3"/>
      </a:lt2>
      <a:accent1>
        <a:srgbClr val="D8452B"/>
      </a:accent1>
      <a:accent2>
        <a:srgbClr val="BDBDBD"/>
      </a:accent2>
      <a:accent3>
        <a:srgbClr val="4A4A4A"/>
      </a:accent3>
      <a:accent4>
        <a:srgbClr val="8C8C8C"/>
      </a:accent4>
      <a:accent5>
        <a:srgbClr val="D9D9D9"/>
      </a:accent5>
      <a:accent6>
        <a:srgbClr val="2E2E2E"/>
      </a:accent6>
      <a:hlink>
        <a:srgbClr val="D8452B"/>
      </a:hlink>
      <a:folHlink>
        <a:srgbClr val="6E6E6E"/>
      </a:folHlink>
    </a:clrScheme>
    <a:fontScheme name="Leadership Ink Vermilion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리더십 팀프로젝트 계획서: 현대카드 정태영 부회장</dc:title>
  <dc:subject>리더십 팀프로젝트 계획 발표</dc:subject>
  <dc:creator>○조</dc:creator>
  <cp:lastModifiedBy>○조</cp:lastModifiedBy>
  <cp:revision>1</cp:revision>
  <dcterms:created xsi:type="dcterms:W3CDTF">2026-10-24T05:30:58Z</dcterms:created>
  <dcterms:modified xsi:type="dcterms:W3CDTF">2026-10-24T05:30:58Z</dcterms:modified>
</cp:coreProperties>
</file>